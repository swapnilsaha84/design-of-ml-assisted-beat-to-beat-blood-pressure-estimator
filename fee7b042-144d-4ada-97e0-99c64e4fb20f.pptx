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84" r:id="rId2"/>
    <p:sldId id="257" r:id="rId3"/>
    <p:sldId id="285" r:id="rId4"/>
    <p:sldId id="271" r:id="rId5"/>
    <p:sldId id="286" r:id="rId6"/>
    <p:sldId id="276" r:id="rId7"/>
    <p:sldId id="278" r:id="rId8"/>
    <p:sldId id="283" r:id="rId9"/>
    <p:sldId id="262" r:id="rId10"/>
    <p:sldId id="281" r:id="rId11"/>
    <p:sldId id="282" r:id="rId12"/>
    <p:sldId id="272" r:id="rId13"/>
    <p:sldId id="277" r:id="rId14"/>
    <p:sldId id="259" r:id="rId15"/>
    <p:sldId id="260" r:id="rId16"/>
    <p:sldId id="261" r:id="rId17"/>
    <p:sldId id="264" r:id="rId18"/>
    <p:sldId id="265" r:id="rId19"/>
    <p:sldId id="268" r:id="rId20"/>
    <p:sldId id="267"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66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b9fd190484b7cc43" providerId="LiveId" clId="{A9C1CB61-2AA4-4040-9A94-1E3F4B217248}"/>
    <pc:docChg chg="custSel modSld">
      <pc:chgData name="" userId="b9fd190484b7cc43" providerId="LiveId" clId="{A9C1CB61-2AA4-4040-9A94-1E3F4B217248}" dt="2026-05-11T20:10:19.296" v="0" actId="478"/>
      <pc:docMkLst>
        <pc:docMk/>
      </pc:docMkLst>
      <pc:sldChg chg="delSp">
        <pc:chgData name="" userId="b9fd190484b7cc43" providerId="LiveId" clId="{A9C1CB61-2AA4-4040-9A94-1E3F4B217248}" dt="2026-05-11T20:10:19.296" v="0" actId="478"/>
        <pc:sldMkLst>
          <pc:docMk/>
          <pc:sldMk cId="3446547035" sldId="262"/>
        </pc:sldMkLst>
        <pc:spChg chg="del">
          <ac:chgData name="" userId="b9fd190484b7cc43" providerId="LiveId" clId="{A9C1CB61-2AA4-4040-9A94-1E3F4B217248}" dt="2026-05-11T20:10:19.296" v="0" actId="478"/>
          <ac:spMkLst>
            <pc:docMk/>
            <pc:sldMk cId="3446547035" sldId="262"/>
            <ac:spMk id="151" creationId="{00000000-0000-0000-0000-00000000000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34F59D-44D9-489E-BC1B-399C18BD3D73}" type="doc">
      <dgm:prSet loTypeId="urn:microsoft.com/office/officeart/2005/8/layout/pList2" loCatId="picture" qsTypeId="urn:microsoft.com/office/officeart/2005/8/quickstyle/simple1" qsCatId="simple" csTypeId="urn:microsoft.com/office/officeart/2005/8/colors/accent2_5" csCatId="accent2" phldr="1"/>
      <dgm:spPr/>
    </dgm:pt>
    <dgm:pt modelId="{4C54EBF6-09B4-411C-8070-FB1DDBA3682D}">
      <dgm:prSet phldrT="[Text]" custT="1"/>
      <dgm:spPr>
        <a:solidFill>
          <a:schemeClr val="accent2">
            <a:lumMod val="20000"/>
            <a:lumOff val="80000"/>
          </a:schemeClr>
        </a:solidFill>
      </dgm:spPr>
      <dgm:t>
        <a:bodyPr/>
        <a:lstStyle/>
        <a:p>
          <a:pPr algn="l"/>
          <a:r>
            <a:rPr lang="en-US" sz="1500" dirty="0">
              <a:solidFill>
                <a:schemeClr val="tx1"/>
              </a:solidFill>
            </a:rPr>
            <a:t>Hypertension is one of the leading global health concerns, with over 1.28 billion adults affected worldwide.</a:t>
          </a:r>
          <a:endParaRPr lang="en-IN" sz="1500" dirty="0">
            <a:solidFill>
              <a:schemeClr val="tx1"/>
            </a:solidFill>
          </a:endParaRPr>
        </a:p>
      </dgm:t>
    </dgm:pt>
    <dgm:pt modelId="{11A5710F-EA15-4466-A337-D53A905E7200}" type="parTrans" cxnId="{287A8003-BF44-473B-913C-9C4CB15D06F2}">
      <dgm:prSet/>
      <dgm:spPr/>
      <dgm:t>
        <a:bodyPr/>
        <a:lstStyle/>
        <a:p>
          <a:endParaRPr lang="en-IN"/>
        </a:p>
      </dgm:t>
    </dgm:pt>
    <dgm:pt modelId="{A5AD9D33-5D8A-4F22-A2A5-F9F8ABEB9A78}" type="sibTrans" cxnId="{287A8003-BF44-473B-913C-9C4CB15D06F2}">
      <dgm:prSet/>
      <dgm:spPr/>
      <dgm:t>
        <a:bodyPr/>
        <a:lstStyle/>
        <a:p>
          <a:endParaRPr lang="en-IN"/>
        </a:p>
      </dgm:t>
    </dgm:pt>
    <dgm:pt modelId="{F509861D-5066-4E71-8FFB-9835822AF1C3}">
      <dgm:prSet phldrT="[Text]" custT="1"/>
      <dgm:spPr>
        <a:solidFill>
          <a:schemeClr val="accent2">
            <a:lumMod val="20000"/>
            <a:lumOff val="80000"/>
          </a:schemeClr>
        </a:solidFill>
      </dgm:spPr>
      <dgm:t>
        <a:bodyPr/>
        <a:lstStyle/>
        <a:p>
          <a:pPr algn="l">
            <a:buClr>
              <a:schemeClr val="lt1"/>
            </a:buClr>
            <a:buSzPts val="1400"/>
          </a:pPr>
          <a:r>
            <a:rPr lang="en-US" sz="1500" dirty="0">
              <a:solidFill>
                <a:schemeClr val="tx1"/>
              </a:solidFill>
            </a:rPr>
            <a:t>Current cuff-based BP devices are intermittent, uncomfortable, and unable to measure rapid beat-to-beat variations</a:t>
          </a:r>
          <a:endParaRPr lang="en-IN" sz="1500" dirty="0">
            <a:solidFill>
              <a:schemeClr val="tx1"/>
            </a:solidFill>
          </a:endParaRPr>
        </a:p>
      </dgm:t>
    </dgm:pt>
    <dgm:pt modelId="{2C8A9184-14A2-4B32-87A1-1405562BDD77}" type="parTrans" cxnId="{DD3631C6-3E03-40EB-836F-87B84639E96C}">
      <dgm:prSet/>
      <dgm:spPr/>
      <dgm:t>
        <a:bodyPr/>
        <a:lstStyle/>
        <a:p>
          <a:endParaRPr lang="en-IN"/>
        </a:p>
      </dgm:t>
    </dgm:pt>
    <dgm:pt modelId="{C135B24B-5C3B-4F97-8BA6-F1CCB8391624}" type="sibTrans" cxnId="{DD3631C6-3E03-40EB-836F-87B84639E96C}">
      <dgm:prSet/>
      <dgm:spPr/>
      <dgm:t>
        <a:bodyPr/>
        <a:lstStyle/>
        <a:p>
          <a:endParaRPr lang="en-IN"/>
        </a:p>
      </dgm:t>
    </dgm:pt>
    <dgm:pt modelId="{D29E96A7-87EA-4EF3-984B-8DB2BDF6600B}">
      <dgm:prSet phldrT="[Text]"/>
      <dgm:spPr>
        <a:solidFill>
          <a:schemeClr val="accent2">
            <a:lumMod val="20000"/>
            <a:lumOff val="80000"/>
          </a:schemeClr>
        </a:solidFill>
      </dgm:spPr>
      <dgm:t>
        <a:bodyPr/>
        <a:lstStyle/>
        <a:p>
          <a:pPr algn="l">
            <a:buClr>
              <a:schemeClr val="lt1"/>
            </a:buClr>
            <a:buSzPts val="1400"/>
          </a:pPr>
          <a:r>
            <a:rPr lang="en-US" dirty="0">
              <a:solidFill>
                <a:schemeClr val="tx1"/>
              </a:solidFill>
            </a:rPr>
            <a:t>Existing clinical beat-to-beat BP monitors are expensive and unsuitable for portable or wearable applications</a:t>
          </a:r>
          <a:endParaRPr lang="en-IN" dirty="0">
            <a:solidFill>
              <a:schemeClr val="tx1"/>
            </a:solidFill>
          </a:endParaRPr>
        </a:p>
      </dgm:t>
    </dgm:pt>
    <dgm:pt modelId="{E9A24A7C-3D6A-4D4B-ABCB-67048BF0C2AA}" type="parTrans" cxnId="{2BA15C1E-2777-4A18-A5DC-CF62238055D9}">
      <dgm:prSet/>
      <dgm:spPr/>
      <dgm:t>
        <a:bodyPr/>
        <a:lstStyle/>
        <a:p>
          <a:endParaRPr lang="en-IN"/>
        </a:p>
      </dgm:t>
    </dgm:pt>
    <dgm:pt modelId="{09BEF21F-A885-4B80-BA70-0CE825DBB077}" type="sibTrans" cxnId="{2BA15C1E-2777-4A18-A5DC-CF62238055D9}">
      <dgm:prSet/>
      <dgm:spPr/>
      <dgm:t>
        <a:bodyPr/>
        <a:lstStyle/>
        <a:p>
          <a:endParaRPr lang="en-IN"/>
        </a:p>
      </dgm:t>
    </dgm:pt>
    <dgm:pt modelId="{B987F312-074C-424F-9B6A-2AC91F47BED1}" type="pres">
      <dgm:prSet presAssocID="{2A34F59D-44D9-489E-BC1B-399C18BD3D73}" presName="Name0" presStyleCnt="0">
        <dgm:presLayoutVars>
          <dgm:dir/>
          <dgm:resizeHandles val="exact"/>
        </dgm:presLayoutVars>
      </dgm:prSet>
      <dgm:spPr/>
    </dgm:pt>
    <dgm:pt modelId="{54AF0C58-83D8-46D8-9472-5842B6810149}" type="pres">
      <dgm:prSet presAssocID="{2A34F59D-44D9-489E-BC1B-399C18BD3D73}" presName="bkgdShp" presStyleLbl="alignAccFollowNode1" presStyleIdx="0" presStyleCnt="1" custScaleX="97854"/>
      <dgm:spPr/>
    </dgm:pt>
    <dgm:pt modelId="{349BE661-1596-4D4E-8247-B12A87CA4305}" type="pres">
      <dgm:prSet presAssocID="{2A34F59D-44D9-489E-BC1B-399C18BD3D73}" presName="linComp" presStyleCnt="0"/>
      <dgm:spPr/>
    </dgm:pt>
    <dgm:pt modelId="{3035059E-2AF8-44DA-B9CF-31C9FA4D3533}" type="pres">
      <dgm:prSet presAssocID="{4C54EBF6-09B4-411C-8070-FB1DDBA3682D}" presName="compNode" presStyleCnt="0"/>
      <dgm:spPr/>
    </dgm:pt>
    <dgm:pt modelId="{CE577C3D-FFF8-4143-84A2-5307008ACB72}" type="pres">
      <dgm:prSet presAssocID="{4C54EBF6-09B4-411C-8070-FB1DDBA3682D}" presName="node" presStyleLbl="node1" presStyleIdx="0" presStyleCnt="3">
        <dgm:presLayoutVars>
          <dgm:bulletEnabled val="1"/>
        </dgm:presLayoutVars>
      </dgm:prSet>
      <dgm:spPr/>
    </dgm:pt>
    <dgm:pt modelId="{27663A1B-29FD-4CA4-BF5E-ABD625ADD6F4}" type="pres">
      <dgm:prSet presAssocID="{4C54EBF6-09B4-411C-8070-FB1DDBA3682D}" presName="invisiNode" presStyleLbl="node1" presStyleIdx="0" presStyleCnt="3"/>
      <dgm:spPr/>
    </dgm:pt>
    <dgm:pt modelId="{FBE5A9FE-55E8-4FB5-B7EA-14FDF9BF893A}" type="pres">
      <dgm:prSet presAssocID="{4C54EBF6-09B4-411C-8070-FB1DDBA3682D}" presName="imagNode" presStyleLbl="fgImgPlace1" presStyleIdx="0" presStyleCnt="3" custScaleY="128969"/>
      <dgm:spPr>
        <a:blipFill dpi="0" rotWithShape="1">
          <a:blip xmlns:r="http://schemas.openxmlformats.org/officeDocument/2006/relationships" r:embed="rId1"/>
          <a:srcRect/>
          <a:stretch>
            <a:fillRect t="433" b="-856"/>
          </a:stretch>
        </a:blipFill>
      </dgm:spPr>
    </dgm:pt>
    <dgm:pt modelId="{8EE28499-7BA2-4A52-AAE9-5797F5BDF857}" type="pres">
      <dgm:prSet presAssocID="{A5AD9D33-5D8A-4F22-A2A5-F9F8ABEB9A78}" presName="sibTrans" presStyleLbl="sibTrans2D1" presStyleIdx="0" presStyleCnt="0"/>
      <dgm:spPr/>
    </dgm:pt>
    <dgm:pt modelId="{51101144-D0AB-4DA8-9BDC-131D702E6565}" type="pres">
      <dgm:prSet presAssocID="{F509861D-5066-4E71-8FFB-9835822AF1C3}" presName="compNode" presStyleCnt="0"/>
      <dgm:spPr/>
    </dgm:pt>
    <dgm:pt modelId="{572A61C1-AA76-4F2A-B7C2-6D2FC6640994}" type="pres">
      <dgm:prSet presAssocID="{F509861D-5066-4E71-8FFB-9835822AF1C3}" presName="node" presStyleLbl="node1" presStyleIdx="1" presStyleCnt="3">
        <dgm:presLayoutVars>
          <dgm:bulletEnabled val="1"/>
        </dgm:presLayoutVars>
      </dgm:prSet>
      <dgm:spPr/>
    </dgm:pt>
    <dgm:pt modelId="{AF27D43E-326A-4EBC-82E6-95A079563407}" type="pres">
      <dgm:prSet presAssocID="{F509861D-5066-4E71-8FFB-9835822AF1C3}" presName="invisiNode" presStyleLbl="node1" presStyleIdx="1" presStyleCnt="3"/>
      <dgm:spPr/>
    </dgm:pt>
    <dgm:pt modelId="{B02EBFE6-7EF3-45E9-B05E-3A3A59C62493}" type="pres">
      <dgm:prSet presAssocID="{F509861D-5066-4E71-8FFB-9835822AF1C3}" presName="imagNode" presStyleLbl="fgImgPlace1" presStyleIdx="1" presStyleCnt="3" custScaleY="127535"/>
      <dgm:spPr>
        <a:blipFill dpi="0" rotWithShape="1">
          <a:blip xmlns:r="http://schemas.openxmlformats.org/officeDocument/2006/relationships" r:embed="rId2"/>
          <a:srcRect/>
          <a:stretch>
            <a:fillRect l="-4425" t="-10592" r="-3023" b="-5502"/>
          </a:stretch>
        </a:blipFill>
      </dgm:spPr>
    </dgm:pt>
    <dgm:pt modelId="{DCD15E2D-022E-4F88-A44D-D773F80575CF}" type="pres">
      <dgm:prSet presAssocID="{C135B24B-5C3B-4F97-8BA6-F1CCB8391624}" presName="sibTrans" presStyleLbl="sibTrans2D1" presStyleIdx="0" presStyleCnt="0"/>
      <dgm:spPr/>
    </dgm:pt>
    <dgm:pt modelId="{4A73C2D2-D0D8-48DA-B9FC-DE5D42AF096E}" type="pres">
      <dgm:prSet presAssocID="{D29E96A7-87EA-4EF3-984B-8DB2BDF6600B}" presName="compNode" presStyleCnt="0"/>
      <dgm:spPr/>
    </dgm:pt>
    <dgm:pt modelId="{07481DF3-8199-4361-B010-5A4DC72AB270}" type="pres">
      <dgm:prSet presAssocID="{D29E96A7-87EA-4EF3-984B-8DB2BDF6600B}" presName="node" presStyleLbl="node1" presStyleIdx="2" presStyleCnt="3">
        <dgm:presLayoutVars>
          <dgm:bulletEnabled val="1"/>
        </dgm:presLayoutVars>
      </dgm:prSet>
      <dgm:spPr/>
    </dgm:pt>
    <dgm:pt modelId="{93BD0B1C-DFEB-402D-BAE3-1CF711896B4A}" type="pres">
      <dgm:prSet presAssocID="{D29E96A7-87EA-4EF3-984B-8DB2BDF6600B}" presName="invisiNode" presStyleLbl="node1" presStyleIdx="2" presStyleCnt="3"/>
      <dgm:spPr/>
    </dgm:pt>
    <dgm:pt modelId="{D0839F9C-8622-4AD0-A7AC-7480DBCB5AC2}" type="pres">
      <dgm:prSet presAssocID="{D29E96A7-87EA-4EF3-984B-8DB2BDF6600B}" presName="imagNode" presStyleLbl="fgImgPlace1" presStyleIdx="2" presStyleCnt="3" custScaleY="126100"/>
      <dgm:spPr>
        <a:blipFill dpi="0" rotWithShape="1">
          <a:blip xmlns:r="http://schemas.openxmlformats.org/officeDocument/2006/relationships" r:embed="rId3"/>
          <a:srcRect/>
          <a:stretch>
            <a:fillRect l="-4725" t="-1018" r="-4853" b="-7566"/>
          </a:stretch>
        </a:blipFill>
      </dgm:spPr>
    </dgm:pt>
  </dgm:ptLst>
  <dgm:cxnLst>
    <dgm:cxn modelId="{287A8003-BF44-473B-913C-9C4CB15D06F2}" srcId="{2A34F59D-44D9-489E-BC1B-399C18BD3D73}" destId="{4C54EBF6-09B4-411C-8070-FB1DDBA3682D}" srcOrd="0" destOrd="0" parTransId="{11A5710F-EA15-4466-A337-D53A905E7200}" sibTransId="{A5AD9D33-5D8A-4F22-A2A5-F9F8ABEB9A78}"/>
    <dgm:cxn modelId="{23CE0F0D-634F-4B83-A54D-F1ADC6298A41}" type="presOf" srcId="{4C54EBF6-09B4-411C-8070-FB1DDBA3682D}" destId="{CE577C3D-FFF8-4143-84A2-5307008ACB72}" srcOrd="0" destOrd="0" presId="urn:microsoft.com/office/officeart/2005/8/layout/pList2"/>
    <dgm:cxn modelId="{2BA15C1E-2777-4A18-A5DC-CF62238055D9}" srcId="{2A34F59D-44D9-489E-BC1B-399C18BD3D73}" destId="{D29E96A7-87EA-4EF3-984B-8DB2BDF6600B}" srcOrd="2" destOrd="0" parTransId="{E9A24A7C-3D6A-4D4B-ABCB-67048BF0C2AA}" sibTransId="{09BEF21F-A885-4B80-BA70-0CE825DBB077}"/>
    <dgm:cxn modelId="{24A1DE97-73C5-4FD1-99A9-0B83A54B0074}" type="presOf" srcId="{D29E96A7-87EA-4EF3-984B-8DB2BDF6600B}" destId="{07481DF3-8199-4361-B010-5A4DC72AB270}" srcOrd="0" destOrd="0" presId="urn:microsoft.com/office/officeart/2005/8/layout/pList2"/>
    <dgm:cxn modelId="{D16F52A7-8E17-49EB-BE0B-4C41D32AF997}" type="presOf" srcId="{2A34F59D-44D9-489E-BC1B-399C18BD3D73}" destId="{B987F312-074C-424F-9B6A-2AC91F47BED1}" srcOrd="0" destOrd="0" presId="urn:microsoft.com/office/officeart/2005/8/layout/pList2"/>
    <dgm:cxn modelId="{065CF8C0-B520-4EC5-B3B7-749834EE6D8A}" type="presOf" srcId="{A5AD9D33-5D8A-4F22-A2A5-F9F8ABEB9A78}" destId="{8EE28499-7BA2-4A52-AAE9-5797F5BDF857}" srcOrd="0" destOrd="0" presId="urn:microsoft.com/office/officeart/2005/8/layout/pList2"/>
    <dgm:cxn modelId="{DD3631C6-3E03-40EB-836F-87B84639E96C}" srcId="{2A34F59D-44D9-489E-BC1B-399C18BD3D73}" destId="{F509861D-5066-4E71-8FFB-9835822AF1C3}" srcOrd="1" destOrd="0" parTransId="{2C8A9184-14A2-4B32-87A1-1405562BDD77}" sibTransId="{C135B24B-5C3B-4F97-8BA6-F1CCB8391624}"/>
    <dgm:cxn modelId="{75F8D7F6-15A7-48AF-9037-897DE5241B03}" type="presOf" srcId="{C135B24B-5C3B-4F97-8BA6-F1CCB8391624}" destId="{DCD15E2D-022E-4F88-A44D-D773F80575CF}" srcOrd="0" destOrd="0" presId="urn:microsoft.com/office/officeart/2005/8/layout/pList2"/>
    <dgm:cxn modelId="{4DF8C8FB-EF40-41A9-A222-CAC3517C3163}" type="presOf" srcId="{F509861D-5066-4E71-8FFB-9835822AF1C3}" destId="{572A61C1-AA76-4F2A-B7C2-6D2FC6640994}" srcOrd="0" destOrd="0" presId="urn:microsoft.com/office/officeart/2005/8/layout/pList2"/>
    <dgm:cxn modelId="{FF054107-A258-4876-8C19-E21541BDE344}" type="presParOf" srcId="{B987F312-074C-424F-9B6A-2AC91F47BED1}" destId="{54AF0C58-83D8-46D8-9472-5842B6810149}" srcOrd="0" destOrd="0" presId="urn:microsoft.com/office/officeart/2005/8/layout/pList2"/>
    <dgm:cxn modelId="{6A72C875-A647-41AF-844B-ACF712361265}" type="presParOf" srcId="{B987F312-074C-424F-9B6A-2AC91F47BED1}" destId="{349BE661-1596-4D4E-8247-B12A87CA4305}" srcOrd="1" destOrd="0" presId="urn:microsoft.com/office/officeart/2005/8/layout/pList2"/>
    <dgm:cxn modelId="{B5FA056C-6A60-422B-913B-0E3313616C5E}" type="presParOf" srcId="{349BE661-1596-4D4E-8247-B12A87CA4305}" destId="{3035059E-2AF8-44DA-B9CF-31C9FA4D3533}" srcOrd="0" destOrd="0" presId="urn:microsoft.com/office/officeart/2005/8/layout/pList2"/>
    <dgm:cxn modelId="{9D61250C-EDFA-4388-AE0F-82253484A79B}" type="presParOf" srcId="{3035059E-2AF8-44DA-B9CF-31C9FA4D3533}" destId="{CE577C3D-FFF8-4143-84A2-5307008ACB72}" srcOrd="0" destOrd="0" presId="urn:microsoft.com/office/officeart/2005/8/layout/pList2"/>
    <dgm:cxn modelId="{4B185110-CDAC-47A1-B8E4-0E2C3D2BA314}" type="presParOf" srcId="{3035059E-2AF8-44DA-B9CF-31C9FA4D3533}" destId="{27663A1B-29FD-4CA4-BF5E-ABD625ADD6F4}" srcOrd="1" destOrd="0" presId="urn:microsoft.com/office/officeart/2005/8/layout/pList2"/>
    <dgm:cxn modelId="{4ACEB76A-303D-4BD3-8753-04AC3BEBAC83}" type="presParOf" srcId="{3035059E-2AF8-44DA-B9CF-31C9FA4D3533}" destId="{FBE5A9FE-55E8-4FB5-B7EA-14FDF9BF893A}" srcOrd="2" destOrd="0" presId="urn:microsoft.com/office/officeart/2005/8/layout/pList2"/>
    <dgm:cxn modelId="{12EDA28D-8074-4918-8D6C-B24E98D52D0E}" type="presParOf" srcId="{349BE661-1596-4D4E-8247-B12A87CA4305}" destId="{8EE28499-7BA2-4A52-AAE9-5797F5BDF857}" srcOrd="1" destOrd="0" presId="urn:microsoft.com/office/officeart/2005/8/layout/pList2"/>
    <dgm:cxn modelId="{8B35D074-158E-4859-9EE3-930B74E6CB67}" type="presParOf" srcId="{349BE661-1596-4D4E-8247-B12A87CA4305}" destId="{51101144-D0AB-4DA8-9BDC-131D702E6565}" srcOrd="2" destOrd="0" presId="urn:microsoft.com/office/officeart/2005/8/layout/pList2"/>
    <dgm:cxn modelId="{92C9BF5E-5B90-4B39-88D9-411325ED7C55}" type="presParOf" srcId="{51101144-D0AB-4DA8-9BDC-131D702E6565}" destId="{572A61C1-AA76-4F2A-B7C2-6D2FC6640994}" srcOrd="0" destOrd="0" presId="urn:microsoft.com/office/officeart/2005/8/layout/pList2"/>
    <dgm:cxn modelId="{6C33A527-5270-45CE-88A7-4BF50AC61B5B}" type="presParOf" srcId="{51101144-D0AB-4DA8-9BDC-131D702E6565}" destId="{AF27D43E-326A-4EBC-82E6-95A079563407}" srcOrd="1" destOrd="0" presId="urn:microsoft.com/office/officeart/2005/8/layout/pList2"/>
    <dgm:cxn modelId="{E91931B3-A2BE-4EE8-898C-16093C584EC0}" type="presParOf" srcId="{51101144-D0AB-4DA8-9BDC-131D702E6565}" destId="{B02EBFE6-7EF3-45E9-B05E-3A3A59C62493}" srcOrd="2" destOrd="0" presId="urn:microsoft.com/office/officeart/2005/8/layout/pList2"/>
    <dgm:cxn modelId="{4C9BBD26-6AEF-4729-8943-341B01EBB3CB}" type="presParOf" srcId="{349BE661-1596-4D4E-8247-B12A87CA4305}" destId="{DCD15E2D-022E-4F88-A44D-D773F80575CF}" srcOrd="3" destOrd="0" presId="urn:microsoft.com/office/officeart/2005/8/layout/pList2"/>
    <dgm:cxn modelId="{2DAFDCC1-2D09-4838-A574-9E380E219B5D}" type="presParOf" srcId="{349BE661-1596-4D4E-8247-B12A87CA4305}" destId="{4A73C2D2-D0D8-48DA-B9FC-DE5D42AF096E}" srcOrd="4" destOrd="0" presId="urn:microsoft.com/office/officeart/2005/8/layout/pList2"/>
    <dgm:cxn modelId="{3901D9F9-B5B9-44C4-931E-3205D9D0CE52}" type="presParOf" srcId="{4A73C2D2-D0D8-48DA-B9FC-DE5D42AF096E}" destId="{07481DF3-8199-4361-B010-5A4DC72AB270}" srcOrd="0" destOrd="0" presId="urn:microsoft.com/office/officeart/2005/8/layout/pList2"/>
    <dgm:cxn modelId="{C6A55153-F273-4DB9-B973-DAEBA3BD6846}" type="presParOf" srcId="{4A73C2D2-D0D8-48DA-B9FC-DE5D42AF096E}" destId="{93BD0B1C-DFEB-402D-BAE3-1CF711896B4A}" srcOrd="1" destOrd="0" presId="urn:microsoft.com/office/officeart/2005/8/layout/pList2"/>
    <dgm:cxn modelId="{DCE313AC-3435-47FE-BAD0-767A5AA51042}" type="presParOf" srcId="{4A73C2D2-D0D8-48DA-B9FC-DE5D42AF096E}" destId="{D0839F9C-8622-4AD0-A7AC-7480DBCB5AC2}" srcOrd="2" destOrd="0" presId="urn:microsoft.com/office/officeart/2005/8/layout/p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AF0C58-83D8-46D8-9472-5842B6810149}">
      <dsp:nvSpPr>
        <dsp:cNvPr id="0" name=""/>
        <dsp:cNvSpPr/>
      </dsp:nvSpPr>
      <dsp:spPr>
        <a:xfrm>
          <a:off x="71440" y="0"/>
          <a:ext cx="6515094" cy="1316915"/>
        </a:xfrm>
        <a:prstGeom prst="roundRect">
          <a:avLst>
            <a:gd name="adj" fmla="val 1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E5A9FE-55E8-4FB5-B7EA-14FDF9BF893A}">
      <dsp:nvSpPr>
        <dsp:cNvPr id="0" name=""/>
        <dsp:cNvSpPr/>
      </dsp:nvSpPr>
      <dsp:spPr>
        <a:xfrm>
          <a:off x="199739" y="35706"/>
          <a:ext cx="1955780" cy="1245502"/>
        </a:xfrm>
        <a:prstGeom prst="roundRect">
          <a:avLst>
            <a:gd name="adj" fmla="val 10000"/>
          </a:avLst>
        </a:prstGeom>
        <a:blipFill dpi="0" rotWithShape="1">
          <a:blip xmlns:r="http://schemas.openxmlformats.org/officeDocument/2006/relationships" r:embed="rId1"/>
          <a:srcRect/>
          <a:stretch>
            <a:fillRect t="433" b="-856"/>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577C3D-FFF8-4143-84A2-5307008ACB72}">
      <dsp:nvSpPr>
        <dsp:cNvPr id="0" name=""/>
        <dsp:cNvSpPr/>
      </dsp:nvSpPr>
      <dsp:spPr>
        <a:xfrm rot="10800000">
          <a:off x="199739" y="1316915"/>
          <a:ext cx="1955780" cy="1609562"/>
        </a:xfrm>
        <a:prstGeom prst="round2SameRect">
          <a:avLst>
            <a:gd name="adj1" fmla="val 10500"/>
            <a:gd name="adj2" fmla="val 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a:lnSpc>
              <a:spcPct val="90000"/>
            </a:lnSpc>
            <a:spcBef>
              <a:spcPct val="0"/>
            </a:spcBef>
            <a:spcAft>
              <a:spcPct val="35000"/>
            </a:spcAft>
            <a:buNone/>
          </a:pPr>
          <a:r>
            <a:rPr lang="en-US" sz="1500" kern="1200" dirty="0">
              <a:solidFill>
                <a:schemeClr val="tx1"/>
              </a:solidFill>
            </a:rPr>
            <a:t>Hypertension is one of the leading global health concerns, with over 1.28 billion adults affected worldwide.</a:t>
          </a:r>
          <a:endParaRPr lang="en-IN" sz="1500" kern="1200" dirty="0">
            <a:solidFill>
              <a:schemeClr val="tx1"/>
            </a:solidFill>
          </a:endParaRPr>
        </a:p>
      </dsp:txBody>
      <dsp:txXfrm rot="10800000">
        <a:off x="249239" y="1316915"/>
        <a:ext cx="1856780" cy="1560062"/>
      </dsp:txXfrm>
    </dsp:sp>
    <dsp:sp modelId="{B02EBFE6-7EF3-45E9-B05E-3A3A59C62493}">
      <dsp:nvSpPr>
        <dsp:cNvPr id="0" name=""/>
        <dsp:cNvSpPr/>
      </dsp:nvSpPr>
      <dsp:spPr>
        <a:xfrm>
          <a:off x="2351097" y="42630"/>
          <a:ext cx="1955780" cy="1231653"/>
        </a:xfrm>
        <a:prstGeom prst="roundRect">
          <a:avLst>
            <a:gd name="adj" fmla="val 10000"/>
          </a:avLst>
        </a:prstGeom>
        <a:blipFill dpi="0" rotWithShape="1">
          <a:blip xmlns:r="http://schemas.openxmlformats.org/officeDocument/2006/relationships" r:embed="rId2"/>
          <a:srcRect/>
          <a:stretch>
            <a:fillRect l="-4425" t="-10592" r="-3023" b="-5502"/>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2A61C1-AA76-4F2A-B7C2-6D2FC6640994}">
      <dsp:nvSpPr>
        <dsp:cNvPr id="0" name=""/>
        <dsp:cNvSpPr/>
      </dsp:nvSpPr>
      <dsp:spPr>
        <a:xfrm rot="10800000">
          <a:off x="2351097" y="1316915"/>
          <a:ext cx="1955780" cy="1609562"/>
        </a:xfrm>
        <a:prstGeom prst="round2SameRect">
          <a:avLst>
            <a:gd name="adj1" fmla="val 10500"/>
            <a:gd name="adj2" fmla="val 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a:lnSpc>
              <a:spcPct val="90000"/>
            </a:lnSpc>
            <a:spcBef>
              <a:spcPct val="0"/>
            </a:spcBef>
            <a:spcAft>
              <a:spcPct val="35000"/>
            </a:spcAft>
            <a:buClr>
              <a:schemeClr val="lt1"/>
            </a:buClr>
            <a:buSzPts val="1400"/>
            <a:buNone/>
          </a:pPr>
          <a:r>
            <a:rPr lang="en-US" sz="1500" kern="1200" dirty="0">
              <a:solidFill>
                <a:schemeClr val="tx1"/>
              </a:solidFill>
            </a:rPr>
            <a:t>Current cuff-based BP devices are intermittent, uncomfortable, and unable to measure rapid beat-to-beat variations</a:t>
          </a:r>
          <a:endParaRPr lang="en-IN" sz="1500" kern="1200" dirty="0">
            <a:solidFill>
              <a:schemeClr val="tx1"/>
            </a:solidFill>
          </a:endParaRPr>
        </a:p>
      </dsp:txBody>
      <dsp:txXfrm rot="10800000">
        <a:off x="2400597" y="1316915"/>
        <a:ext cx="1856780" cy="1560062"/>
      </dsp:txXfrm>
    </dsp:sp>
    <dsp:sp modelId="{D0839F9C-8622-4AD0-A7AC-7480DBCB5AC2}">
      <dsp:nvSpPr>
        <dsp:cNvPr id="0" name=""/>
        <dsp:cNvSpPr/>
      </dsp:nvSpPr>
      <dsp:spPr>
        <a:xfrm>
          <a:off x="4502455" y="49559"/>
          <a:ext cx="1955780" cy="1217795"/>
        </a:xfrm>
        <a:prstGeom prst="roundRect">
          <a:avLst>
            <a:gd name="adj" fmla="val 10000"/>
          </a:avLst>
        </a:prstGeom>
        <a:blipFill dpi="0" rotWithShape="1">
          <a:blip xmlns:r="http://schemas.openxmlformats.org/officeDocument/2006/relationships" r:embed="rId3"/>
          <a:srcRect/>
          <a:stretch>
            <a:fillRect l="-4725" t="-1018" r="-4853" b="-7566"/>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481DF3-8199-4361-B010-5A4DC72AB270}">
      <dsp:nvSpPr>
        <dsp:cNvPr id="0" name=""/>
        <dsp:cNvSpPr/>
      </dsp:nvSpPr>
      <dsp:spPr>
        <a:xfrm rot="10800000">
          <a:off x="4502455" y="1316915"/>
          <a:ext cx="1955780" cy="1609562"/>
        </a:xfrm>
        <a:prstGeom prst="round2SameRect">
          <a:avLst>
            <a:gd name="adj1" fmla="val 10500"/>
            <a:gd name="adj2" fmla="val 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666750">
            <a:lnSpc>
              <a:spcPct val="90000"/>
            </a:lnSpc>
            <a:spcBef>
              <a:spcPct val="0"/>
            </a:spcBef>
            <a:spcAft>
              <a:spcPct val="35000"/>
            </a:spcAft>
            <a:buClr>
              <a:schemeClr val="lt1"/>
            </a:buClr>
            <a:buSzPts val="1400"/>
            <a:buNone/>
          </a:pPr>
          <a:r>
            <a:rPr lang="en-US" sz="1500" kern="1200" dirty="0">
              <a:solidFill>
                <a:schemeClr val="tx1"/>
              </a:solidFill>
            </a:rPr>
            <a:t>Existing clinical beat-to-beat BP monitors are expensive and unsuitable for portable or wearable applications</a:t>
          </a:r>
          <a:endParaRPr lang="en-IN" sz="1500" kern="1200" dirty="0">
            <a:solidFill>
              <a:schemeClr val="tx1"/>
            </a:solidFill>
          </a:endParaRPr>
        </a:p>
      </dsp:txBody>
      <dsp:txXfrm rot="10800000">
        <a:off x="4551955" y="1316915"/>
        <a:ext cx="1856780" cy="1560062"/>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4669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a:t>
            </a:fld>
            <a:endParaRPr/>
          </a:p>
        </p:txBody>
      </p:sp>
    </p:spTree>
    <p:extLst>
      <p:ext uri="{BB962C8B-B14F-4D97-AF65-F5344CB8AC3E}">
        <p14:creationId xmlns:p14="http://schemas.microsoft.com/office/powerpoint/2010/main" val="351330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8987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7612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FA58CD8B-5CF7-F11B-935E-814C19DA01DC}"/>
            </a:ext>
          </a:extLst>
        </p:cNvPr>
        <p:cNvGrpSpPr/>
        <p:nvPr/>
      </p:nvGrpSpPr>
      <p:grpSpPr>
        <a:xfrm>
          <a:off x="0" y="0"/>
          <a:ext cx="0" cy="0"/>
          <a:chOff x="0" y="0"/>
          <a:chExt cx="0" cy="0"/>
        </a:xfrm>
      </p:grpSpPr>
      <p:sp>
        <p:nvSpPr>
          <p:cNvPr id="137" name="Google Shape;137;p5:notes">
            <a:extLst>
              <a:ext uri="{FF2B5EF4-FFF2-40B4-BE49-F238E27FC236}">
                <a16:creationId xmlns:a16="http://schemas.microsoft.com/office/drawing/2014/main" id="{FA4C8750-6E8E-2045-85C0-81731DBAD4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5:notes">
            <a:extLst>
              <a:ext uri="{FF2B5EF4-FFF2-40B4-BE49-F238E27FC236}">
                <a16:creationId xmlns:a16="http://schemas.microsoft.com/office/drawing/2014/main" id="{BE948F61-676D-3EFA-F723-03A5E7F2E7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0732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5207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6852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D67EF-7D55-4AE3-AFD7-099F79C086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222E1D-A8DA-47B6-9BDC-F453195B248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0B06A0-B2EF-49E7-B156-C89567F5269A}"/>
              </a:ext>
            </a:extLst>
          </p:cNvPr>
          <p:cNvSpPr>
            <a:spLocks noGrp="1"/>
          </p:cNvSpPr>
          <p:nvPr>
            <p:ph type="dt" sz="half" idx="10"/>
          </p:nvPr>
        </p:nvSpPr>
        <p:spPr/>
        <p:txBody>
          <a:bodyPr/>
          <a:lstStyle/>
          <a:p>
            <a:fld id="{BB33313A-B03C-491A-8CF3-B794ACEF073D}" type="datetimeFigureOut">
              <a:rPr lang="en-IN" smtClean="0"/>
              <a:t>12-05-2026</a:t>
            </a:fld>
            <a:endParaRPr lang="en-IN"/>
          </a:p>
        </p:txBody>
      </p:sp>
      <p:sp>
        <p:nvSpPr>
          <p:cNvPr id="5" name="Footer Placeholder 4">
            <a:extLst>
              <a:ext uri="{FF2B5EF4-FFF2-40B4-BE49-F238E27FC236}">
                <a16:creationId xmlns:a16="http://schemas.microsoft.com/office/drawing/2014/main" id="{F6C374EF-3605-4470-9C65-9033B01853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76C807-EDDD-481B-8FE6-B5E0A9EB0BDD}"/>
              </a:ext>
            </a:extLst>
          </p:cNvPr>
          <p:cNvSpPr>
            <a:spLocks noGrp="1"/>
          </p:cNvSpPr>
          <p:nvPr>
            <p:ph type="sldNum" sz="quarter" idx="12"/>
          </p:nvPr>
        </p:nvSpPr>
        <p:spPr/>
        <p:txBody>
          <a:bodyPr/>
          <a:lstStyle/>
          <a:p>
            <a:fld id="{D670170A-6FA6-4F4F-B4AF-B06694079016}" type="slidenum">
              <a:rPr lang="en-IN" smtClean="0"/>
              <a:t>‹#›</a:t>
            </a:fld>
            <a:endParaRPr lang="en-IN"/>
          </a:p>
        </p:txBody>
      </p:sp>
    </p:spTree>
    <p:extLst>
      <p:ext uri="{BB962C8B-B14F-4D97-AF65-F5344CB8AC3E}">
        <p14:creationId xmlns:p14="http://schemas.microsoft.com/office/powerpoint/2010/main" val="1060250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CA2DE2-F353-4834-B6B0-45F413761FAB}"/>
              </a:ext>
            </a:extLst>
          </p:cNvPr>
          <p:cNvSpPr>
            <a:spLocks noGrp="1"/>
          </p:cNvSpPr>
          <p:nvPr>
            <p:ph type="dt" sz="half" idx="10"/>
          </p:nvPr>
        </p:nvSpPr>
        <p:spPr/>
        <p:txBody>
          <a:bodyPr/>
          <a:lstStyle/>
          <a:p>
            <a:fld id="{BB33313A-B03C-491A-8CF3-B794ACEF073D}" type="datetimeFigureOut">
              <a:rPr lang="en-IN" smtClean="0"/>
              <a:t>12-05-2026</a:t>
            </a:fld>
            <a:endParaRPr lang="en-IN"/>
          </a:p>
        </p:txBody>
      </p:sp>
      <p:sp>
        <p:nvSpPr>
          <p:cNvPr id="3" name="Footer Placeholder 2">
            <a:extLst>
              <a:ext uri="{FF2B5EF4-FFF2-40B4-BE49-F238E27FC236}">
                <a16:creationId xmlns:a16="http://schemas.microsoft.com/office/drawing/2014/main" id="{9A770831-1A2E-4873-A51B-C0B5A6CF13D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2275462-132E-4B00-8308-60159AE41D39}"/>
              </a:ext>
            </a:extLst>
          </p:cNvPr>
          <p:cNvSpPr>
            <a:spLocks noGrp="1"/>
          </p:cNvSpPr>
          <p:nvPr>
            <p:ph type="sldNum" sz="quarter" idx="12"/>
          </p:nvPr>
        </p:nvSpPr>
        <p:spPr/>
        <p:txBody>
          <a:bodyPr/>
          <a:lstStyle/>
          <a:p>
            <a:fld id="{D670170A-6FA6-4F4F-B4AF-B06694079016}" type="slidenum">
              <a:rPr lang="en-IN" smtClean="0"/>
              <a:t>‹#›</a:t>
            </a:fld>
            <a:endParaRPr lang="en-IN"/>
          </a:p>
        </p:txBody>
      </p:sp>
    </p:spTree>
    <p:extLst>
      <p:ext uri="{BB962C8B-B14F-4D97-AF65-F5344CB8AC3E}">
        <p14:creationId xmlns:p14="http://schemas.microsoft.com/office/powerpoint/2010/main" val="93612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D6A5B-03BA-4B67-BE7A-B6FFE44DD11B}"/>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FF8CBE-83F0-45C2-A27B-87CCAF86BCCB}"/>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556F52-0907-43D8-81CD-2315D404250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5C6B1BD9-CCEB-4EA8-9F54-F6C74D31FCEB}"/>
              </a:ext>
            </a:extLst>
          </p:cNvPr>
          <p:cNvSpPr>
            <a:spLocks noGrp="1"/>
          </p:cNvSpPr>
          <p:nvPr>
            <p:ph type="dt" sz="half" idx="10"/>
          </p:nvPr>
        </p:nvSpPr>
        <p:spPr/>
        <p:txBody>
          <a:bodyPr/>
          <a:lstStyle/>
          <a:p>
            <a:fld id="{BB33313A-B03C-491A-8CF3-B794ACEF073D}" type="datetimeFigureOut">
              <a:rPr lang="en-IN" smtClean="0"/>
              <a:t>12-05-2026</a:t>
            </a:fld>
            <a:endParaRPr lang="en-IN"/>
          </a:p>
        </p:txBody>
      </p:sp>
      <p:sp>
        <p:nvSpPr>
          <p:cNvPr id="6" name="Footer Placeholder 5">
            <a:extLst>
              <a:ext uri="{FF2B5EF4-FFF2-40B4-BE49-F238E27FC236}">
                <a16:creationId xmlns:a16="http://schemas.microsoft.com/office/drawing/2014/main" id="{CC81D243-FF8C-430E-92DC-88527549EE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249460-F7E7-4DA0-8B27-4C014707D319}"/>
              </a:ext>
            </a:extLst>
          </p:cNvPr>
          <p:cNvSpPr>
            <a:spLocks noGrp="1"/>
          </p:cNvSpPr>
          <p:nvPr>
            <p:ph type="sldNum" sz="quarter" idx="12"/>
          </p:nvPr>
        </p:nvSpPr>
        <p:spPr/>
        <p:txBody>
          <a:bodyPr/>
          <a:lstStyle/>
          <a:p>
            <a:fld id="{D670170A-6FA6-4F4F-B4AF-B06694079016}" type="slidenum">
              <a:rPr lang="en-IN" smtClean="0"/>
              <a:t>‹#›</a:t>
            </a:fld>
            <a:endParaRPr lang="en-IN"/>
          </a:p>
        </p:txBody>
      </p:sp>
    </p:spTree>
    <p:extLst>
      <p:ext uri="{BB962C8B-B14F-4D97-AF65-F5344CB8AC3E}">
        <p14:creationId xmlns:p14="http://schemas.microsoft.com/office/powerpoint/2010/main" val="8813108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1962024" y="132403"/>
            <a:ext cx="5563609" cy="339329"/>
          </a:xfrm>
          <a:prstGeom prst="rect">
            <a:avLst/>
          </a:prstGeom>
          <a:noFill/>
          <a:ln>
            <a:noFill/>
          </a:ln>
        </p:spPr>
        <p:txBody>
          <a:bodyPr spcFirstLastPara="1" wrap="square" lIns="68569" tIns="34275" rIns="68569" bIns="34275" anchor="ctr" anchorCtr="0">
            <a:noAutofit/>
          </a:bodyPr>
          <a:lstStyle/>
          <a:p>
            <a:pPr lvl="0" algn="ctr"/>
            <a:r>
              <a:rPr lang="en-US" sz="2100" b="1" dirty="0"/>
              <a:t>ECP4.2.2 Project Work And Dissertation</a:t>
            </a:r>
            <a:endParaRPr sz="1350" b="1" dirty="0"/>
          </a:p>
        </p:txBody>
      </p:sp>
      <p:sp>
        <p:nvSpPr>
          <p:cNvPr id="90" name="Google Shape;90;p1"/>
          <p:cNvSpPr/>
          <p:nvPr/>
        </p:nvSpPr>
        <p:spPr>
          <a:xfrm>
            <a:off x="139279" y="674659"/>
            <a:ext cx="8865441" cy="725091"/>
          </a:xfrm>
          <a:prstGeom prst="roundRect">
            <a:avLst>
              <a:gd name="adj" fmla="val 16667"/>
            </a:avLst>
          </a:prstGeom>
          <a:noFill/>
          <a:ln>
            <a:noFill/>
          </a:ln>
        </p:spPr>
        <p:txBody>
          <a:bodyPr spcFirstLastPara="1" wrap="square" lIns="68569" tIns="34275" rIns="68569" bIns="34275" anchor="ctr" anchorCtr="0">
            <a:noAutofit/>
          </a:bodyPr>
          <a:lstStyle/>
          <a:p>
            <a:pPr algn="ctr"/>
            <a:r>
              <a:rPr lang="en-US" sz="3000" b="1" dirty="0">
                <a:solidFill>
                  <a:srgbClr val="0070C0"/>
                </a:solidFill>
                <a:latin typeface="Calibri"/>
                <a:ea typeface="Calibri"/>
                <a:cs typeface="Calibri"/>
                <a:sym typeface="Calibri"/>
              </a:rPr>
              <a:t>Design of ML Assisted Beat to Beat Blood Pressure Estimator and It’s Related Hardware Implementation</a:t>
            </a:r>
            <a:endParaRPr lang="en-US" sz="3000" dirty="0"/>
          </a:p>
          <a:p>
            <a:pPr algn="ctr"/>
            <a:endParaRPr sz="1350" dirty="0"/>
          </a:p>
        </p:txBody>
      </p:sp>
      <p:sp>
        <p:nvSpPr>
          <p:cNvPr id="91" name="Google Shape;91;p1"/>
          <p:cNvSpPr/>
          <p:nvPr/>
        </p:nvSpPr>
        <p:spPr>
          <a:xfrm>
            <a:off x="388995" y="2021323"/>
            <a:ext cx="3689530" cy="1193006"/>
          </a:xfrm>
          <a:prstGeom prst="rect">
            <a:avLst/>
          </a:prstGeom>
          <a:noFill/>
          <a:ln>
            <a:noFill/>
          </a:ln>
        </p:spPr>
        <p:txBody>
          <a:bodyPr spcFirstLastPara="1" wrap="square" lIns="68569" tIns="34275" rIns="68569" bIns="34275" anchor="ctr" anchorCtr="0">
            <a:noAutofit/>
          </a:bodyPr>
          <a:lstStyle/>
          <a:p>
            <a:pPr algn="ctr"/>
            <a:r>
              <a:rPr lang="en-US" b="1" i="1" dirty="0">
                <a:solidFill>
                  <a:schemeClr val="dk1"/>
                </a:solidFill>
                <a:latin typeface="Calibri"/>
                <a:ea typeface="Calibri"/>
                <a:cs typeface="Calibri"/>
                <a:sym typeface="Calibri"/>
              </a:rPr>
              <a:t>S</a:t>
            </a:r>
            <a:r>
              <a:rPr lang="en-IN" b="1" i="1" dirty="0" err="1">
                <a:solidFill>
                  <a:schemeClr val="dk1"/>
                </a:solidFill>
                <a:latin typeface="Calibri"/>
                <a:ea typeface="Calibri"/>
                <a:cs typeface="Calibri"/>
                <a:sym typeface="Calibri"/>
              </a:rPr>
              <a:t>wapnil</a:t>
            </a:r>
            <a:r>
              <a:rPr lang="en-IN" b="1" i="1" dirty="0">
                <a:solidFill>
                  <a:schemeClr val="dk1"/>
                </a:solidFill>
                <a:latin typeface="Calibri"/>
                <a:ea typeface="Calibri"/>
                <a:cs typeface="Calibri"/>
                <a:sym typeface="Calibri"/>
              </a:rPr>
              <a:t> Saha</a:t>
            </a:r>
            <a:endParaRPr sz="1350" dirty="0"/>
          </a:p>
          <a:p>
            <a:pPr algn="ctr"/>
            <a:r>
              <a:rPr lang="en-IN" i="1" dirty="0">
                <a:solidFill>
                  <a:schemeClr val="dk1"/>
                </a:solidFill>
                <a:latin typeface="Calibri"/>
                <a:ea typeface="Calibri"/>
                <a:cs typeface="Calibri"/>
                <a:sym typeface="Calibri"/>
              </a:rPr>
              <a:t>University Roll No.: </a:t>
            </a:r>
            <a:r>
              <a:rPr lang="en-IN" b="1" i="1" dirty="0">
                <a:solidFill>
                  <a:schemeClr val="dk1"/>
                </a:solidFill>
                <a:latin typeface="Calibri"/>
                <a:ea typeface="Calibri"/>
                <a:cs typeface="Calibri"/>
                <a:sym typeface="Calibri"/>
              </a:rPr>
              <a:t>T91/ECE/226013</a:t>
            </a:r>
            <a:endParaRPr sz="1350" dirty="0"/>
          </a:p>
          <a:p>
            <a:pPr algn="ctr"/>
            <a:r>
              <a:rPr lang="en-IN" i="1" dirty="0">
                <a:solidFill>
                  <a:schemeClr val="dk1"/>
                </a:solidFill>
                <a:latin typeface="Calibri"/>
                <a:ea typeface="Calibri"/>
                <a:cs typeface="Calibri"/>
                <a:sym typeface="Calibri"/>
              </a:rPr>
              <a:t>Registration No.: </a:t>
            </a:r>
            <a:r>
              <a:rPr lang="en-IN" b="1" i="1" dirty="0">
                <a:solidFill>
                  <a:schemeClr val="dk1"/>
                </a:solidFill>
                <a:latin typeface="Calibri"/>
                <a:ea typeface="Calibri"/>
                <a:cs typeface="Calibri"/>
                <a:sym typeface="Calibri"/>
              </a:rPr>
              <a:t>012-1111-0753-20</a:t>
            </a:r>
            <a:endParaRPr sz="1350" dirty="0"/>
          </a:p>
          <a:p>
            <a:pPr algn="ctr"/>
            <a:r>
              <a:rPr lang="en-IN" i="1" dirty="0">
                <a:solidFill>
                  <a:schemeClr val="dk1"/>
                </a:solidFill>
                <a:latin typeface="Calibri"/>
                <a:ea typeface="Calibri"/>
                <a:cs typeface="Calibri"/>
                <a:sym typeface="Calibri"/>
              </a:rPr>
              <a:t>B. Tech, 8</a:t>
            </a:r>
            <a:r>
              <a:rPr lang="en-IN" i="1" baseline="30000" dirty="0">
                <a:solidFill>
                  <a:schemeClr val="dk1"/>
                </a:solidFill>
                <a:latin typeface="Calibri"/>
                <a:ea typeface="Calibri"/>
                <a:cs typeface="Calibri"/>
                <a:sym typeface="Calibri"/>
              </a:rPr>
              <a:t>th</a:t>
            </a:r>
            <a:r>
              <a:rPr lang="en-IN" i="1" dirty="0">
                <a:solidFill>
                  <a:schemeClr val="dk1"/>
                </a:solidFill>
                <a:latin typeface="Calibri"/>
                <a:ea typeface="Calibri"/>
                <a:cs typeface="Calibri"/>
                <a:sym typeface="Calibri"/>
              </a:rPr>
              <a:t> Semester, ECE</a:t>
            </a:r>
            <a:endParaRPr sz="1350" dirty="0"/>
          </a:p>
        </p:txBody>
      </p:sp>
      <p:sp>
        <p:nvSpPr>
          <p:cNvPr id="92" name="Google Shape;92;p1"/>
          <p:cNvSpPr/>
          <p:nvPr/>
        </p:nvSpPr>
        <p:spPr>
          <a:xfrm>
            <a:off x="2314574" y="3324467"/>
            <a:ext cx="4514850" cy="1279019"/>
          </a:xfrm>
          <a:prstGeom prst="rect">
            <a:avLst/>
          </a:prstGeom>
          <a:noFill/>
          <a:ln>
            <a:noFill/>
          </a:ln>
        </p:spPr>
        <p:txBody>
          <a:bodyPr spcFirstLastPara="1" wrap="square" lIns="68569" tIns="34275" rIns="68569" bIns="34275" anchor="ctr" anchorCtr="0">
            <a:noAutofit/>
          </a:bodyPr>
          <a:lstStyle/>
          <a:p>
            <a:pPr lvl="0" algn="ctr">
              <a:lnSpc>
                <a:spcPct val="150000"/>
              </a:lnSpc>
            </a:pPr>
            <a:r>
              <a:rPr lang="en-IN" sz="1500" dirty="0"/>
              <a:t>Under The Guidance</a:t>
            </a:r>
            <a:r>
              <a:rPr lang="en-IN" sz="1500" i="1" dirty="0">
                <a:solidFill>
                  <a:schemeClr val="dk1"/>
                </a:solidFill>
                <a:latin typeface="Times New Roman"/>
                <a:ea typeface="Times New Roman"/>
                <a:cs typeface="Times New Roman"/>
                <a:sym typeface="Times New Roman"/>
              </a:rPr>
              <a:t>:</a:t>
            </a:r>
            <a:endParaRPr sz="1350" dirty="0"/>
          </a:p>
          <a:p>
            <a:pPr algn="ctr"/>
            <a:r>
              <a:rPr lang="en-IN" sz="1500" b="1" i="1" dirty="0" err="1">
                <a:solidFill>
                  <a:schemeClr val="dk1"/>
                </a:solidFill>
                <a:latin typeface="Calibri"/>
                <a:ea typeface="Calibri"/>
                <a:cs typeface="Calibri"/>
                <a:sym typeface="Calibri"/>
              </a:rPr>
              <a:t>Dr.</a:t>
            </a:r>
            <a:r>
              <a:rPr lang="en-IN" sz="1500" b="1" i="1" dirty="0">
                <a:solidFill>
                  <a:schemeClr val="dk1"/>
                </a:solidFill>
                <a:latin typeface="Calibri"/>
                <a:ea typeface="Calibri"/>
                <a:cs typeface="Calibri"/>
                <a:sym typeface="Calibri"/>
              </a:rPr>
              <a:t> Sumitra Mukhopadhyay</a:t>
            </a:r>
            <a:endParaRPr sz="1350" dirty="0"/>
          </a:p>
          <a:p>
            <a:pPr algn="ctr"/>
            <a:r>
              <a:rPr lang="en-IN" sz="1500" i="1" dirty="0">
                <a:solidFill>
                  <a:schemeClr val="dk1"/>
                </a:solidFill>
                <a:latin typeface="Calibri"/>
                <a:ea typeface="Calibri"/>
                <a:cs typeface="Calibri"/>
                <a:sym typeface="Calibri"/>
              </a:rPr>
              <a:t>Department of Radio Physics and Electronics,</a:t>
            </a:r>
            <a:endParaRPr sz="1350" dirty="0"/>
          </a:p>
          <a:p>
            <a:pPr algn="ctr"/>
            <a:r>
              <a:rPr lang="en-IN" sz="1500" i="1" dirty="0">
                <a:solidFill>
                  <a:schemeClr val="dk1"/>
                </a:solidFill>
                <a:latin typeface="Calibri"/>
                <a:ea typeface="Calibri"/>
                <a:cs typeface="Calibri"/>
                <a:sym typeface="Calibri"/>
              </a:rPr>
              <a:t>University of Calcutta</a:t>
            </a:r>
            <a:endParaRPr sz="1350" dirty="0"/>
          </a:p>
        </p:txBody>
      </p:sp>
      <p:sp>
        <p:nvSpPr>
          <p:cNvPr id="93" name="Google Shape;93;p1"/>
          <p:cNvSpPr/>
          <p:nvPr/>
        </p:nvSpPr>
        <p:spPr>
          <a:xfrm>
            <a:off x="3030936" y="1625582"/>
            <a:ext cx="3000375" cy="303590"/>
          </a:xfrm>
          <a:prstGeom prst="rect">
            <a:avLst/>
          </a:prstGeom>
          <a:noFill/>
          <a:ln>
            <a:noFill/>
          </a:ln>
        </p:spPr>
        <p:txBody>
          <a:bodyPr spcFirstLastPara="1" wrap="square" lIns="68569" tIns="34275" rIns="68569" bIns="34275" anchor="ctr" anchorCtr="0">
            <a:noAutofit/>
          </a:bodyPr>
          <a:lstStyle/>
          <a:p>
            <a:pPr algn="ctr"/>
            <a:r>
              <a:rPr lang="en-IN" b="1" i="1">
                <a:solidFill>
                  <a:schemeClr val="dk1"/>
                </a:solidFill>
                <a:latin typeface="Times New Roman"/>
                <a:ea typeface="Times New Roman"/>
                <a:cs typeface="Times New Roman"/>
                <a:sym typeface="Times New Roman"/>
              </a:rPr>
              <a:t>Presented By:</a:t>
            </a:r>
            <a:endParaRPr sz="1350"/>
          </a:p>
        </p:txBody>
      </p:sp>
      <p:sp>
        <p:nvSpPr>
          <p:cNvPr id="94" name="Google Shape;94;p1"/>
          <p:cNvSpPr txBox="1">
            <a:spLocks noGrp="1"/>
          </p:cNvSpPr>
          <p:nvPr>
            <p:ph type="ftr" idx="11"/>
          </p:nvPr>
        </p:nvSpPr>
        <p:spPr>
          <a:xfrm>
            <a:off x="3028950" y="4767263"/>
            <a:ext cx="3086100" cy="273844"/>
          </a:xfrm>
          <a:prstGeom prst="rect">
            <a:avLst/>
          </a:prstGeom>
          <a:noFill/>
          <a:ln>
            <a:noFill/>
          </a:ln>
        </p:spPr>
        <p:txBody>
          <a:bodyPr spcFirstLastPara="1" wrap="square" lIns="68569" tIns="34275" rIns="68569" bIns="34275" anchor="ctr" anchorCtr="0">
            <a:noAutofit/>
          </a:bodyPr>
          <a:lstStyle/>
          <a:p>
            <a:pPr algn="ctr"/>
            <a:r>
              <a:rPr lang="en-IN" sz="800" dirty="0"/>
              <a:t>Project Work Foundation (ECP4.1.9)</a:t>
            </a:r>
            <a:endParaRPr sz="800" dirty="0"/>
          </a:p>
        </p:txBody>
      </p:sp>
      <p:sp>
        <p:nvSpPr>
          <p:cNvPr id="96" name="Google Shape;96;p1"/>
          <p:cNvSpPr/>
          <p:nvPr/>
        </p:nvSpPr>
        <p:spPr>
          <a:xfrm>
            <a:off x="4870181" y="1994504"/>
            <a:ext cx="3689531" cy="1193006"/>
          </a:xfrm>
          <a:prstGeom prst="rect">
            <a:avLst/>
          </a:prstGeom>
          <a:noFill/>
          <a:ln>
            <a:noFill/>
          </a:ln>
        </p:spPr>
        <p:txBody>
          <a:bodyPr spcFirstLastPara="1" wrap="square" lIns="68569" tIns="34275" rIns="68569" bIns="34275" anchor="ctr" anchorCtr="0">
            <a:noAutofit/>
          </a:bodyPr>
          <a:lstStyle/>
          <a:p>
            <a:pPr algn="ctr"/>
            <a:r>
              <a:rPr lang="en-IN" b="1" i="1" dirty="0" err="1">
                <a:solidFill>
                  <a:schemeClr val="dk1"/>
                </a:solidFill>
                <a:latin typeface="Calibri"/>
                <a:ea typeface="Calibri"/>
                <a:cs typeface="Calibri"/>
                <a:sym typeface="Calibri"/>
              </a:rPr>
              <a:t>Ritam</a:t>
            </a:r>
            <a:r>
              <a:rPr lang="en-IN" b="1" i="1" dirty="0">
                <a:solidFill>
                  <a:schemeClr val="dk1"/>
                </a:solidFill>
                <a:latin typeface="Calibri"/>
                <a:ea typeface="Calibri"/>
                <a:cs typeface="Calibri"/>
                <a:sym typeface="Calibri"/>
              </a:rPr>
              <a:t> Pal</a:t>
            </a:r>
            <a:endParaRPr lang="en-IN" sz="1350" dirty="0"/>
          </a:p>
          <a:p>
            <a:pPr lvl="0" algn="ctr"/>
            <a:r>
              <a:rPr lang="en-IN" i="1" dirty="0">
                <a:solidFill>
                  <a:schemeClr val="dk1"/>
                </a:solidFill>
                <a:latin typeface="Calibri"/>
                <a:ea typeface="Calibri"/>
                <a:cs typeface="Calibri"/>
                <a:sym typeface="Calibri"/>
              </a:rPr>
              <a:t>University Roll No.:</a:t>
            </a:r>
            <a:r>
              <a:rPr lang="en-IN" dirty="0">
                <a:latin typeface="Calibri" panose="020F0502020204030204" pitchFamily="34" charset="0"/>
                <a:ea typeface="Calibri" panose="020F0502020204030204" pitchFamily="34" charset="0"/>
                <a:cs typeface="Times New Roman" panose="02020603050405020304" pitchFamily="18" charset="0"/>
              </a:rPr>
              <a:t> </a:t>
            </a:r>
            <a:r>
              <a:rPr lang="en-IN" b="1" i="1" dirty="0">
                <a:latin typeface="Calibri" panose="020F0502020204030204" pitchFamily="34" charset="0"/>
                <a:ea typeface="Calibri" panose="020F0502020204030204" pitchFamily="34" charset="0"/>
                <a:cs typeface="Times New Roman" panose="02020603050405020304" pitchFamily="18" charset="0"/>
              </a:rPr>
              <a:t>T91/ECE/216007</a:t>
            </a:r>
            <a:r>
              <a:rPr lang="en-IN" b="1" i="1" dirty="0">
                <a:solidFill>
                  <a:schemeClr val="dk1"/>
                </a:solidFill>
                <a:latin typeface="Calibri"/>
                <a:ea typeface="Calibri"/>
                <a:cs typeface="Calibri"/>
                <a:sym typeface="Calibri"/>
              </a:rPr>
              <a:t> </a:t>
            </a:r>
            <a:endParaRPr sz="1350" b="1" i="1" dirty="0"/>
          </a:p>
          <a:p>
            <a:pPr lvl="0" algn="ctr"/>
            <a:r>
              <a:rPr lang="en-IN" i="1" dirty="0">
                <a:solidFill>
                  <a:schemeClr val="dk1"/>
                </a:solidFill>
                <a:latin typeface="Calibri"/>
                <a:ea typeface="Calibri"/>
                <a:cs typeface="Calibri"/>
                <a:sym typeface="Calibri"/>
              </a:rPr>
              <a:t>Registration No.: </a:t>
            </a:r>
            <a:r>
              <a:rPr lang="en-IN" b="1" i="1" dirty="0">
                <a:latin typeface="Calibri" panose="020F0502020204030204" pitchFamily="34" charset="0"/>
                <a:ea typeface="Calibri" panose="020F0502020204030204" pitchFamily="34" charset="0"/>
                <a:cs typeface="Times New Roman" panose="02020603050405020304" pitchFamily="18" charset="0"/>
              </a:rPr>
              <a:t>425-1114-0868-19</a:t>
            </a:r>
            <a:endParaRPr b="1" i="1" dirty="0"/>
          </a:p>
          <a:p>
            <a:pPr algn="ctr"/>
            <a:r>
              <a:rPr lang="en-IN" i="1" dirty="0">
                <a:solidFill>
                  <a:schemeClr val="dk1"/>
                </a:solidFill>
                <a:latin typeface="Calibri"/>
                <a:ea typeface="Calibri"/>
                <a:cs typeface="Calibri"/>
                <a:sym typeface="Calibri"/>
              </a:rPr>
              <a:t>B. Tech</a:t>
            </a:r>
            <a:r>
              <a:rPr lang="en-IN" i="1">
                <a:solidFill>
                  <a:schemeClr val="dk1"/>
                </a:solidFill>
                <a:latin typeface="Calibri"/>
                <a:ea typeface="Calibri"/>
                <a:cs typeface="Calibri"/>
                <a:sym typeface="Calibri"/>
              </a:rPr>
              <a:t>, 8</a:t>
            </a:r>
            <a:r>
              <a:rPr lang="en-IN" i="1" baseline="30000">
                <a:solidFill>
                  <a:schemeClr val="dk1"/>
                </a:solidFill>
                <a:latin typeface="Calibri"/>
                <a:ea typeface="Calibri"/>
                <a:cs typeface="Calibri"/>
                <a:sym typeface="Calibri"/>
              </a:rPr>
              <a:t>th</a:t>
            </a:r>
            <a:r>
              <a:rPr lang="en-IN" i="1">
                <a:solidFill>
                  <a:schemeClr val="dk1"/>
                </a:solidFill>
                <a:latin typeface="Calibri"/>
                <a:ea typeface="Calibri"/>
                <a:cs typeface="Calibri"/>
                <a:sym typeface="Calibri"/>
              </a:rPr>
              <a:t> </a:t>
            </a:r>
            <a:r>
              <a:rPr lang="en-IN" i="1" dirty="0">
                <a:solidFill>
                  <a:schemeClr val="dk1"/>
                </a:solidFill>
                <a:latin typeface="Calibri"/>
                <a:ea typeface="Calibri"/>
                <a:cs typeface="Calibri"/>
                <a:sym typeface="Calibri"/>
              </a:rPr>
              <a:t>Semester, ECE</a:t>
            </a:r>
            <a:endParaRPr sz="1350" dirty="0"/>
          </a:p>
        </p:txBody>
      </p:sp>
    </p:spTree>
    <p:extLst>
      <p:ext uri="{BB962C8B-B14F-4D97-AF65-F5344CB8AC3E}">
        <p14:creationId xmlns:p14="http://schemas.microsoft.com/office/powerpoint/2010/main" val="2853533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chemeClr val="accent1">
              <a:lumMod val="60000"/>
              <a:lumOff val="40000"/>
            </a:schemeClr>
          </a:solidFill>
          <a:ln w="12700">
            <a:solidFill>
              <a:srgbClr val="0D2B4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chemeClr val="tx1">
                    <a:lumMod val="85000"/>
                    <a:lumOff val="15000"/>
                  </a:schemeClr>
                </a:solidFill>
                <a:latin typeface="Calibri" pitchFamily="34" charset="0"/>
                <a:ea typeface="Calibri" pitchFamily="34" charset="-122"/>
                <a:cs typeface="Calibri" pitchFamily="34" charset="-120"/>
              </a:rPr>
              <a:t>Table of Contents</a:t>
            </a:r>
            <a:endParaRPr lang="en-US" sz="2000" dirty="0">
              <a:solidFill>
                <a:schemeClr val="tx1">
                  <a:lumMod val="85000"/>
                  <a:lumOff val="15000"/>
                </a:schemeClr>
              </a:solidFill>
            </a:endParaRPr>
          </a:p>
        </p:txBody>
      </p:sp>
      <p:sp>
        <p:nvSpPr>
          <p:cNvPr id="4" name="Shape 2"/>
          <p:cNvSpPr/>
          <p:nvPr/>
        </p:nvSpPr>
        <p:spPr>
          <a:xfrm>
            <a:off x="0" y="4892040"/>
            <a:ext cx="9144000" cy="251460"/>
          </a:xfrm>
          <a:prstGeom prst="rect">
            <a:avLst/>
          </a:prstGeom>
          <a:solidFill>
            <a:srgbClr val="0D2B4E"/>
          </a:solidFill>
          <a:ln w="12700">
            <a:solidFill>
              <a:srgbClr val="0D2B4E"/>
            </a:solidFill>
            <a:prstDash val="solid"/>
          </a:ln>
        </p:spPr>
      </p:sp>
      <p:sp>
        <p:nvSpPr>
          <p:cNvPr id="5" name="Text 3"/>
          <p:cNvSpPr/>
          <p:nvPr/>
        </p:nvSpPr>
        <p:spPr>
          <a:xfrm>
            <a:off x="274320" y="4892040"/>
            <a:ext cx="7772400" cy="251460"/>
          </a:xfrm>
          <a:prstGeom prst="rect">
            <a:avLst/>
          </a:prstGeom>
          <a:noFill/>
          <a:ln/>
        </p:spPr>
        <p:txBody>
          <a:bodyPr wrap="square" lIns="0" tIns="0" rIns="0" bIns="0" rtlCol="0" anchor="ctr"/>
          <a:lstStyle/>
          <a:p>
            <a:pPr marL="0" indent="0">
              <a:buNone/>
            </a:pPr>
            <a:r>
              <a:rPr lang="en-US" sz="900" dirty="0">
                <a:solidFill>
                  <a:srgbClr val="99C8D6"/>
                </a:solidFill>
                <a:latin typeface="Calibri" pitchFamily="34" charset="0"/>
                <a:ea typeface="Calibri" pitchFamily="34" charset="-122"/>
                <a:cs typeface="Calibri" pitchFamily="34" charset="-120"/>
              </a:rPr>
              <a:t>BP Estimator | IRPE, University of Calcutta</a:t>
            </a:r>
            <a:endParaRPr lang="en-US" sz="9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ctr">
              <a:buNone/>
            </a:pPr>
            <a:endParaRPr lang="en-US" sz="900" dirty="0"/>
          </a:p>
        </p:txBody>
      </p:sp>
      <p:sp>
        <p:nvSpPr>
          <p:cNvPr id="7" name="Shape 5"/>
          <p:cNvSpPr/>
          <p:nvPr/>
        </p:nvSpPr>
        <p:spPr>
          <a:xfrm>
            <a:off x="228600" y="804672"/>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8" name="Shape 6"/>
          <p:cNvSpPr/>
          <p:nvPr/>
        </p:nvSpPr>
        <p:spPr>
          <a:xfrm>
            <a:off x="228600" y="804672"/>
            <a:ext cx="457200" cy="658368"/>
          </a:xfrm>
          <a:prstGeom prst="rect">
            <a:avLst/>
          </a:prstGeom>
          <a:solidFill>
            <a:srgbClr val="0D2B4E"/>
          </a:solidFill>
          <a:ln w="12700">
            <a:solidFill>
              <a:srgbClr val="0D2B4E"/>
            </a:solidFill>
            <a:prstDash val="solid"/>
          </a:ln>
        </p:spPr>
      </p:sp>
      <p:sp>
        <p:nvSpPr>
          <p:cNvPr id="9" name="Text 7"/>
          <p:cNvSpPr/>
          <p:nvPr/>
        </p:nvSpPr>
        <p:spPr>
          <a:xfrm>
            <a:off x="228600" y="804672"/>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777240" y="977029"/>
            <a:ext cx="3566160" cy="274320"/>
          </a:xfrm>
          <a:prstGeom prst="rect">
            <a:avLst/>
          </a:prstGeom>
          <a:noFill/>
          <a:ln/>
        </p:spPr>
        <p:txBody>
          <a:bodyPr wrap="square" lIns="0" tIns="0" rIns="0" bIns="0" rtlCol="0" anchor="ctr"/>
          <a:lstStyle/>
          <a:p>
            <a:pPr marL="0" indent="0">
              <a:buNone/>
            </a:pPr>
            <a:r>
              <a:rPr lang="en-US" sz="2000" b="1" dirty="0">
                <a:solidFill>
                  <a:srgbClr val="0D2B4E"/>
                </a:solidFill>
                <a:latin typeface="Calibri" pitchFamily="34" charset="0"/>
                <a:ea typeface="Calibri" pitchFamily="34" charset="-122"/>
                <a:cs typeface="Calibri" pitchFamily="34" charset="-120"/>
              </a:rPr>
              <a:t>Introduction /Relevance Of The Project</a:t>
            </a:r>
            <a:endParaRPr lang="en-US" sz="2000" dirty="0"/>
          </a:p>
        </p:txBody>
      </p:sp>
      <p:sp>
        <p:nvSpPr>
          <p:cNvPr id="12" name="Shape 10"/>
          <p:cNvSpPr/>
          <p:nvPr/>
        </p:nvSpPr>
        <p:spPr>
          <a:xfrm>
            <a:off x="228600" y="1609344"/>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13" name="Shape 11"/>
          <p:cNvSpPr/>
          <p:nvPr/>
        </p:nvSpPr>
        <p:spPr>
          <a:xfrm>
            <a:off x="228600" y="1609344"/>
            <a:ext cx="457200" cy="658368"/>
          </a:xfrm>
          <a:prstGeom prst="rect">
            <a:avLst/>
          </a:prstGeom>
          <a:solidFill>
            <a:srgbClr val="0D2B4E"/>
          </a:solidFill>
          <a:ln w="12700">
            <a:solidFill>
              <a:srgbClr val="0D2B4E"/>
            </a:solidFill>
            <a:prstDash val="solid"/>
          </a:ln>
        </p:spPr>
      </p:sp>
      <p:sp>
        <p:nvSpPr>
          <p:cNvPr id="14" name="Text 12"/>
          <p:cNvSpPr/>
          <p:nvPr/>
        </p:nvSpPr>
        <p:spPr>
          <a:xfrm>
            <a:off x="228600" y="1609344"/>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02</a:t>
            </a:r>
            <a:endParaRPr lang="en-US" sz="1400" dirty="0"/>
          </a:p>
        </p:txBody>
      </p:sp>
      <p:sp>
        <p:nvSpPr>
          <p:cNvPr id="15" name="Text 13"/>
          <p:cNvSpPr/>
          <p:nvPr/>
        </p:nvSpPr>
        <p:spPr>
          <a:xfrm>
            <a:off x="777240" y="1783080"/>
            <a:ext cx="3566160" cy="274320"/>
          </a:xfrm>
          <a:prstGeom prst="rect">
            <a:avLst/>
          </a:prstGeom>
          <a:noFill/>
          <a:ln/>
        </p:spPr>
        <p:txBody>
          <a:bodyPr wrap="square" lIns="0" tIns="0" rIns="0" bIns="0" rtlCol="0" anchor="ctr"/>
          <a:lstStyle/>
          <a:p>
            <a:r>
              <a:rPr lang="en-US" sz="2000" b="1" dirty="0">
                <a:solidFill>
                  <a:srgbClr val="0D2B4E"/>
                </a:solidFill>
                <a:latin typeface="Calibri" pitchFamily="34" charset="0"/>
                <a:ea typeface="Calibri" pitchFamily="34" charset="-122"/>
                <a:cs typeface="Calibri" pitchFamily="34" charset="-120"/>
              </a:rPr>
              <a:t>Review/Gap of Existing Research Paper</a:t>
            </a:r>
            <a:endParaRPr lang="en-US" sz="2000" dirty="0"/>
          </a:p>
        </p:txBody>
      </p:sp>
      <p:sp>
        <p:nvSpPr>
          <p:cNvPr id="17" name="Shape 15"/>
          <p:cNvSpPr/>
          <p:nvPr/>
        </p:nvSpPr>
        <p:spPr>
          <a:xfrm>
            <a:off x="228600" y="2414016"/>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18" name="Shape 16"/>
          <p:cNvSpPr/>
          <p:nvPr/>
        </p:nvSpPr>
        <p:spPr>
          <a:xfrm>
            <a:off x="228600" y="2414016"/>
            <a:ext cx="457200" cy="658368"/>
          </a:xfrm>
          <a:prstGeom prst="rect">
            <a:avLst/>
          </a:prstGeom>
          <a:solidFill>
            <a:srgbClr val="0D2B4E"/>
          </a:solidFill>
          <a:ln w="12700">
            <a:solidFill>
              <a:srgbClr val="0D2B4E"/>
            </a:solidFill>
            <a:prstDash val="solid"/>
          </a:ln>
        </p:spPr>
      </p:sp>
      <p:sp>
        <p:nvSpPr>
          <p:cNvPr id="19" name="Text 17"/>
          <p:cNvSpPr/>
          <p:nvPr/>
        </p:nvSpPr>
        <p:spPr>
          <a:xfrm>
            <a:off x="228600" y="2414016"/>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777240" y="2881521"/>
            <a:ext cx="3566160" cy="274320"/>
          </a:xfrm>
          <a:prstGeom prst="rect">
            <a:avLst/>
          </a:prstGeom>
          <a:noFill/>
          <a:ln/>
        </p:spPr>
        <p:txBody>
          <a:bodyPr wrap="square" lIns="0" tIns="0" rIns="0" bIns="0" rtlCol="0" anchor="ctr"/>
          <a:lstStyle/>
          <a:p>
            <a:r>
              <a:rPr lang="en-US" sz="2000" b="1" dirty="0">
                <a:solidFill>
                  <a:srgbClr val="0D2B4E"/>
                </a:solidFill>
                <a:latin typeface="Calibri" pitchFamily="34" charset="0"/>
                <a:ea typeface="Calibri" pitchFamily="34" charset="-122"/>
                <a:cs typeface="Calibri" pitchFamily="34" charset="-120"/>
              </a:rPr>
              <a:t>Methodology</a:t>
            </a:r>
            <a:endParaRPr lang="en-US" sz="2000" dirty="0"/>
          </a:p>
          <a:p>
            <a:endParaRPr lang="en-US" sz="2000" dirty="0"/>
          </a:p>
          <a:p>
            <a:pPr marL="0" indent="0">
              <a:buNone/>
            </a:pPr>
            <a:endParaRPr lang="en-US" sz="2000" dirty="0"/>
          </a:p>
        </p:txBody>
      </p:sp>
      <p:sp>
        <p:nvSpPr>
          <p:cNvPr id="22" name="Shape 20"/>
          <p:cNvSpPr/>
          <p:nvPr/>
        </p:nvSpPr>
        <p:spPr>
          <a:xfrm>
            <a:off x="228600" y="3218688"/>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23" name="Shape 21"/>
          <p:cNvSpPr/>
          <p:nvPr/>
        </p:nvSpPr>
        <p:spPr>
          <a:xfrm>
            <a:off x="228600" y="3218688"/>
            <a:ext cx="457200" cy="658368"/>
          </a:xfrm>
          <a:prstGeom prst="rect">
            <a:avLst/>
          </a:prstGeom>
          <a:solidFill>
            <a:srgbClr val="0D2B4E"/>
          </a:solidFill>
          <a:ln w="12700">
            <a:solidFill>
              <a:srgbClr val="0D2B4E"/>
            </a:solidFill>
            <a:prstDash val="solid"/>
          </a:ln>
        </p:spPr>
      </p:sp>
      <p:sp>
        <p:nvSpPr>
          <p:cNvPr id="24" name="Text 22"/>
          <p:cNvSpPr/>
          <p:nvPr/>
        </p:nvSpPr>
        <p:spPr>
          <a:xfrm>
            <a:off x="228600" y="3218688"/>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04</a:t>
            </a:r>
            <a:endParaRPr lang="en-US" sz="1400" dirty="0"/>
          </a:p>
        </p:txBody>
      </p:sp>
      <p:sp>
        <p:nvSpPr>
          <p:cNvPr id="25" name="Text 23"/>
          <p:cNvSpPr/>
          <p:nvPr/>
        </p:nvSpPr>
        <p:spPr>
          <a:xfrm>
            <a:off x="777240" y="3392424"/>
            <a:ext cx="3566160" cy="274320"/>
          </a:xfrm>
          <a:prstGeom prst="rect">
            <a:avLst/>
          </a:prstGeom>
          <a:noFill/>
          <a:ln/>
        </p:spPr>
        <p:txBody>
          <a:bodyPr wrap="square" lIns="0" tIns="0" rIns="0" bIns="0" rtlCol="0" anchor="ctr"/>
          <a:lstStyle/>
          <a:p>
            <a:pPr marL="0" indent="0">
              <a:buNone/>
            </a:pPr>
            <a:r>
              <a:rPr lang="en-US" sz="2000" b="1" dirty="0">
                <a:solidFill>
                  <a:srgbClr val="0D2B4E"/>
                </a:solidFill>
                <a:latin typeface="Calibri" pitchFamily="34" charset="0"/>
                <a:ea typeface="Calibri" pitchFamily="34" charset="-122"/>
                <a:cs typeface="Calibri" pitchFamily="34" charset="-120"/>
              </a:rPr>
              <a:t>PPG Acquisition &amp; Filtering</a:t>
            </a:r>
            <a:endParaRPr lang="en-US" sz="2000" dirty="0"/>
          </a:p>
        </p:txBody>
      </p:sp>
      <p:sp>
        <p:nvSpPr>
          <p:cNvPr id="27" name="Shape 25"/>
          <p:cNvSpPr/>
          <p:nvPr/>
        </p:nvSpPr>
        <p:spPr>
          <a:xfrm>
            <a:off x="228600" y="4023360"/>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28" name="Shape 26"/>
          <p:cNvSpPr/>
          <p:nvPr/>
        </p:nvSpPr>
        <p:spPr>
          <a:xfrm>
            <a:off x="228600" y="4023360"/>
            <a:ext cx="457200" cy="658368"/>
          </a:xfrm>
          <a:prstGeom prst="rect">
            <a:avLst/>
          </a:prstGeom>
          <a:solidFill>
            <a:srgbClr val="0D2B4E"/>
          </a:solidFill>
          <a:ln w="12700">
            <a:solidFill>
              <a:srgbClr val="0D2B4E"/>
            </a:solidFill>
            <a:prstDash val="solid"/>
          </a:ln>
        </p:spPr>
      </p:sp>
      <p:sp>
        <p:nvSpPr>
          <p:cNvPr id="29" name="Text 27"/>
          <p:cNvSpPr/>
          <p:nvPr/>
        </p:nvSpPr>
        <p:spPr>
          <a:xfrm>
            <a:off x="228600" y="4023360"/>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05</a:t>
            </a:r>
            <a:endParaRPr lang="en-US" sz="1400" dirty="0"/>
          </a:p>
        </p:txBody>
      </p:sp>
      <p:sp>
        <p:nvSpPr>
          <p:cNvPr id="30" name="Text 28"/>
          <p:cNvSpPr/>
          <p:nvPr/>
        </p:nvSpPr>
        <p:spPr>
          <a:xfrm>
            <a:off x="777240" y="4201668"/>
            <a:ext cx="3566160" cy="274320"/>
          </a:xfrm>
          <a:prstGeom prst="rect">
            <a:avLst/>
          </a:prstGeom>
          <a:noFill/>
          <a:ln/>
        </p:spPr>
        <p:txBody>
          <a:bodyPr wrap="square" lIns="0" tIns="0" rIns="0" bIns="0" rtlCol="0" anchor="ctr"/>
          <a:lstStyle/>
          <a:p>
            <a:pPr marL="0" indent="0">
              <a:buNone/>
            </a:pPr>
            <a:r>
              <a:rPr lang="en-US" sz="2000" b="1" dirty="0">
                <a:solidFill>
                  <a:srgbClr val="0D2B4E"/>
                </a:solidFill>
                <a:latin typeface="Calibri" pitchFamily="34" charset="0"/>
                <a:ea typeface="Calibri" pitchFamily="34" charset="-122"/>
                <a:cs typeface="Calibri" pitchFamily="34" charset="-120"/>
              </a:rPr>
              <a:t>Feature Extraction &amp; VAE</a:t>
            </a:r>
            <a:endParaRPr lang="en-US" sz="2000" dirty="0"/>
          </a:p>
        </p:txBody>
      </p:sp>
      <p:sp>
        <p:nvSpPr>
          <p:cNvPr id="32" name="Shape 30"/>
          <p:cNvSpPr/>
          <p:nvPr/>
        </p:nvSpPr>
        <p:spPr>
          <a:xfrm>
            <a:off x="4800600" y="804672"/>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33" name="Shape 31"/>
          <p:cNvSpPr/>
          <p:nvPr/>
        </p:nvSpPr>
        <p:spPr>
          <a:xfrm>
            <a:off x="4800600" y="804672"/>
            <a:ext cx="457200" cy="658368"/>
          </a:xfrm>
          <a:prstGeom prst="rect">
            <a:avLst/>
          </a:prstGeom>
          <a:solidFill>
            <a:srgbClr val="0D2B4E"/>
          </a:solidFill>
          <a:ln w="12700">
            <a:solidFill>
              <a:srgbClr val="0D2B4E"/>
            </a:solidFill>
            <a:prstDash val="solid"/>
          </a:ln>
        </p:spPr>
      </p:sp>
      <p:sp>
        <p:nvSpPr>
          <p:cNvPr id="34" name="Text 32"/>
          <p:cNvSpPr/>
          <p:nvPr/>
        </p:nvSpPr>
        <p:spPr>
          <a:xfrm>
            <a:off x="4800600" y="804672"/>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06</a:t>
            </a:r>
            <a:endParaRPr lang="en-US" sz="1400" dirty="0"/>
          </a:p>
        </p:txBody>
      </p:sp>
      <p:sp>
        <p:nvSpPr>
          <p:cNvPr id="35" name="Text 33"/>
          <p:cNvSpPr/>
          <p:nvPr/>
        </p:nvSpPr>
        <p:spPr>
          <a:xfrm>
            <a:off x="5349240" y="1014476"/>
            <a:ext cx="3566160" cy="274320"/>
          </a:xfrm>
          <a:prstGeom prst="rect">
            <a:avLst/>
          </a:prstGeom>
          <a:noFill/>
          <a:ln/>
        </p:spPr>
        <p:txBody>
          <a:bodyPr wrap="square" lIns="0" tIns="0" rIns="0" bIns="0" rtlCol="0" anchor="ctr"/>
          <a:lstStyle/>
          <a:p>
            <a:pPr marL="0" indent="0">
              <a:buNone/>
            </a:pPr>
            <a:r>
              <a:rPr lang="en-US" sz="2000" b="1" dirty="0">
                <a:solidFill>
                  <a:srgbClr val="0D2B4E"/>
                </a:solidFill>
                <a:latin typeface="Calibri" pitchFamily="34" charset="0"/>
                <a:ea typeface="Calibri" pitchFamily="34" charset="-122"/>
                <a:cs typeface="Calibri" pitchFamily="34" charset="-120"/>
              </a:rPr>
              <a:t>ML Model: Random Forest</a:t>
            </a:r>
            <a:endParaRPr lang="en-US" sz="2000" dirty="0"/>
          </a:p>
        </p:txBody>
      </p:sp>
      <p:sp>
        <p:nvSpPr>
          <p:cNvPr id="37" name="Shape 35"/>
          <p:cNvSpPr/>
          <p:nvPr/>
        </p:nvSpPr>
        <p:spPr>
          <a:xfrm>
            <a:off x="4800600" y="1609344"/>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38" name="Shape 36"/>
          <p:cNvSpPr/>
          <p:nvPr/>
        </p:nvSpPr>
        <p:spPr>
          <a:xfrm>
            <a:off x="4800600" y="1609344"/>
            <a:ext cx="457200" cy="658368"/>
          </a:xfrm>
          <a:prstGeom prst="rect">
            <a:avLst/>
          </a:prstGeom>
          <a:solidFill>
            <a:srgbClr val="0D2B4E"/>
          </a:solidFill>
          <a:ln w="12700">
            <a:solidFill>
              <a:srgbClr val="0D2B4E"/>
            </a:solidFill>
            <a:prstDash val="solid"/>
          </a:ln>
        </p:spPr>
      </p:sp>
      <p:sp>
        <p:nvSpPr>
          <p:cNvPr id="39" name="Text 37"/>
          <p:cNvSpPr/>
          <p:nvPr/>
        </p:nvSpPr>
        <p:spPr>
          <a:xfrm>
            <a:off x="4800600" y="1609344"/>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07</a:t>
            </a:r>
            <a:endParaRPr lang="en-US" sz="1400" dirty="0"/>
          </a:p>
        </p:txBody>
      </p:sp>
      <p:sp>
        <p:nvSpPr>
          <p:cNvPr id="40" name="Text 38"/>
          <p:cNvSpPr/>
          <p:nvPr/>
        </p:nvSpPr>
        <p:spPr>
          <a:xfrm>
            <a:off x="5349240" y="1801368"/>
            <a:ext cx="3566160" cy="274320"/>
          </a:xfrm>
          <a:prstGeom prst="rect">
            <a:avLst/>
          </a:prstGeom>
          <a:noFill/>
          <a:ln/>
        </p:spPr>
        <p:txBody>
          <a:bodyPr wrap="square" lIns="0" tIns="0" rIns="0" bIns="0" rtlCol="0" anchor="ctr"/>
          <a:lstStyle/>
          <a:p>
            <a:pPr marL="0" indent="0">
              <a:buNone/>
            </a:pPr>
            <a:r>
              <a:rPr lang="en-US" sz="2000" b="1" dirty="0">
                <a:solidFill>
                  <a:srgbClr val="0D2B4E"/>
                </a:solidFill>
                <a:latin typeface="Calibri" pitchFamily="34" charset="0"/>
                <a:ea typeface="Calibri" pitchFamily="34" charset="-122"/>
                <a:cs typeface="Calibri" pitchFamily="34" charset="-120"/>
              </a:rPr>
              <a:t>Software &amp; Embedded System</a:t>
            </a:r>
            <a:endParaRPr lang="en-US" sz="2000" dirty="0"/>
          </a:p>
        </p:txBody>
      </p:sp>
      <p:sp>
        <p:nvSpPr>
          <p:cNvPr id="42" name="Shape 40"/>
          <p:cNvSpPr/>
          <p:nvPr/>
        </p:nvSpPr>
        <p:spPr>
          <a:xfrm>
            <a:off x="4800600" y="2414016"/>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43" name="Shape 41"/>
          <p:cNvSpPr/>
          <p:nvPr/>
        </p:nvSpPr>
        <p:spPr>
          <a:xfrm>
            <a:off x="4800600" y="2414016"/>
            <a:ext cx="457200" cy="658368"/>
          </a:xfrm>
          <a:prstGeom prst="rect">
            <a:avLst/>
          </a:prstGeom>
          <a:solidFill>
            <a:srgbClr val="0D2B4E"/>
          </a:solidFill>
          <a:ln w="12700">
            <a:solidFill>
              <a:srgbClr val="0D2B4E"/>
            </a:solidFill>
            <a:prstDash val="solid"/>
          </a:ln>
        </p:spPr>
      </p:sp>
      <p:sp>
        <p:nvSpPr>
          <p:cNvPr id="44" name="Text 42"/>
          <p:cNvSpPr/>
          <p:nvPr/>
        </p:nvSpPr>
        <p:spPr>
          <a:xfrm>
            <a:off x="4800600" y="2414016"/>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08</a:t>
            </a:r>
            <a:endParaRPr lang="en-US" sz="1400" dirty="0"/>
          </a:p>
        </p:txBody>
      </p:sp>
      <p:sp>
        <p:nvSpPr>
          <p:cNvPr id="45" name="Text 43"/>
          <p:cNvSpPr/>
          <p:nvPr/>
        </p:nvSpPr>
        <p:spPr>
          <a:xfrm>
            <a:off x="5349240" y="2734056"/>
            <a:ext cx="3566160" cy="274320"/>
          </a:xfrm>
          <a:prstGeom prst="rect">
            <a:avLst/>
          </a:prstGeom>
          <a:noFill/>
          <a:ln/>
        </p:spPr>
        <p:txBody>
          <a:bodyPr wrap="square" lIns="0" tIns="0" rIns="0" bIns="0" rtlCol="0" anchor="ctr"/>
          <a:lstStyle/>
          <a:p>
            <a:r>
              <a:rPr lang="en-US" sz="2000" b="1" dirty="0">
                <a:solidFill>
                  <a:srgbClr val="0D2B4E"/>
                </a:solidFill>
                <a:latin typeface="Calibri" pitchFamily="34" charset="0"/>
                <a:ea typeface="Calibri" pitchFamily="34" charset="-122"/>
                <a:cs typeface="Calibri" pitchFamily="34" charset="-120"/>
              </a:rPr>
              <a:t>Hardware Prototyping</a:t>
            </a:r>
            <a:endParaRPr lang="en-US" sz="2000" dirty="0"/>
          </a:p>
          <a:p>
            <a:endParaRPr lang="en-US" sz="2000" dirty="0"/>
          </a:p>
        </p:txBody>
      </p:sp>
      <p:sp>
        <p:nvSpPr>
          <p:cNvPr id="47" name="Shape 45"/>
          <p:cNvSpPr/>
          <p:nvPr/>
        </p:nvSpPr>
        <p:spPr>
          <a:xfrm>
            <a:off x="4800600" y="3218688"/>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48" name="Shape 46"/>
          <p:cNvSpPr/>
          <p:nvPr/>
        </p:nvSpPr>
        <p:spPr>
          <a:xfrm>
            <a:off x="4800600" y="3218688"/>
            <a:ext cx="457200" cy="658368"/>
          </a:xfrm>
          <a:prstGeom prst="rect">
            <a:avLst/>
          </a:prstGeom>
          <a:solidFill>
            <a:srgbClr val="0D2B4E"/>
          </a:solidFill>
          <a:ln w="12700">
            <a:solidFill>
              <a:srgbClr val="0D2B4E"/>
            </a:solidFill>
            <a:prstDash val="solid"/>
          </a:ln>
        </p:spPr>
      </p:sp>
      <p:sp>
        <p:nvSpPr>
          <p:cNvPr id="49" name="Text 47"/>
          <p:cNvSpPr/>
          <p:nvPr/>
        </p:nvSpPr>
        <p:spPr>
          <a:xfrm>
            <a:off x="4800600" y="3218688"/>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09</a:t>
            </a:r>
            <a:endParaRPr lang="en-US" sz="1400" dirty="0"/>
          </a:p>
        </p:txBody>
      </p:sp>
      <p:sp>
        <p:nvSpPr>
          <p:cNvPr id="50" name="Text 48"/>
          <p:cNvSpPr/>
          <p:nvPr/>
        </p:nvSpPr>
        <p:spPr>
          <a:xfrm>
            <a:off x="5322389" y="3405632"/>
            <a:ext cx="3566160" cy="274320"/>
          </a:xfrm>
          <a:prstGeom prst="rect">
            <a:avLst/>
          </a:prstGeom>
          <a:noFill/>
          <a:ln/>
        </p:spPr>
        <p:txBody>
          <a:bodyPr wrap="square" lIns="0" tIns="0" rIns="0" bIns="0" rtlCol="0" anchor="ctr"/>
          <a:lstStyle/>
          <a:p>
            <a:r>
              <a:rPr lang="en-US" sz="2000" b="1" dirty="0">
                <a:solidFill>
                  <a:srgbClr val="0D2B4E"/>
                </a:solidFill>
                <a:latin typeface="Calibri" pitchFamily="34" charset="0"/>
                <a:ea typeface="Calibri" pitchFamily="34" charset="-122"/>
                <a:cs typeface="Calibri" pitchFamily="34" charset="-120"/>
              </a:rPr>
              <a:t>Results &amp; Performance</a:t>
            </a:r>
            <a:endParaRPr lang="en-US" sz="2000" dirty="0"/>
          </a:p>
        </p:txBody>
      </p:sp>
      <p:sp>
        <p:nvSpPr>
          <p:cNvPr id="52" name="Shape 50"/>
          <p:cNvSpPr/>
          <p:nvPr/>
        </p:nvSpPr>
        <p:spPr>
          <a:xfrm>
            <a:off x="4800600" y="4023360"/>
            <a:ext cx="4206240" cy="658368"/>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53" name="Shape 51"/>
          <p:cNvSpPr/>
          <p:nvPr/>
        </p:nvSpPr>
        <p:spPr>
          <a:xfrm>
            <a:off x="4800600" y="4023360"/>
            <a:ext cx="457200" cy="658368"/>
          </a:xfrm>
          <a:prstGeom prst="rect">
            <a:avLst/>
          </a:prstGeom>
          <a:solidFill>
            <a:srgbClr val="0D2B4E"/>
          </a:solidFill>
          <a:ln w="12700">
            <a:solidFill>
              <a:srgbClr val="0D2B4E"/>
            </a:solidFill>
            <a:prstDash val="solid"/>
          </a:ln>
        </p:spPr>
      </p:sp>
      <p:sp>
        <p:nvSpPr>
          <p:cNvPr id="54" name="Text 52"/>
          <p:cNvSpPr/>
          <p:nvPr/>
        </p:nvSpPr>
        <p:spPr>
          <a:xfrm>
            <a:off x="4800600" y="4023360"/>
            <a:ext cx="457200" cy="658368"/>
          </a:xfrm>
          <a:prstGeom prst="rect">
            <a:avLst/>
          </a:prstGeom>
          <a:noFill/>
          <a:ln/>
        </p:spPr>
        <p:txBody>
          <a:bodyPr wrap="square" lIns="0" tIns="0" rIns="0" bIns="0" rtlCol="0" anchor="ctr"/>
          <a:lstStyle/>
          <a:p>
            <a:pPr marL="0" indent="0" algn="ctr">
              <a:buNone/>
            </a:pPr>
            <a:r>
              <a:rPr lang="en-US" sz="1400" b="1" dirty="0">
                <a:solidFill>
                  <a:srgbClr val="00B4A0"/>
                </a:solidFill>
                <a:latin typeface="Calibri" pitchFamily="34" charset="0"/>
                <a:ea typeface="Calibri" pitchFamily="34" charset="-122"/>
                <a:cs typeface="Calibri" pitchFamily="34" charset="-120"/>
              </a:rPr>
              <a:t>10</a:t>
            </a:r>
            <a:endParaRPr lang="en-US" sz="1400" dirty="0"/>
          </a:p>
        </p:txBody>
      </p:sp>
      <p:sp>
        <p:nvSpPr>
          <p:cNvPr id="55" name="Text 53"/>
          <p:cNvSpPr/>
          <p:nvPr/>
        </p:nvSpPr>
        <p:spPr>
          <a:xfrm>
            <a:off x="5349240" y="4215384"/>
            <a:ext cx="3566160" cy="274320"/>
          </a:xfrm>
          <a:prstGeom prst="rect">
            <a:avLst/>
          </a:prstGeom>
          <a:noFill/>
          <a:ln/>
        </p:spPr>
        <p:txBody>
          <a:bodyPr wrap="square" lIns="0" tIns="0" rIns="0" bIns="0" rtlCol="0" anchor="ctr"/>
          <a:lstStyle/>
          <a:p>
            <a:pPr marL="0" indent="0">
              <a:buNone/>
            </a:pPr>
            <a:r>
              <a:rPr lang="en-US" sz="2000" b="1" dirty="0">
                <a:solidFill>
                  <a:srgbClr val="0D2B4E"/>
                </a:solidFill>
                <a:latin typeface="Calibri" pitchFamily="34" charset="0"/>
                <a:ea typeface="Calibri" pitchFamily="34" charset="-122"/>
                <a:cs typeface="Calibri" pitchFamily="34" charset="-120"/>
              </a:rPr>
              <a:t>Conclusion &amp; Future Scope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0" y="1"/>
            <a:ext cx="3579019" cy="413297"/>
          </a:xfrm>
          <a:prstGeom prst="rect">
            <a:avLst/>
          </a:prstGeom>
          <a:noFill/>
          <a:ln>
            <a:noFill/>
          </a:ln>
        </p:spPr>
        <p:txBody>
          <a:bodyPr spcFirstLastPara="1" wrap="square" lIns="68569" tIns="34275" rIns="68569" bIns="34275" anchor="b" anchorCtr="0">
            <a:normAutofit/>
          </a:bodyPr>
          <a:lstStyle/>
          <a:p>
            <a:pPr algn="l">
              <a:lnSpc>
                <a:spcPct val="90000"/>
              </a:lnSpc>
              <a:spcBef>
                <a:spcPts val="0"/>
              </a:spcBef>
              <a:buClr>
                <a:schemeClr val="accent1"/>
              </a:buClr>
              <a:buSzPts val="3200"/>
            </a:pPr>
            <a:r>
              <a:rPr lang="en-IN" b="1" dirty="0">
                <a:solidFill>
                  <a:schemeClr val="accent1"/>
                </a:solidFill>
              </a:rPr>
              <a:t>Motivation &amp; Introduction:</a:t>
            </a:r>
            <a:endParaRPr dirty="0"/>
          </a:p>
        </p:txBody>
      </p:sp>
      <p:sp>
        <p:nvSpPr>
          <p:cNvPr id="118" name="Google Shape;118;p3"/>
          <p:cNvSpPr txBox="1">
            <a:spLocks noGrp="1"/>
          </p:cNvSpPr>
          <p:nvPr>
            <p:ph type="ftr" idx="11"/>
          </p:nvPr>
        </p:nvSpPr>
        <p:spPr>
          <a:xfrm>
            <a:off x="3028950" y="4767263"/>
            <a:ext cx="3086100" cy="273844"/>
          </a:xfrm>
          <a:prstGeom prst="rect">
            <a:avLst/>
          </a:prstGeom>
          <a:noFill/>
          <a:ln>
            <a:noFill/>
          </a:ln>
        </p:spPr>
        <p:txBody>
          <a:bodyPr spcFirstLastPara="1" wrap="square" lIns="68569" tIns="34275" rIns="68569" bIns="34275" anchor="ctr" anchorCtr="0">
            <a:noAutofit/>
          </a:bodyPr>
          <a:lstStyle/>
          <a:p>
            <a:pPr algn="ctr"/>
            <a:r>
              <a:rPr lang="en-IN" sz="800" dirty="0"/>
              <a:t>Project Work Foundation (ECP4.1.9)</a:t>
            </a:r>
            <a:endParaRPr sz="800" dirty="0"/>
          </a:p>
        </p:txBody>
      </p:sp>
      <p:sp>
        <p:nvSpPr>
          <p:cNvPr id="7" name="TextBox 6">
            <a:extLst>
              <a:ext uri="{FF2B5EF4-FFF2-40B4-BE49-F238E27FC236}">
                <a16:creationId xmlns:a16="http://schemas.microsoft.com/office/drawing/2014/main" id="{CCCA3D19-AB00-43EC-8488-A0440C13E31E}"/>
              </a:ext>
            </a:extLst>
          </p:cNvPr>
          <p:cNvSpPr txBox="1"/>
          <p:nvPr/>
        </p:nvSpPr>
        <p:spPr>
          <a:xfrm>
            <a:off x="3884755" y="3620097"/>
            <a:ext cx="5366657" cy="715581"/>
          </a:xfrm>
          <a:prstGeom prst="rect">
            <a:avLst/>
          </a:prstGeom>
          <a:noFill/>
        </p:spPr>
        <p:txBody>
          <a:bodyPr wrap="square" rtlCol="0">
            <a:spAutoFit/>
          </a:bodyPr>
          <a:lstStyle/>
          <a:p>
            <a:pPr marL="214313" indent="-214313">
              <a:buFont typeface="Arial" panose="020B0604020202020204" pitchFamily="34" charset="0"/>
              <a:buChar char="•"/>
            </a:pPr>
            <a:r>
              <a:rPr lang="en-US" sz="1350" dirty="0"/>
              <a:t>Photoelectric plethysmography commonly known as plethysmography PPG is an optical technique for measuring blood volumes changes in peripheral body parts like fingertips, earlobes and forehead </a:t>
            </a:r>
            <a:endParaRPr lang="en-IN" sz="1350" dirty="0"/>
          </a:p>
        </p:txBody>
      </p:sp>
      <p:sp>
        <p:nvSpPr>
          <p:cNvPr id="8" name="TextBox 7">
            <a:extLst>
              <a:ext uri="{FF2B5EF4-FFF2-40B4-BE49-F238E27FC236}">
                <a16:creationId xmlns:a16="http://schemas.microsoft.com/office/drawing/2014/main" id="{C3CD8407-4FB0-45AD-B378-61ACB358310C}"/>
              </a:ext>
            </a:extLst>
          </p:cNvPr>
          <p:cNvSpPr txBox="1"/>
          <p:nvPr/>
        </p:nvSpPr>
        <p:spPr>
          <a:xfrm>
            <a:off x="3836961" y="4357181"/>
            <a:ext cx="5414451" cy="507831"/>
          </a:xfrm>
          <a:prstGeom prst="rect">
            <a:avLst/>
          </a:prstGeom>
          <a:noFill/>
        </p:spPr>
        <p:txBody>
          <a:bodyPr wrap="square" rtlCol="0">
            <a:spAutoFit/>
          </a:bodyPr>
          <a:lstStyle/>
          <a:p>
            <a:pPr marL="214313" indent="-214313">
              <a:buFont typeface="Arial" panose="020B0604020202020204" pitchFamily="34" charset="0"/>
              <a:buChar char="•"/>
            </a:pPr>
            <a:r>
              <a:rPr lang="en-US" sz="1350" dirty="0"/>
              <a:t>Use of PPG signal: Blood pressure estimation, blood oxygen saturation, respiration function, heart rate and many more</a:t>
            </a:r>
            <a:endParaRPr lang="en-IN" sz="1350" dirty="0"/>
          </a:p>
        </p:txBody>
      </p:sp>
      <p:pic>
        <p:nvPicPr>
          <p:cNvPr id="9" name="Picture 8">
            <a:extLst>
              <a:ext uri="{FF2B5EF4-FFF2-40B4-BE49-F238E27FC236}">
                <a16:creationId xmlns:a16="http://schemas.microsoft.com/office/drawing/2014/main" id="{8ADBF734-1172-45EE-A75E-3E909C1135B9}"/>
              </a:ext>
            </a:extLst>
          </p:cNvPr>
          <p:cNvPicPr>
            <a:picLocks noChangeAspect="1"/>
          </p:cNvPicPr>
          <p:nvPr/>
        </p:nvPicPr>
        <p:blipFill rotWithShape="1">
          <a:blip r:embed="rId3"/>
          <a:srcRect l="28627" t="26409" r="28188" b="6527"/>
          <a:stretch/>
        </p:blipFill>
        <p:spPr>
          <a:xfrm>
            <a:off x="61646" y="3394145"/>
            <a:ext cx="3823110" cy="1646961"/>
          </a:xfrm>
          <a:prstGeom prst="rect">
            <a:avLst/>
          </a:prstGeom>
        </p:spPr>
      </p:pic>
      <p:graphicFrame>
        <p:nvGraphicFramePr>
          <p:cNvPr id="2" name="Diagram 1">
            <a:extLst>
              <a:ext uri="{FF2B5EF4-FFF2-40B4-BE49-F238E27FC236}">
                <a16:creationId xmlns:a16="http://schemas.microsoft.com/office/drawing/2014/main" id="{6A7DAA47-CC2E-45DD-9B29-DD35592AC66B}"/>
              </a:ext>
            </a:extLst>
          </p:cNvPr>
          <p:cNvGraphicFramePr/>
          <p:nvPr>
            <p:extLst>
              <p:ext uri="{D42A27DB-BD31-4B8C-83A1-F6EECF244321}">
                <p14:modId xmlns:p14="http://schemas.microsoft.com/office/powerpoint/2010/main" val="2487889248"/>
              </p:ext>
            </p:extLst>
          </p:nvPr>
        </p:nvGraphicFramePr>
        <p:xfrm>
          <a:off x="0" y="360554"/>
          <a:ext cx="6657975" cy="292647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1" name="Group 10">
            <a:extLst>
              <a:ext uri="{FF2B5EF4-FFF2-40B4-BE49-F238E27FC236}">
                <a16:creationId xmlns:a16="http://schemas.microsoft.com/office/drawing/2014/main" id="{CAD6541D-8547-4898-92F3-B4A0DB362F93}"/>
              </a:ext>
            </a:extLst>
          </p:cNvPr>
          <p:cNvGrpSpPr/>
          <p:nvPr/>
        </p:nvGrpSpPr>
        <p:grpSpPr>
          <a:xfrm>
            <a:off x="6779418" y="433848"/>
            <a:ext cx="2143125" cy="2595023"/>
            <a:chOff x="9334499" y="289003"/>
            <a:chExt cx="2857500" cy="3155613"/>
          </a:xfrm>
        </p:grpSpPr>
        <p:sp>
          <p:nvSpPr>
            <p:cNvPr id="3" name="Rectangle 2">
              <a:extLst>
                <a:ext uri="{FF2B5EF4-FFF2-40B4-BE49-F238E27FC236}">
                  <a16:creationId xmlns:a16="http://schemas.microsoft.com/office/drawing/2014/main" id="{A4AB1808-BA7F-46DE-A1D7-286A9C7E7BAC}"/>
                </a:ext>
              </a:extLst>
            </p:cNvPr>
            <p:cNvSpPr/>
            <p:nvPr/>
          </p:nvSpPr>
          <p:spPr>
            <a:xfrm>
              <a:off x="9334500" y="345932"/>
              <a:ext cx="2857499" cy="309868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4" name="TextBox 3">
              <a:extLst>
                <a:ext uri="{FF2B5EF4-FFF2-40B4-BE49-F238E27FC236}">
                  <a16:creationId xmlns:a16="http://schemas.microsoft.com/office/drawing/2014/main" id="{CDE30774-8DF9-4034-B175-1ED57CDC18E3}"/>
                </a:ext>
              </a:extLst>
            </p:cNvPr>
            <p:cNvSpPr txBox="1"/>
            <p:nvPr/>
          </p:nvSpPr>
          <p:spPr>
            <a:xfrm>
              <a:off x="9334500" y="289003"/>
              <a:ext cx="2543175" cy="505256"/>
            </a:xfrm>
            <a:prstGeom prst="rect">
              <a:avLst/>
            </a:prstGeom>
            <a:noFill/>
          </p:spPr>
          <p:txBody>
            <a:bodyPr wrap="square" rtlCol="0">
              <a:spAutoFit/>
            </a:bodyPr>
            <a:lstStyle/>
            <a:p>
              <a:r>
                <a:rPr lang="en-US" sz="2100" dirty="0"/>
                <a:t>SOLUTION:</a:t>
              </a:r>
              <a:endParaRPr lang="en-IN" sz="2100" dirty="0"/>
            </a:p>
          </p:txBody>
        </p:sp>
        <p:sp>
          <p:nvSpPr>
            <p:cNvPr id="5" name="TextBox 4">
              <a:extLst>
                <a:ext uri="{FF2B5EF4-FFF2-40B4-BE49-F238E27FC236}">
                  <a16:creationId xmlns:a16="http://schemas.microsoft.com/office/drawing/2014/main" id="{932C0AD6-85BD-42BE-B43A-938A504EA5D7}"/>
                </a:ext>
              </a:extLst>
            </p:cNvPr>
            <p:cNvSpPr txBox="1"/>
            <p:nvPr/>
          </p:nvSpPr>
          <p:spPr>
            <a:xfrm>
              <a:off x="9334499" y="703603"/>
              <a:ext cx="2857499" cy="2638562"/>
            </a:xfrm>
            <a:prstGeom prst="rect">
              <a:avLst/>
            </a:prstGeom>
            <a:noFill/>
          </p:spPr>
          <p:txBody>
            <a:bodyPr wrap="square" rtlCol="0">
              <a:spAutoFit/>
            </a:bodyPr>
            <a:lstStyle/>
            <a:p>
              <a:r>
                <a:rPr lang="en-US" sz="1500"/>
                <a:t>Portable, low-cost</a:t>
              </a:r>
              <a:r>
                <a:rPr lang="en-US" sz="1500" dirty="0"/>
                <a:t>, non-invasive, continuous, beat-to-beat blood pressure estimation system that can support early detection of cardiovascular risks and improve long-term health monitoring.</a:t>
              </a:r>
              <a:endParaRPr lang="en-IN" sz="1500" dirty="0"/>
            </a:p>
          </p:txBody>
        </p:sp>
      </p:grpSp>
    </p:spTree>
    <p:extLst>
      <p:ext uri="{BB962C8B-B14F-4D97-AF65-F5344CB8AC3E}">
        <p14:creationId xmlns:p14="http://schemas.microsoft.com/office/powerpoint/2010/main" val="378096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4"/>
          <p:cNvSpPr txBox="1">
            <a:spLocks noGrp="1"/>
          </p:cNvSpPr>
          <p:nvPr>
            <p:ph type="title"/>
          </p:nvPr>
        </p:nvSpPr>
        <p:spPr>
          <a:xfrm>
            <a:off x="-9" y="-4302"/>
            <a:ext cx="9143999" cy="576371"/>
          </a:xfrm>
          <a:prstGeom prst="rect">
            <a:avLst/>
          </a:prstGeom>
          <a:noFill/>
          <a:ln>
            <a:noFill/>
          </a:ln>
        </p:spPr>
        <p:txBody>
          <a:bodyPr spcFirstLastPara="1" wrap="square" lIns="68569" tIns="34275" rIns="68569" bIns="34275" anchor="ctr" anchorCtr="0">
            <a:normAutofit fontScale="90000"/>
          </a:bodyPr>
          <a:lstStyle/>
          <a:p>
            <a:pPr algn="l">
              <a:lnSpc>
                <a:spcPct val="90000"/>
              </a:lnSpc>
              <a:spcBef>
                <a:spcPts val="0"/>
              </a:spcBef>
              <a:buClr>
                <a:srgbClr val="0070C0"/>
              </a:buClr>
              <a:buSzPct val="100000"/>
            </a:pPr>
            <a:r>
              <a:rPr lang="en-IN" b="1" dirty="0">
                <a:solidFill>
                  <a:srgbClr val="0070C0"/>
                </a:solidFill>
              </a:rPr>
              <a:t>Literature review:</a:t>
            </a:r>
            <a:br>
              <a:rPr lang="en-IN" b="1" dirty="0">
                <a:solidFill>
                  <a:srgbClr val="0070C0"/>
                </a:solidFill>
              </a:rPr>
            </a:br>
            <a:r>
              <a:rPr lang="en-IN" sz="1800" b="1" dirty="0">
                <a:latin typeface="Calibri"/>
                <a:ea typeface="Calibri"/>
                <a:cs typeface="Calibri"/>
                <a:sym typeface="Calibri"/>
              </a:rPr>
              <a:t>Table : </a:t>
            </a:r>
            <a:r>
              <a:rPr lang="en-IN" sz="1800" i="1" dirty="0"/>
              <a:t>Some selected previous research papers on blood pressure measurement:</a:t>
            </a:r>
            <a:endParaRPr i="1" dirty="0"/>
          </a:p>
        </p:txBody>
      </p:sp>
      <p:sp>
        <p:nvSpPr>
          <p:cNvPr id="134" name="Google Shape;134;p4"/>
          <p:cNvSpPr txBox="1">
            <a:spLocks noGrp="1"/>
          </p:cNvSpPr>
          <p:nvPr>
            <p:ph type="ftr" idx="11"/>
          </p:nvPr>
        </p:nvSpPr>
        <p:spPr>
          <a:xfrm>
            <a:off x="3028950" y="4767263"/>
            <a:ext cx="3086100" cy="273844"/>
          </a:xfrm>
          <a:prstGeom prst="rect">
            <a:avLst/>
          </a:prstGeom>
          <a:noFill/>
          <a:ln>
            <a:noFill/>
          </a:ln>
        </p:spPr>
        <p:txBody>
          <a:bodyPr spcFirstLastPara="1" wrap="square" lIns="68569" tIns="34275" rIns="68569" bIns="34275" anchor="ctr" anchorCtr="0">
            <a:noAutofit/>
          </a:bodyPr>
          <a:lstStyle/>
          <a:p>
            <a:pPr algn="ctr"/>
            <a:r>
              <a:rPr lang="en-IN" sz="800" dirty="0"/>
              <a:t>Project Work Foundation (ECP4.1.9)</a:t>
            </a:r>
            <a:endParaRPr sz="800" dirty="0"/>
          </a:p>
        </p:txBody>
      </p:sp>
      <p:sp>
        <p:nvSpPr>
          <p:cNvPr id="135" name="Google Shape;135;p4"/>
          <p:cNvSpPr txBox="1">
            <a:spLocks noGrp="1"/>
          </p:cNvSpPr>
          <p:nvPr>
            <p:ph type="sldNum" idx="12"/>
          </p:nvPr>
        </p:nvSpPr>
        <p:spPr>
          <a:xfrm>
            <a:off x="6457950" y="4767263"/>
            <a:ext cx="2057400" cy="273844"/>
          </a:xfrm>
          <a:prstGeom prst="rect">
            <a:avLst/>
          </a:prstGeom>
          <a:noFill/>
          <a:ln>
            <a:noFill/>
          </a:ln>
        </p:spPr>
        <p:txBody>
          <a:bodyPr spcFirstLastPara="1" wrap="square" lIns="68569" tIns="34275" rIns="68569" bIns="34275" anchor="ctr" anchorCtr="0">
            <a:noAutofit/>
          </a:bodyPr>
          <a:lstStyle/>
          <a:p>
            <a:pPr algn="r"/>
            <a:fld id="{00000000-1234-1234-1234-123412341234}" type="slidenum">
              <a:rPr lang="en-IN"/>
              <a:pPr algn="r"/>
              <a:t>4</a:t>
            </a:fld>
            <a:endParaRPr/>
          </a:p>
        </p:txBody>
      </p:sp>
      <p:sp>
        <p:nvSpPr>
          <p:cNvPr id="2" name="Rectangle 1">
            <a:extLst>
              <a:ext uri="{FF2B5EF4-FFF2-40B4-BE49-F238E27FC236}">
                <a16:creationId xmlns:a16="http://schemas.microsoft.com/office/drawing/2014/main" id="{8FF76B0E-2500-4231-9752-A1FF0DB89953}"/>
              </a:ext>
            </a:extLst>
          </p:cNvPr>
          <p:cNvSpPr/>
          <p:nvPr/>
        </p:nvSpPr>
        <p:spPr>
          <a:xfrm>
            <a:off x="3772654" y="10170"/>
            <a:ext cx="3581814" cy="300082"/>
          </a:xfrm>
          <a:prstGeom prst="rect">
            <a:avLst/>
          </a:prstGeom>
        </p:spPr>
        <p:txBody>
          <a:bodyPr wrap="none">
            <a:spAutoFit/>
          </a:bodyPr>
          <a:lstStyle/>
          <a:p>
            <a:r>
              <a:rPr lang="en-IN" sz="1350" baseline="30000" dirty="0"/>
              <a:t>1</a:t>
            </a:r>
            <a:r>
              <a:rPr lang="en-IN" sz="1350" dirty="0"/>
              <a:t>All performance values are measured in mmHg.</a:t>
            </a:r>
          </a:p>
        </p:txBody>
      </p:sp>
      <p:graphicFrame>
        <p:nvGraphicFramePr>
          <p:cNvPr id="8" name="Table 0">
            <a:extLst>
              <a:ext uri="{FF2B5EF4-FFF2-40B4-BE49-F238E27FC236}">
                <a16:creationId xmlns:a16="http://schemas.microsoft.com/office/drawing/2014/main" id="{1F73AD97-BF97-4060-96D3-0F4D0BB4C2C3}"/>
              </a:ext>
            </a:extLst>
          </p:cNvPr>
          <p:cNvGraphicFramePr>
            <a:graphicFrameLocks noGrp="1"/>
          </p:cNvGraphicFramePr>
          <p:nvPr>
            <p:extLst>
              <p:ext uri="{D42A27DB-BD31-4B8C-83A1-F6EECF244321}">
                <p14:modId xmlns:p14="http://schemas.microsoft.com/office/powerpoint/2010/main" val="2122561665"/>
              </p:ext>
            </p:extLst>
          </p:nvPr>
        </p:nvGraphicFramePr>
        <p:xfrm>
          <a:off x="-9" y="669510"/>
          <a:ext cx="9151504" cy="4473989"/>
        </p:xfrm>
        <a:graphic>
          <a:graphicData uri="http://schemas.openxmlformats.org/drawingml/2006/table">
            <a:tbl>
              <a:tblPr/>
              <a:tblGrid>
                <a:gridCol w="1503132">
                  <a:extLst>
                    <a:ext uri="{9D8B030D-6E8A-4147-A177-3AD203B41FA5}">
                      <a16:colId xmlns:a16="http://schemas.microsoft.com/office/drawing/2014/main" val="20000"/>
                    </a:ext>
                  </a:extLst>
                </a:gridCol>
                <a:gridCol w="2229633">
                  <a:extLst>
                    <a:ext uri="{9D8B030D-6E8A-4147-A177-3AD203B41FA5}">
                      <a16:colId xmlns:a16="http://schemas.microsoft.com/office/drawing/2014/main" val="20001"/>
                    </a:ext>
                  </a:extLst>
                </a:gridCol>
                <a:gridCol w="2066795">
                  <a:extLst>
                    <a:ext uri="{9D8B030D-6E8A-4147-A177-3AD203B41FA5}">
                      <a16:colId xmlns:a16="http://schemas.microsoft.com/office/drawing/2014/main" val="20002"/>
                    </a:ext>
                  </a:extLst>
                </a:gridCol>
                <a:gridCol w="1643065">
                  <a:extLst>
                    <a:ext uri="{9D8B030D-6E8A-4147-A177-3AD203B41FA5}">
                      <a16:colId xmlns:a16="http://schemas.microsoft.com/office/drawing/2014/main" val="20003"/>
                    </a:ext>
                  </a:extLst>
                </a:gridCol>
                <a:gridCol w="831954">
                  <a:extLst>
                    <a:ext uri="{9D8B030D-6E8A-4147-A177-3AD203B41FA5}">
                      <a16:colId xmlns:a16="http://schemas.microsoft.com/office/drawing/2014/main" val="20004"/>
                    </a:ext>
                  </a:extLst>
                </a:gridCol>
                <a:gridCol w="876925">
                  <a:extLst>
                    <a:ext uri="{9D8B030D-6E8A-4147-A177-3AD203B41FA5}">
                      <a16:colId xmlns:a16="http://schemas.microsoft.com/office/drawing/2014/main" val="20005"/>
                    </a:ext>
                  </a:extLst>
                </a:gridCol>
              </a:tblGrid>
              <a:tr h="421081">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Title (Year)</a:t>
                      </a:r>
                      <a:endParaRPr lang="en-US" sz="900" b="1" dirty="0">
                        <a:solidFill>
                          <a:schemeClr val="tx1"/>
                        </a:solidFill>
                        <a:latin typeface="Calibri" charset="0"/>
                        <a:ea typeface="Calibri" charset="0"/>
                        <a:cs typeface="Calibri" charset="0"/>
                      </a:endParaRPr>
                    </a:p>
                  </a:txBody>
                  <a:tcPr anchor="ct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Dataset Used</a:t>
                      </a:r>
                      <a:endParaRPr lang="en-US" sz="900" b="1" dirty="0">
                        <a:solidFill>
                          <a:schemeClr val="tx1"/>
                        </a:solidFill>
                        <a:latin typeface="Calibri" charset="0"/>
                        <a:ea typeface="Calibri" charset="0"/>
                        <a:cs typeface="Calibri" charset="0"/>
                      </a:endParaRPr>
                    </a:p>
                  </a:txBody>
                  <a:tcPr anchor="ct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Feature Extraction and Selection</a:t>
                      </a:r>
                      <a:endParaRPr lang="en-US" sz="900" b="1" dirty="0">
                        <a:solidFill>
                          <a:schemeClr val="tx1"/>
                        </a:solidFill>
                        <a:latin typeface="Calibri" charset="0"/>
                        <a:ea typeface="Calibri" charset="0"/>
                        <a:cs typeface="Calibri" charset="0"/>
                      </a:endParaRPr>
                    </a:p>
                  </a:txBody>
                  <a:tcPr anchor="ct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ML Tools</a:t>
                      </a:r>
                      <a:endParaRPr lang="en-US" sz="900" b="1" dirty="0">
                        <a:solidFill>
                          <a:schemeClr val="tx1"/>
                        </a:solidFill>
                        <a:latin typeface="Calibri" charset="0"/>
                        <a:ea typeface="Calibri" charset="0"/>
                        <a:cs typeface="Calibri" charset="0"/>
                      </a:endParaRPr>
                    </a:p>
                  </a:txBody>
                  <a:tcPr anchor="ct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Performance</a:t>
                      </a:r>
                      <a:endParaRPr lang="en-US" sz="900" b="1" dirty="0">
                        <a:solidFill>
                          <a:schemeClr val="tx1"/>
                        </a:solidFill>
                        <a:latin typeface="Calibri" charset="0"/>
                        <a:ea typeface="Calibri" charset="0"/>
                        <a:cs typeface="Calibri" charset="0"/>
                      </a:endParaRPr>
                    </a:p>
                    <a:p>
                      <a:pPr marL="0" indent="0" algn="ctr">
                        <a:buNone/>
                      </a:pPr>
                      <a:r>
                        <a:rPr lang="en-US" sz="900" b="1" dirty="0">
                          <a:solidFill>
                            <a:schemeClr val="tx1"/>
                          </a:solidFill>
                          <a:latin typeface="Calibri" pitchFamily="34" charset="0"/>
                          <a:ea typeface="Calibri" pitchFamily="34" charset="-122"/>
                          <a:cs typeface="Calibri" pitchFamily="34" charset="-120"/>
                        </a:rPr>
                        <a:t>SBP</a:t>
                      </a:r>
                      <a:endParaRPr lang="en-US" sz="900" b="1" dirty="0">
                        <a:solidFill>
                          <a:schemeClr val="tx1"/>
                        </a:solidFill>
                        <a:latin typeface="Calibri" charset="0"/>
                        <a:ea typeface="Calibri" charset="0"/>
                        <a:cs typeface="Calibri" charset="0"/>
                      </a:endParaRPr>
                    </a:p>
                  </a:txBody>
                  <a:tcPr anchor="ct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Performance</a:t>
                      </a:r>
                      <a:endParaRPr lang="en-US" sz="900" b="1" dirty="0">
                        <a:solidFill>
                          <a:schemeClr val="tx1"/>
                        </a:solidFill>
                        <a:latin typeface="Calibri" charset="0"/>
                        <a:ea typeface="Calibri" charset="0"/>
                        <a:cs typeface="Calibri" charset="0"/>
                      </a:endParaRPr>
                    </a:p>
                    <a:p>
                      <a:pPr marL="0" indent="0" algn="ctr">
                        <a:buNone/>
                      </a:pPr>
                      <a:r>
                        <a:rPr lang="en-US" sz="900" b="1" dirty="0">
                          <a:solidFill>
                            <a:schemeClr val="tx1"/>
                          </a:solidFill>
                          <a:latin typeface="Calibri" pitchFamily="34" charset="0"/>
                          <a:ea typeface="Calibri" pitchFamily="34" charset="-122"/>
                          <a:cs typeface="Calibri" pitchFamily="34" charset="-120"/>
                        </a:rPr>
                        <a:t>DBP</a:t>
                      </a:r>
                      <a:endParaRPr lang="en-US" sz="900" b="1" dirty="0">
                        <a:solidFill>
                          <a:schemeClr val="tx1"/>
                        </a:solidFill>
                        <a:latin typeface="Calibri" charset="0"/>
                        <a:ea typeface="Calibri" charset="0"/>
                        <a:cs typeface="Calibri" charset="0"/>
                      </a:endParaRPr>
                    </a:p>
                  </a:txBody>
                  <a:tcPr anchor="ct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368514">
                <a:tc>
                  <a:txBody>
                    <a:bodyPr/>
                    <a:lstStyle/>
                    <a:p>
                      <a:pPr marL="0" indent="0">
                        <a:buNone/>
                      </a:pPr>
                      <a:r>
                        <a:rPr lang="en-US" sz="900" b="0" dirty="0">
                          <a:solidFill>
                            <a:srgbClr val="0D2137"/>
                          </a:solidFill>
                          <a:latin typeface="Calibri" pitchFamily="34" charset="0"/>
                          <a:ea typeface="Calibri" pitchFamily="34" charset="-122"/>
                          <a:cs typeface="Calibri" pitchFamily="34" charset="-120"/>
                        </a:rPr>
                        <a:t>Machine-Learning Models For Predicting Blood Pressure And Cardiac Function Using Wearable Sensor Data (2025)</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Cross-sectional dataset (N=180, completeness=0.86); mean SBP=128.4 mmHg, DBP=79.6 mmHg, RMSSD=32.5 ms.</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Window-based timing and morphology features (PAT, PPG upstroke time, pulse width, activity intensity) and HRV (RMSSD) derived from PPG morphology. Feature selection based on physiological plausibility, correlation, and regression significance; SHAP ranks features in XGBoost.</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Multiple Linear Regression, Random Forest, and XGBoost for SBP, DBP, and RMSSD using subject-wise 5-fold cross-validation with a Python ML pipeline for training and hyperparameter tuning.</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0" dirty="0">
                          <a:solidFill>
                            <a:srgbClr val="1A1A1A"/>
                          </a:solidFill>
                          <a:latin typeface="Calibri" pitchFamily="34" charset="0"/>
                          <a:ea typeface="Calibri" pitchFamily="34" charset="-122"/>
                          <a:cs typeface="Calibri" pitchFamily="34" charset="-120"/>
                        </a:rPr>
                        <a:t>MAE=5.0</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RMSE=7.3</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R²=0.70</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0" dirty="0">
                          <a:solidFill>
                            <a:srgbClr val="1A1A1A"/>
                          </a:solidFill>
                          <a:latin typeface="Calibri" pitchFamily="34" charset="0"/>
                          <a:ea typeface="Calibri" pitchFamily="34" charset="-122"/>
                          <a:cs typeface="Calibri" pitchFamily="34" charset="-120"/>
                        </a:rPr>
                        <a:t>MAE=3.7</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RMSE=5.3</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R²=0.57</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94798">
                <a:tc>
                  <a:txBody>
                    <a:bodyPr/>
                    <a:lstStyle/>
                    <a:p>
                      <a:pPr marL="0" indent="0">
                        <a:buNone/>
                      </a:pPr>
                      <a:r>
                        <a:rPr lang="en-US" sz="900" b="0" dirty="0">
                          <a:solidFill>
                            <a:srgbClr val="0D2137"/>
                          </a:solidFill>
                          <a:latin typeface="Calibri" pitchFamily="34" charset="0"/>
                          <a:ea typeface="Calibri" pitchFamily="34" charset="-122"/>
                          <a:cs typeface="Calibri" pitchFamily="34" charset="-120"/>
                        </a:rPr>
                        <a:t>Beat-to-Beat Oscillometric Blood Pressure Estimation: A Bayesian Approach With System Identification (2025)</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Real data: 135 OMWs from 9 adults (University of Ottawa dataset) with Omron cuff BP reference. Simulated data: 500 OMWs with varied cardio-respiratory parameters for evaluation.</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Model-based OMW/OMWE parameter estimation to derive SBP and DBP. All physiological parameters jointly estimated.</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Uses Newton–Raphson optimization, EKF, and PF for nonlinear state-space estimation; no machine learning models used.</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0" dirty="0">
                          <a:solidFill>
                            <a:srgbClr val="1A1A1A"/>
                          </a:solidFill>
                          <a:latin typeface="Calibri" pitchFamily="34" charset="0"/>
                          <a:ea typeface="Calibri" pitchFamily="34" charset="-122"/>
                          <a:cs typeface="Calibri" pitchFamily="34" charset="-120"/>
                        </a:rPr>
                        <a:t>ME=−1.26</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SD=5.95</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0" dirty="0">
                          <a:solidFill>
                            <a:srgbClr val="1A1A1A"/>
                          </a:solidFill>
                          <a:latin typeface="Calibri" pitchFamily="34" charset="0"/>
                          <a:ea typeface="Calibri" pitchFamily="34" charset="-122"/>
                          <a:cs typeface="Calibri" pitchFamily="34" charset="-120"/>
                        </a:rPr>
                        <a:t>ME=2.03</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SD=4.16</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94798">
                <a:tc>
                  <a:txBody>
                    <a:bodyPr/>
                    <a:lstStyle/>
                    <a:p>
                      <a:pPr marL="0" indent="0">
                        <a:buNone/>
                      </a:pPr>
                      <a:r>
                        <a:rPr lang="en-US" sz="900" b="0" dirty="0">
                          <a:solidFill>
                            <a:srgbClr val="0D2137"/>
                          </a:solidFill>
                          <a:latin typeface="Calibri" pitchFamily="34" charset="0"/>
                          <a:ea typeface="Calibri" pitchFamily="34" charset="-122"/>
                          <a:cs typeface="Calibri" pitchFamily="34" charset="-120"/>
                        </a:rPr>
                        <a:t>End-To-End Deep Learning Architecture for Continuous Blood Pressure Estimation Using Attention Mechanism (2020)</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Proprietary—15 healthy adults, 30 min recordings (Finometer Pro &amp; BIOPAC); MIMIC not used for training.</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CNN (10 conv layers) learns features from raw signals. Implicit via CNN + Bi-GRU + attention over time steps.</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VGG-like 1D CNN → Bi-GRU → self-attention → perceptron for SBP/DBP prediction.</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0" dirty="0">
                          <a:solidFill>
                            <a:srgbClr val="1A1A1A"/>
                          </a:solidFill>
                          <a:latin typeface="Calibri" pitchFamily="34" charset="0"/>
                          <a:ea typeface="Calibri" pitchFamily="34" charset="-122"/>
                          <a:cs typeface="Calibri" pitchFamily="34" charset="-120"/>
                        </a:rPr>
                        <a:t>MAE=4.06</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STD=4.04</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R²=0.52</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0" dirty="0">
                          <a:solidFill>
                            <a:srgbClr val="1A1A1A"/>
                          </a:solidFill>
                          <a:latin typeface="Calibri" pitchFamily="34" charset="0"/>
                          <a:ea typeface="Calibri" pitchFamily="34" charset="-122"/>
                          <a:cs typeface="Calibri" pitchFamily="34" charset="-120"/>
                        </a:rPr>
                        <a:t>MAE=3.33</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STD=3.42</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R²=0.49</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94798">
                <a:tc>
                  <a:txBody>
                    <a:bodyPr/>
                    <a:lstStyle/>
                    <a:p>
                      <a:pPr marL="0" indent="0">
                        <a:buNone/>
                      </a:pPr>
                      <a:r>
                        <a:rPr lang="en-US" sz="900" b="0" dirty="0">
                          <a:solidFill>
                            <a:srgbClr val="0D2137"/>
                          </a:solidFill>
                          <a:latin typeface="Calibri" pitchFamily="34" charset="0"/>
                          <a:ea typeface="Calibri" pitchFamily="34" charset="-122"/>
                          <a:cs typeface="Calibri" pitchFamily="34" charset="-120"/>
                        </a:rPr>
                        <a:t>Beat-to-Beat Continuous Blood Pressure Estimation Using Bidirectional Long Short-Term Memory Network (2020)</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Custom dataset; mean BP 111.2/67.7 mmHg.</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7 handcrafted features (4 intervals, 3 amplitudes). Signal combinations compared.</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buNone/>
                      </a:pPr>
                      <a:r>
                        <a:rPr lang="en-US" sz="900" b="0" dirty="0">
                          <a:solidFill>
                            <a:srgbClr val="1A1A1A"/>
                          </a:solidFill>
                          <a:latin typeface="Calibri" pitchFamily="34" charset="0"/>
                          <a:ea typeface="Calibri" pitchFamily="34" charset="-122"/>
                          <a:cs typeface="Calibri" pitchFamily="34" charset="-120"/>
                        </a:rPr>
                        <a:t>Bidirectional LSTM regression for continuous SBP/DBP.</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0" dirty="0">
                          <a:solidFill>
                            <a:srgbClr val="1A1A1A"/>
                          </a:solidFill>
                          <a:latin typeface="Calibri" pitchFamily="34" charset="0"/>
                          <a:ea typeface="Calibri" pitchFamily="34" charset="-122"/>
                          <a:cs typeface="Calibri" pitchFamily="34" charset="-120"/>
                        </a:rPr>
                        <a:t>MAE=5.82</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RMSE=6.82</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tc>
                  <a:txBody>
                    <a:bodyPr/>
                    <a:lstStyle/>
                    <a:p>
                      <a:pPr marL="0" indent="0" algn="ctr">
                        <a:buNone/>
                      </a:pPr>
                      <a:r>
                        <a:rPr lang="en-US" sz="900" b="0" dirty="0">
                          <a:solidFill>
                            <a:srgbClr val="1A1A1A"/>
                          </a:solidFill>
                          <a:latin typeface="Calibri" pitchFamily="34" charset="0"/>
                          <a:ea typeface="Calibri" pitchFamily="34" charset="-122"/>
                          <a:cs typeface="Calibri" pitchFamily="34" charset="-120"/>
                        </a:rPr>
                        <a:t>MAE=5.24</a:t>
                      </a:r>
                      <a:endParaRPr lang="en-US" sz="900" b="0" dirty="0">
                        <a:latin typeface="Calibri" charset="0"/>
                        <a:ea typeface="Calibri" charset="0"/>
                        <a:cs typeface="Calibri" charset="0"/>
                      </a:endParaRPr>
                    </a:p>
                    <a:p>
                      <a:pPr marL="0" indent="0" algn="ctr">
                        <a:buNone/>
                      </a:pPr>
                      <a:r>
                        <a:rPr lang="en-US" sz="900" b="0" dirty="0">
                          <a:solidFill>
                            <a:srgbClr val="1A1A1A"/>
                          </a:solidFill>
                          <a:latin typeface="Calibri" pitchFamily="34" charset="0"/>
                          <a:ea typeface="Calibri" pitchFamily="34" charset="-122"/>
                          <a:cs typeface="Calibri" pitchFamily="34" charset="-120"/>
                        </a:rPr>
                        <a:t>RMSE=6.06</a:t>
                      </a:r>
                      <a:endParaRPr lang="en-US" sz="900" b="0" dirty="0">
                        <a:latin typeface="Calibri" charset="0"/>
                        <a:ea typeface="Calibri" charset="0"/>
                        <a:cs typeface="Calibri" charset="0"/>
                      </a:endParaRPr>
                    </a:p>
                  </a:txBody>
                  <a:tcPr>
                    <a:lnL w="6350" cap="flat" cmpd="sng" algn="ctr">
                      <a:solidFill>
                        <a:srgbClr val="9EC4DC"/>
                      </a:solidFill>
                      <a:prstDash val="solid"/>
                      <a:round/>
                      <a:headEnd type="none" w="med" len="med"/>
                      <a:tailEnd type="none" w="med" len="med"/>
                    </a:lnL>
                    <a:lnR w="6350" cap="flat" cmpd="sng" algn="ctr">
                      <a:solidFill>
                        <a:srgbClr val="9EC4DC"/>
                      </a:solidFill>
                      <a:prstDash val="solid"/>
                      <a:round/>
                      <a:headEnd type="none" w="med" len="med"/>
                      <a:tailEnd type="none" w="med" len="med"/>
                    </a:lnR>
                    <a:lnT w="6350" cap="flat" cmpd="sng" algn="ctr">
                      <a:solidFill>
                        <a:srgbClr val="9EC4DC"/>
                      </a:solidFill>
                      <a:prstDash val="solid"/>
                      <a:round/>
                      <a:headEnd type="none" w="med" len="med"/>
                      <a:tailEnd type="none" w="med" len="med"/>
                    </a:lnT>
                    <a:lnB w="6350" cap="flat" cmpd="sng" algn="ctr">
                      <a:solidFill>
                        <a:srgbClr val="9EC4D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91105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76D479-3B72-4048-BB3E-6478DBAFE264}"/>
              </a:ext>
            </a:extLst>
          </p:cNvPr>
          <p:cNvSpPr/>
          <p:nvPr/>
        </p:nvSpPr>
        <p:spPr>
          <a:xfrm>
            <a:off x="0" y="0"/>
            <a:ext cx="1728678" cy="461665"/>
          </a:xfrm>
          <a:prstGeom prst="rect">
            <a:avLst/>
          </a:prstGeom>
        </p:spPr>
        <p:txBody>
          <a:bodyPr wrap="none">
            <a:spAutoFit/>
          </a:bodyPr>
          <a:lstStyle/>
          <a:p>
            <a:r>
              <a:rPr lang="en-IN" sz="2400" b="1" dirty="0">
                <a:solidFill>
                  <a:srgbClr val="0070C0"/>
                </a:solidFill>
              </a:rPr>
              <a:t>Continued…</a:t>
            </a:r>
            <a:endParaRPr lang="en-IN" sz="2400" dirty="0"/>
          </a:p>
        </p:txBody>
      </p:sp>
      <p:graphicFrame>
        <p:nvGraphicFramePr>
          <p:cNvPr id="8" name="Table 0">
            <a:extLst>
              <a:ext uri="{FF2B5EF4-FFF2-40B4-BE49-F238E27FC236}">
                <a16:creationId xmlns:a16="http://schemas.microsoft.com/office/drawing/2014/main" id="{6A259CF0-3F7D-42FE-A796-217DEDB76153}"/>
              </a:ext>
            </a:extLst>
          </p:cNvPr>
          <p:cNvGraphicFramePr>
            <a:graphicFrameLocks noGrp="1"/>
          </p:cNvGraphicFramePr>
          <p:nvPr>
            <p:extLst>
              <p:ext uri="{D42A27DB-BD31-4B8C-83A1-F6EECF244321}">
                <p14:modId xmlns:p14="http://schemas.microsoft.com/office/powerpoint/2010/main" val="299359644"/>
              </p:ext>
            </p:extLst>
          </p:nvPr>
        </p:nvGraphicFramePr>
        <p:xfrm>
          <a:off x="0" y="359420"/>
          <a:ext cx="9143998" cy="4937760"/>
        </p:xfrm>
        <a:graphic>
          <a:graphicData uri="http://schemas.openxmlformats.org/drawingml/2006/table">
            <a:tbl>
              <a:tblPr/>
              <a:tblGrid>
                <a:gridCol w="1617785">
                  <a:extLst>
                    <a:ext uri="{9D8B030D-6E8A-4147-A177-3AD203B41FA5}">
                      <a16:colId xmlns:a16="http://schemas.microsoft.com/office/drawing/2014/main" val="20000"/>
                    </a:ext>
                  </a:extLst>
                </a:gridCol>
                <a:gridCol w="1547446">
                  <a:extLst>
                    <a:ext uri="{9D8B030D-6E8A-4147-A177-3AD203B41FA5}">
                      <a16:colId xmlns:a16="http://schemas.microsoft.com/office/drawing/2014/main" val="20001"/>
                    </a:ext>
                  </a:extLst>
                </a:gridCol>
                <a:gridCol w="2110153">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019907">
                  <a:extLst>
                    <a:ext uri="{9D8B030D-6E8A-4147-A177-3AD203B41FA5}">
                      <a16:colId xmlns:a16="http://schemas.microsoft.com/office/drawing/2014/main" val="20004"/>
                    </a:ext>
                  </a:extLst>
                </a:gridCol>
                <a:gridCol w="1019907">
                  <a:extLst>
                    <a:ext uri="{9D8B030D-6E8A-4147-A177-3AD203B41FA5}">
                      <a16:colId xmlns:a16="http://schemas.microsoft.com/office/drawing/2014/main" val="20005"/>
                    </a:ext>
                  </a:extLst>
                </a:gridCol>
              </a:tblGrid>
              <a:tr h="229794">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Title (Year)</a:t>
                      </a:r>
                      <a:endParaRPr lang="en-US" sz="1100"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Dataset Used</a:t>
                      </a:r>
                      <a:endParaRPr lang="en-US" sz="1100"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Feature Extraction and Selection</a:t>
                      </a:r>
                      <a:endParaRPr lang="en-US" sz="1100"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ML Tools</a:t>
                      </a:r>
                      <a:endParaRPr lang="en-US" sz="1100"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grid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Performance²</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10000"/>
                  </a:ext>
                </a:extLst>
              </a:tr>
              <a:tr h="22979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SBP</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DBP</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371352">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A Wireless Noninvasive Blood Pressure Measurement System Using MAX30102 and RandomForest Regressor for Photoplethysmography Signals (2024)</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WiFi streaming to MySQL (13 samples), 114 BP measurements from 6 subjects with 2856 feature rows.</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Four PPG amplitudes – foot, systolic peak, dicrotic notch, diastolic peak and all four features used.</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Multi-output Random Forest regression for SBP/DBP; grid-search tuned (60 trees, max_depth=15).</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MAE=4.38,</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R²=0.37</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MAE=4.49,</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R²=0.46</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85838">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Cuff-less Blood Pressure Estimation Model Based on Prior Information of Physiological Data and LSTM (2024)</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UCI-BP (1200 samples, ICU patients); external test: ~1000 samples from MIMIC-III.</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LSTM stack learns temporal features from time- and frequency-domain sequences. Features fused before final regression.</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LSTM framework (PPE + 6-layer residual LSTM backbone) with MLP for BP prediction; pretrained using MSE + softDTW loss.</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MAE=1.02,</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SD=1.49</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MAE=3.16,</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SD=3.74</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45193">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Cuffless BP Estimation Model Using Clustering Technique (2024)</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VitalDB (1,051,462 cycles from 1675 subjects); external validation: MIMIC-III (513,623 beats, 236 recordings).</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29 handcrafted PWA features from ECG, PPG, APG, and stiffness index. 28 of 41 features retained based on BP correlation.</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K-means clustering (K=6) with SHAP; BP estimation using MLR, Extra-Trees, and ANN + BiLSTM RNN.</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MAD=3.17,</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SD=6.43</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MAD=2.82,</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SD=3.65</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045193">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SMART-BP: SEMResNet and Auto Regressor based on a two-stage framework for non-invasive BP measurement (2024)</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Mindray (683 patients) and MIMIC (~20k PPG BP records); invasive BP used as reference.</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75 PPG-based morphological, time, frequency, and nonlinear features. PMFL algorithm with ranking, thresholding, and recursive elimination.</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SEM-ResNet for BP classification; H2O AutoML stacked ensemble for regression with transfer learning.</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MAE=2.52,</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SD=3.26,</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ME=0.01</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MAE=1.47,</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SD=2.22,</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ME=−0.01</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3312139737"/>
                  </a:ext>
                </a:extLst>
              </a:tr>
            </a:tbl>
          </a:graphicData>
        </a:graphic>
      </p:graphicFrame>
      <p:sp>
        <p:nvSpPr>
          <p:cNvPr id="5" name="Rectangle 4">
            <a:extLst>
              <a:ext uri="{FF2B5EF4-FFF2-40B4-BE49-F238E27FC236}">
                <a16:creationId xmlns:a16="http://schemas.microsoft.com/office/drawing/2014/main" id="{AFC7D38E-787D-48A0-BC6B-950A8CEE1071}"/>
              </a:ext>
            </a:extLst>
          </p:cNvPr>
          <p:cNvSpPr/>
          <p:nvPr/>
        </p:nvSpPr>
        <p:spPr>
          <a:xfrm>
            <a:off x="5562186" y="59338"/>
            <a:ext cx="3581814" cy="300082"/>
          </a:xfrm>
          <a:prstGeom prst="rect">
            <a:avLst/>
          </a:prstGeom>
        </p:spPr>
        <p:txBody>
          <a:bodyPr wrap="none">
            <a:spAutoFit/>
          </a:bodyPr>
          <a:lstStyle/>
          <a:p>
            <a:r>
              <a:rPr lang="en-IN" sz="1350" baseline="30000" dirty="0"/>
              <a:t>2</a:t>
            </a:r>
            <a:r>
              <a:rPr lang="en-IN" sz="1350" dirty="0"/>
              <a:t>All performance values are measured in mmHg.</a:t>
            </a:r>
          </a:p>
        </p:txBody>
      </p:sp>
    </p:spTree>
    <p:extLst>
      <p:ext uri="{BB962C8B-B14F-4D97-AF65-F5344CB8AC3E}">
        <p14:creationId xmlns:p14="http://schemas.microsoft.com/office/powerpoint/2010/main" val="787499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76D479-3B72-4048-BB3E-6478DBAFE264}"/>
              </a:ext>
            </a:extLst>
          </p:cNvPr>
          <p:cNvSpPr/>
          <p:nvPr/>
        </p:nvSpPr>
        <p:spPr>
          <a:xfrm>
            <a:off x="0" y="-76600"/>
            <a:ext cx="1728678" cy="461665"/>
          </a:xfrm>
          <a:prstGeom prst="rect">
            <a:avLst/>
          </a:prstGeom>
        </p:spPr>
        <p:txBody>
          <a:bodyPr wrap="none">
            <a:spAutoFit/>
          </a:bodyPr>
          <a:lstStyle/>
          <a:p>
            <a:r>
              <a:rPr lang="en-IN" sz="2400" b="1" dirty="0">
                <a:solidFill>
                  <a:srgbClr val="0070C0"/>
                </a:solidFill>
              </a:rPr>
              <a:t>Continued…</a:t>
            </a:r>
            <a:endParaRPr lang="en-IN" sz="2400" dirty="0"/>
          </a:p>
        </p:txBody>
      </p:sp>
      <p:graphicFrame>
        <p:nvGraphicFramePr>
          <p:cNvPr id="7" name="Table 0">
            <a:extLst>
              <a:ext uri="{FF2B5EF4-FFF2-40B4-BE49-F238E27FC236}">
                <a16:creationId xmlns:a16="http://schemas.microsoft.com/office/drawing/2014/main" id="{F2B22D9B-A3FE-4920-9B04-200FB3D1C143}"/>
              </a:ext>
            </a:extLst>
          </p:cNvPr>
          <p:cNvGraphicFramePr>
            <a:graphicFrameLocks noGrp="1"/>
          </p:cNvGraphicFramePr>
          <p:nvPr>
            <p:extLst>
              <p:ext uri="{D42A27DB-BD31-4B8C-83A1-F6EECF244321}">
                <p14:modId xmlns:p14="http://schemas.microsoft.com/office/powerpoint/2010/main" val="1192011744"/>
              </p:ext>
            </p:extLst>
          </p:nvPr>
        </p:nvGraphicFramePr>
        <p:xfrm>
          <a:off x="0" y="272770"/>
          <a:ext cx="9144000" cy="4792716"/>
        </p:xfrm>
        <a:graphic>
          <a:graphicData uri="http://schemas.openxmlformats.org/drawingml/2006/table">
            <a:tbl>
              <a:tblPr/>
              <a:tblGrid>
                <a:gridCol w="1617784">
                  <a:extLst>
                    <a:ext uri="{9D8B030D-6E8A-4147-A177-3AD203B41FA5}">
                      <a16:colId xmlns:a16="http://schemas.microsoft.com/office/drawing/2014/main" val="20000"/>
                    </a:ext>
                  </a:extLst>
                </a:gridCol>
                <a:gridCol w="1547446">
                  <a:extLst>
                    <a:ext uri="{9D8B030D-6E8A-4147-A177-3AD203B41FA5}">
                      <a16:colId xmlns:a16="http://schemas.microsoft.com/office/drawing/2014/main" val="20001"/>
                    </a:ext>
                  </a:extLst>
                </a:gridCol>
                <a:gridCol w="2110154">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019908">
                  <a:extLst>
                    <a:ext uri="{9D8B030D-6E8A-4147-A177-3AD203B41FA5}">
                      <a16:colId xmlns:a16="http://schemas.microsoft.com/office/drawing/2014/main" val="20004"/>
                    </a:ext>
                  </a:extLst>
                </a:gridCol>
                <a:gridCol w="1019908">
                  <a:extLst>
                    <a:ext uri="{9D8B030D-6E8A-4147-A177-3AD203B41FA5}">
                      <a16:colId xmlns:a16="http://schemas.microsoft.com/office/drawing/2014/main" val="20005"/>
                    </a:ext>
                  </a:extLst>
                </a:gridCol>
              </a:tblGrid>
              <a:tr h="245172">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Title (Year)</a:t>
                      </a:r>
                      <a:endParaRPr lang="en-US" sz="1100"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Dataset Used</a:t>
                      </a:r>
                      <a:endParaRPr lang="en-US" sz="1100"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Feature Extraction and Selection</a:t>
                      </a:r>
                      <a:endParaRPr lang="en-US" sz="1100"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ML Tools</a:t>
                      </a:r>
                      <a:endParaRPr lang="en-US" sz="1100"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grid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Performance²</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10000"/>
                  </a:ext>
                </a:extLst>
              </a:tr>
              <a:tr h="24517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SBP</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DBP</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941144">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Cuffless Blood Pressure Estimation Using Dual Physiological Signal and Its Morphological Features (2023)</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UCI cuffless BP (MIMIC-II) with 1612 cleaned samples from ~1000 subjects, stratified into three BP ranges.</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Nine physiological features from PPG/derivative and PAT. Fixed nine features chosen based on physiological relevance; interaction terms added.</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Gaussian SVM (≈87.87% accuracy) for three BP classes. Multiple Linear Regression (MLR) with three SBP subclass models.</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MAE=4.46,</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SD=3.20,</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RMSE=5.27</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MAE=4.20,</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SD=3.28,</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RMSE=4.70</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941144">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Cuffless Blood Pressure Measurement Using Smartwatches: A Large Scale Validation (2023)</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CAS-BP dataset – 29,568 recordings from 3,077 adults; dual-observer auscultation BP reference</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Demographics with ECG/PPG-derived physiological features. Deep learning models use normalized 5-s signal segments.</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latin typeface="Calibri" pitchFamily="34" charset="0"/>
                          <a:ea typeface="Calibri" pitchFamily="34" charset="-122"/>
                          <a:cs typeface="Calibri" pitchFamily="34" charset="-120"/>
                        </a:rPr>
                        <a:t>PTT formulas; traditional ML (Ridge, SVM, AdaBoost, RF); deep learning models (VGG16, ResNet50, BiLSTM, ResLSTM).</a:t>
                      </a:r>
                      <a:endParaRPr lang="en-US" sz="110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MAE=7.38,</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SD=9.57,</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ME=−2.31</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MAE=5.13,</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SD=6.43,</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ME=−1.33</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210042">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Estimation of Beat-by-Beat Blood Pressure and Heart Rate From ECG and PPG Using a Fine-Tuned Deep CNN Model (2022)</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UCI cuffless BP dataset (MIMIC-H) with 1051 patients after filtering from 12,000 records.</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End-to-end CNN LSTM learns features directly from raw ECG and PPG signals.</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Two-scale CNN + LSTM (modified LTCN) for SBP, DBP, and HR regression.</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200" b="0" dirty="0">
                          <a:solidFill>
                            <a:schemeClr val="tx1"/>
                          </a:solidFill>
                          <a:latin typeface="Calibri" pitchFamily="34" charset="0"/>
                          <a:ea typeface="Calibri" pitchFamily="34" charset="-122"/>
                          <a:cs typeface="Calibri" pitchFamily="34" charset="-120"/>
                        </a:rPr>
                        <a:t>MAE=3.46,</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SD=5.90</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200" b="0" dirty="0">
                          <a:solidFill>
                            <a:schemeClr val="tx1"/>
                          </a:solidFill>
                          <a:latin typeface="Calibri" pitchFamily="34" charset="0"/>
                          <a:ea typeface="Calibri" pitchFamily="34" charset="-122"/>
                          <a:cs typeface="Calibri" pitchFamily="34" charset="-120"/>
                        </a:rPr>
                        <a:t>MAE=2.01,</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SD=3.65</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2867340044"/>
                  </a:ext>
                </a:extLst>
              </a:tr>
              <a:tr h="1210042">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PPG Based BP estimation combining Pilter-Wrapper collaborated feature selection with LASO-LSTM Model (2021)</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UCI-ML-BP (10,162 subjects) and MPC-PAHUSTC (200 patients).</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54 handcrafted features (morphology, gradient, time, amplitude, HRV). NML-MCMR filter + RF wrapper (IFS) → 15 optimal features.</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Benchmark: MLR, RF, DTR, KNN, ANN, AdaBoost; Proposed: LASSO-LSTM.</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200" b="0" dirty="0">
                          <a:solidFill>
                            <a:schemeClr val="tx1"/>
                          </a:solidFill>
                          <a:latin typeface="Calibri" pitchFamily="34" charset="0"/>
                          <a:ea typeface="Calibri" pitchFamily="34" charset="-122"/>
                          <a:cs typeface="Calibri" pitchFamily="34" charset="-120"/>
                        </a:rPr>
                        <a:t>MAE=4.95,</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SD=4.15</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200" b="0" dirty="0">
                          <a:solidFill>
                            <a:schemeClr val="tx1"/>
                          </a:solidFill>
                          <a:latin typeface="Calibri" pitchFamily="34" charset="0"/>
                          <a:ea typeface="Calibri" pitchFamily="34" charset="-122"/>
                          <a:cs typeface="Calibri" pitchFamily="34" charset="-120"/>
                        </a:rPr>
                        <a:t>MAE=3.15,</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SD=3.06</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3817583430"/>
                  </a:ext>
                </a:extLst>
              </a:tr>
            </a:tbl>
          </a:graphicData>
        </a:graphic>
      </p:graphicFrame>
      <p:sp>
        <p:nvSpPr>
          <p:cNvPr id="3" name="Rectangle 2">
            <a:extLst>
              <a:ext uri="{FF2B5EF4-FFF2-40B4-BE49-F238E27FC236}">
                <a16:creationId xmlns:a16="http://schemas.microsoft.com/office/drawing/2014/main" id="{8154C832-FA0B-467F-A2EE-368AD06E9305}"/>
              </a:ext>
            </a:extLst>
          </p:cNvPr>
          <p:cNvSpPr/>
          <p:nvPr/>
        </p:nvSpPr>
        <p:spPr>
          <a:xfrm>
            <a:off x="1854525" y="0"/>
            <a:ext cx="3581814" cy="300082"/>
          </a:xfrm>
          <a:prstGeom prst="rect">
            <a:avLst/>
          </a:prstGeom>
        </p:spPr>
        <p:txBody>
          <a:bodyPr wrap="none">
            <a:spAutoFit/>
          </a:bodyPr>
          <a:lstStyle/>
          <a:p>
            <a:r>
              <a:rPr lang="en-IN" sz="1350" baseline="30000" dirty="0"/>
              <a:t>2</a:t>
            </a:r>
            <a:r>
              <a:rPr lang="en-IN" sz="1350" dirty="0"/>
              <a:t>All performance values are measured in mmHg.</a:t>
            </a:r>
          </a:p>
        </p:txBody>
      </p:sp>
    </p:spTree>
    <p:extLst>
      <p:ext uri="{BB962C8B-B14F-4D97-AF65-F5344CB8AC3E}">
        <p14:creationId xmlns:p14="http://schemas.microsoft.com/office/powerpoint/2010/main" val="2241542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76D479-3B72-4048-BB3E-6478DBAFE264}"/>
              </a:ext>
            </a:extLst>
          </p:cNvPr>
          <p:cNvSpPr/>
          <p:nvPr/>
        </p:nvSpPr>
        <p:spPr>
          <a:xfrm>
            <a:off x="0" y="-76600"/>
            <a:ext cx="1728678" cy="461665"/>
          </a:xfrm>
          <a:prstGeom prst="rect">
            <a:avLst/>
          </a:prstGeom>
        </p:spPr>
        <p:txBody>
          <a:bodyPr wrap="none">
            <a:spAutoFit/>
          </a:bodyPr>
          <a:lstStyle/>
          <a:p>
            <a:r>
              <a:rPr lang="en-IN" sz="2400" b="1" dirty="0">
                <a:solidFill>
                  <a:srgbClr val="0070C0"/>
                </a:solidFill>
              </a:rPr>
              <a:t>Continued…</a:t>
            </a:r>
            <a:endParaRPr lang="en-IN" sz="2400" dirty="0"/>
          </a:p>
        </p:txBody>
      </p:sp>
      <p:graphicFrame>
        <p:nvGraphicFramePr>
          <p:cNvPr id="3" name="Table 0">
            <a:extLst>
              <a:ext uri="{FF2B5EF4-FFF2-40B4-BE49-F238E27FC236}">
                <a16:creationId xmlns:a16="http://schemas.microsoft.com/office/drawing/2014/main" id="{F2D35A35-9D22-4C7A-94E0-1413377D6671}"/>
              </a:ext>
            </a:extLst>
          </p:cNvPr>
          <p:cNvGraphicFramePr>
            <a:graphicFrameLocks noGrp="1"/>
          </p:cNvGraphicFramePr>
          <p:nvPr>
            <p:extLst>
              <p:ext uri="{D42A27DB-BD31-4B8C-83A1-F6EECF244321}">
                <p14:modId xmlns:p14="http://schemas.microsoft.com/office/powerpoint/2010/main" val="3560039188"/>
              </p:ext>
            </p:extLst>
          </p:nvPr>
        </p:nvGraphicFramePr>
        <p:xfrm>
          <a:off x="0" y="275793"/>
          <a:ext cx="9144758" cy="4846320"/>
        </p:xfrm>
        <a:graphic>
          <a:graphicData uri="http://schemas.openxmlformats.org/drawingml/2006/table">
            <a:tbl>
              <a:tblPr/>
              <a:tblGrid>
                <a:gridCol w="2052435">
                  <a:extLst>
                    <a:ext uri="{9D8B030D-6E8A-4147-A177-3AD203B41FA5}">
                      <a16:colId xmlns:a16="http://schemas.microsoft.com/office/drawing/2014/main" val="20000"/>
                    </a:ext>
                  </a:extLst>
                </a:gridCol>
                <a:gridCol w="1519544">
                  <a:extLst>
                    <a:ext uri="{9D8B030D-6E8A-4147-A177-3AD203B41FA5}">
                      <a16:colId xmlns:a16="http://schemas.microsoft.com/office/drawing/2014/main" val="20001"/>
                    </a:ext>
                  </a:extLst>
                </a:gridCol>
                <a:gridCol w="1797293">
                  <a:extLst>
                    <a:ext uri="{9D8B030D-6E8A-4147-A177-3AD203B41FA5}">
                      <a16:colId xmlns:a16="http://schemas.microsoft.com/office/drawing/2014/main" val="20002"/>
                    </a:ext>
                  </a:extLst>
                </a:gridCol>
                <a:gridCol w="1917353">
                  <a:extLst>
                    <a:ext uri="{9D8B030D-6E8A-4147-A177-3AD203B41FA5}">
                      <a16:colId xmlns:a16="http://schemas.microsoft.com/office/drawing/2014/main" val="20003"/>
                    </a:ext>
                  </a:extLst>
                </a:gridCol>
                <a:gridCol w="935831">
                  <a:extLst>
                    <a:ext uri="{9D8B030D-6E8A-4147-A177-3AD203B41FA5}">
                      <a16:colId xmlns:a16="http://schemas.microsoft.com/office/drawing/2014/main" val="20004"/>
                    </a:ext>
                  </a:extLst>
                </a:gridCol>
                <a:gridCol w="922302">
                  <a:extLst>
                    <a:ext uri="{9D8B030D-6E8A-4147-A177-3AD203B41FA5}">
                      <a16:colId xmlns:a16="http://schemas.microsoft.com/office/drawing/2014/main" val="20005"/>
                    </a:ext>
                  </a:extLst>
                </a:gridCol>
              </a:tblGrid>
              <a:tr h="190349">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Title (Year)</a:t>
                      </a:r>
                      <a:endParaRPr lang="en-US" sz="1100" b="1"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Dataset Used</a:t>
                      </a:r>
                      <a:endParaRPr lang="en-US" sz="1100" b="1"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Feature Extraction and Selection</a:t>
                      </a:r>
                      <a:endParaRPr lang="en-US" sz="1100" b="1"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row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ML Tools</a:t>
                      </a:r>
                      <a:endParaRPr lang="en-US" sz="1100" b="1" dirty="0">
                        <a:solidFill>
                          <a:schemeClr val="tx1"/>
                        </a:solidFill>
                        <a:latin typeface="Calibri" charset="0"/>
                        <a:ea typeface="Calibri" charset="0"/>
                        <a:cs typeface="Calibri" charset="0"/>
                      </a:endParaRPr>
                    </a:p>
                  </a:txBody>
                  <a:tcPr marL="68580" marR="68580" marT="34290" marB="34290" anchor="ctr">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gridSpan="2">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Performance³</a:t>
                      </a:r>
                      <a:endParaRPr lang="en-US" sz="1100" b="1"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10000"/>
                  </a:ext>
                </a:extLst>
              </a:tr>
              <a:tr h="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SBP</a:t>
                      </a:r>
                      <a:endParaRPr lang="en-US" sz="1100" b="1"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1" dirty="0">
                          <a:solidFill>
                            <a:schemeClr val="tx1"/>
                          </a:solidFill>
                          <a:latin typeface="Calibri" pitchFamily="34" charset="0"/>
                          <a:ea typeface="Calibri" pitchFamily="34" charset="-122"/>
                          <a:cs typeface="Calibri" pitchFamily="34" charset="-120"/>
                        </a:rPr>
                        <a:t>DBP</a:t>
                      </a:r>
                      <a:endParaRPr lang="en-US" sz="1100" b="1"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000866">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Causal Inference Based Cuffless Blood Pressure Estimation: A Pilot Study (2023)</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Custom single-center dataset – 62 adults with 10-minute recordings (mean SBP 114 ± 13.4 mmHg, DBP 67 ± 10.6 mmHg).</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222 handcrafted ECG/PPG features (PTT, durations, widths, amplitudes, areas, ratios). PCI + PCMCI causal analysis used to select a small causal feature subset.</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Multiple Linear Regression and XGBoost using causal features; PTT-only causal models used as baseline. Leave-one-subject-out cross-validation used for evaluation.</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MAD=5.10,</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SDE=6.44,</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ME=0.43</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MAD=2.85,</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SDE=3.89,</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ME=0.57</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0866">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Causal Inference Based Cuffless Blood Pressure Estimation: A Pilot Study (2023)</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Custom single-center dataset – 62 adults with 10-minute recordings (mean SBP 114 ± 13.4 mmHg, DBP 67 ± 10.6 mmHg).</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222 handcrafted ECG/PPG features (PTT, durations, widths, amplitudes, areas, ratios). PCI + PCMCI causal analysis used to select a small causal feature subset.</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Multiple Linear Regression and XGBoost using causal features; PTT-only causal models used as baseline. Leave-one-subject-out cross-validation used for evaluation.</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MAD=5.10,</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SDE=6.44,</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ME=0.43</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MAD=2.85,</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SDE=3.89,</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ME=0.57</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5780">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BePCon: A Photoplethysmography Based Cuffless Blood Pressure Quality Aware Continuous Beat-to-Beat Blood Pressure Measurement Technique Using Deep Learning (2022)</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150 MIMIC-III/III records, 60,562 records; train-test split with 10-fold cross-validation.</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50 features per beat (time, DWT, statistical, SDAE), 200 features with 4-beat context. RFE with Random Forest reduced to 20 features per beat.</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100" b="0" dirty="0">
                          <a:solidFill>
                            <a:schemeClr val="tx1"/>
                          </a:solidFill>
                          <a:latin typeface="Calibri" pitchFamily="34" charset="0"/>
                          <a:ea typeface="Calibri" pitchFamily="34" charset="-122"/>
                          <a:cs typeface="Calibri" pitchFamily="34" charset="-120"/>
                        </a:rPr>
                        <a:t>Temporal Convolutional Network (TCN) with dilated residual blocks for SBP and DBP regression.</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MAE=2.38,</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SD=3.24</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lgn="ctr">
                        <a:buNone/>
                      </a:pPr>
                      <a:r>
                        <a:rPr lang="en-US" sz="1100" b="0" dirty="0">
                          <a:solidFill>
                            <a:schemeClr val="tx1"/>
                          </a:solidFill>
                          <a:latin typeface="Calibri" pitchFamily="34" charset="0"/>
                          <a:ea typeface="Calibri" pitchFamily="34" charset="-122"/>
                          <a:cs typeface="Calibri" pitchFamily="34" charset="-120"/>
                        </a:rPr>
                        <a:t>MAE=1.23,</a:t>
                      </a:r>
                      <a:endParaRPr lang="en-US" sz="1100" b="0" dirty="0">
                        <a:solidFill>
                          <a:schemeClr val="tx1"/>
                        </a:solidFill>
                        <a:latin typeface="Calibri" charset="0"/>
                        <a:ea typeface="Calibri" charset="0"/>
                        <a:cs typeface="Calibri" charset="0"/>
                      </a:endParaRPr>
                    </a:p>
                    <a:p>
                      <a:pPr marL="0" indent="0" algn="ctr">
                        <a:buNone/>
                      </a:pPr>
                      <a:r>
                        <a:rPr lang="en-US" sz="1100" b="0" dirty="0">
                          <a:solidFill>
                            <a:schemeClr val="tx1"/>
                          </a:solidFill>
                          <a:latin typeface="Calibri" pitchFamily="34" charset="0"/>
                          <a:ea typeface="Calibri" pitchFamily="34" charset="-122"/>
                          <a:cs typeface="Calibri" pitchFamily="34" charset="-120"/>
                        </a:rPr>
                        <a:t>SD=1.73</a:t>
                      </a:r>
                      <a:endParaRPr lang="en-US" sz="11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92096">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Estimating Blood Pressure from the Photoplethysmogram Signal and Demographic Features Using Machine Learning Techniques (2020)</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219 subjects, cuff BP reference, 85% train/validation, 15% test.</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107 features (75 time, 16 frequency, 10 statistical, 6 demographic). ReliefF to reduce complexity and overfitting.</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buNone/>
                      </a:pPr>
                      <a:r>
                        <a:rPr lang="en-US" sz="1200" b="0" dirty="0">
                          <a:solidFill>
                            <a:schemeClr val="tx1"/>
                          </a:solidFill>
                          <a:latin typeface="Calibri" pitchFamily="34" charset="0"/>
                          <a:ea typeface="Calibri" pitchFamily="34" charset="-122"/>
                          <a:cs typeface="Calibri" pitchFamily="34" charset="-120"/>
                        </a:rPr>
                        <a:t>Gaussian Process Regression (GPR) with ReliefF-selected features for SBP/DBP regression.</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lgn="ctr">
                        <a:buNone/>
                      </a:pPr>
                      <a:r>
                        <a:rPr lang="en-US" sz="1200" b="0" dirty="0">
                          <a:solidFill>
                            <a:schemeClr val="tx1"/>
                          </a:solidFill>
                          <a:latin typeface="Calibri" pitchFamily="34" charset="0"/>
                          <a:ea typeface="Calibri" pitchFamily="34" charset="-122"/>
                          <a:cs typeface="Calibri" pitchFamily="34" charset="-120"/>
                        </a:rPr>
                        <a:t>MAE=3.02,</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RMSE=6.74,</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MSE=45.49,</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R=0.96</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tc>
                  <a:txBody>
                    <a:bodyPr/>
                    <a:lstStyle/>
                    <a:p>
                      <a:pPr marL="0" indent="0" algn="ctr">
                        <a:buNone/>
                      </a:pPr>
                      <a:r>
                        <a:rPr lang="en-US" sz="1200" b="0" dirty="0">
                          <a:solidFill>
                            <a:schemeClr val="tx1"/>
                          </a:solidFill>
                          <a:latin typeface="Calibri" pitchFamily="34" charset="0"/>
                          <a:ea typeface="Calibri" pitchFamily="34" charset="-122"/>
                          <a:cs typeface="Calibri" pitchFamily="34" charset="-120"/>
                        </a:rPr>
                        <a:t>MAE=1.74,</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RMSE=2.89,</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MSE=12.89,</a:t>
                      </a:r>
                      <a:endParaRPr lang="en-US" sz="1200" b="0" dirty="0">
                        <a:solidFill>
                          <a:schemeClr val="tx1"/>
                        </a:solidFill>
                        <a:latin typeface="Calibri" charset="0"/>
                        <a:ea typeface="Calibri" charset="0"/>
                        <a:cs typeface="Calibri" charset="0"/>
                      </a:endParaRPr>
                    </a:p>
                    <a:p>
                      <a:pPr marL="0" indent="0" algn="ctr">
                        <a:buNone/>
                      </a:pPr>
                      <a:r>
                        <a:rPr lang="en-US" sz="1200" b="0" dirty="0">
                          <a:solidFill>
                            <a:schemeClr val="tx1"/>
                          </a:solidFill>
                          <a:latin typeface="Calibri" pitchFamily="34" charset="0"/>
                          <a:ea typeface="Calibri" pitchFamily="34" charset="-122"/>
                          <a:cs typeface="Calibri" pitchFamily="34" charset="-120"/>
                        </a:rPr>
                        <a:t>R=0.96</a:t>
                      </a:r>
                      <a:endParaRPr lang="en-US" sz="1200" b="0" dirty="0">
                        <a:solidFill>
                          <a:schemeClr val="tx1"/>
                        </a:solidFill>
                        <a:latin typeface="Calibri" charset="0"/>
                        <a:ea typeface="Calibri" charset="0"/>
                        <a:cs typeface="Calibri" charset="0"/>
                      </a:endParaRPr>
                    </a:p>
                  </a:txBody>
                  <a:tcPr marL="68580" marR="68580" marT="34290" marB="34290">
                    <a:lnL w="9525" cap="flat" cmpd="sng" algn="ctr">
                      <a:solidFill>
                        <a:srgbClr val="A0B4C8"/>
                      </a:solidFill>
                      <a:prstDash val="solid"/>
                      <a:round/>
                      <a:headEnd type="none" w="med" len="med"/>
                      <a:tailEnd type="none" w="med" len="med"/>
                    </a:lnL>
                    <a:lnR w="9525" cap="flat" cmpd="sng" algn="ctr">
                      <a:solidFill>
                        <a:srgbClr val="A0B4C8"/>
                      </a:solidFill>
                      <a:prstDash val="solid"/>
                      <a:round/>
                      <a:headEnd type="none" w="med" len="med"/>
                      <a:tailEnd type="none" w="med" len="med"/>
                    </a:lnR>
                    <a:lnT w="9525" cap="flat" cmpd="sng" algn="ctr">
                      <a:solidFill>
                        <a:srgbClr val="A0B4C8"/>
                      </a:solidFill>
                      <a:prstDash val="solid"/>
                      <a:round/>
                      <a:headEnd type="none" w="med" len="med"/>
                      <a:tailEnd type="none" w="med" len="med"/>
                    </a:lnT>
                    <a:lnB w="9525" cap="flat" cmpd="sng" algn="ctr">
                      <a:solidFill>
                        <a:srgbClr val="A0B4C8"/>
                      </a:solidFill>
                      <a:prstDash val="solid"/>
                      <a:round/>
                      <a:headEnd type="none" w="med" len="med"/>
                      <a:tailEnd type="none" w="med" len="med"/>
                    </a:lnB>
                    <a:solidFill>
                      <a:srgbClr val="FFFFFF"/>
                    </a:solidFill>
                  </a:tcPr>
                </a:tc>
                <a:extLst>
                  <a:ext uri="{0D108BD9-81ED-4DB2-BD59-A6C34878D82A}">
                    <a16:rowId xmlns:a16="http://schemas.microsoft.com/office/drawing/2014/main" val="2475007602"/>
                  </a:ext>
                </a:extLst>
              </a:tr>
            </a:tbl>
          </a:graphicData>
        </a:graphic>
      </p:graphicFrame>
      <p:sp>
        <p:nvSpPr>
          <p:cNvPr id="4" name="Rectangle 3">
            <a:extLst>
              <a:ext uri="{FF2B5EF4-FFF2-40B4-BE49-F238E27FC236}">
                <a16:creationId xmlns:a16="http://schemas.microsoft.com/office/drawing/2014/main" id="{FE6E3706-1695-4F91-AB3B-CA653C27DEC2}"/>
              </a:ext>
            </a:extLst>
          </p:cNvPr>
          <p:cNvSpPr/>
          <p:nvPr/>
        </p:nvSpPr>
        <p:spPr>
          <a:xfrm>
            <a:off x="3992700" y="4191"/>
            <a:ext cx="3581814" cy="300082"/>
          </a:xfrm>
          <a:prstGeom prst="rect">
            <a:avLst/>
          </a:prstGeom>
        </p:spPr>
        <p:txBody>
          <a:bodyPr wrap="none">
            <a:spAutoFit/>
          </a:bodyPr>
          <a:lstStyle/>
          <a:p>
            <a:r>
              <a:rPr lang="en-IN" sz="1350" baseline="30000" dirty="0"/>
              <a:t>3</a:t>
            </a:r>
            <a:r>
              <a:rPr lang="en-IN" sz="1350" dirty="0"/>
              <a:t>All performance values are measured in mmHg.</a:t>
            </a:r>
          </a:p>
        </p:txBody>
      </p:sp>
    </p:spTree>
    <p:extLst>
      <p:ext uri="{BB962C8B-B14F-4D97-AF65-F5344CB8AC3E}">
        <p14:creationId xmlns:p14="http://schemas.microsoft.com/office/powerpoint/2010/main" val="1919131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3E67E5C0-2A1F-D5B3-163C-FA818345804B}"/>
            </a:ext>
          </a:extLst>
        </p:cNvPr>
        <p:cNvGrpSpPr/>
        <p:nvPr/>
      </p:nvGrpSpPr>
      <p:grpSpPr>
        <a:xfrm>
          <a:off x="0" y="0"/>
          <a:ext cx="0" cy="0"/>
          <a:chOff x="0" y="0"/>
          <a:chExt cx="0" cy="0"/>
        </a:xfrm>
      </p:grpSpPr>
      <p:sp>
        <p:nvSpPr>
          <p:cNvPr id="140" name="Google Shape;140;p5">
            <a:extLst>
              <a:ext uri="{FF2B5EF4-FFF2-40B4-BE49-F238E27FC236}">
                <a16:creationId xmlns:a16="http://schemas.microsoft.com/office/drawing/2014/main" id="{AF96F2E1-3B4B-F5D7-C6EF-ADEA082EDC02}"/>
              </a:ext>
            </a:extLst>
          </p:cNvPr>
          <p:cNvSpPr txBox="1">
            <a:spLocks noGrp="1"/>
          </p:cNvSpPr>
          <p:nvPr>
            <p:ph type="title"/>
          </p:nvPr>
        </p:nvSpPr>
        <p:spPr>
          <a:xfrm>
            <a:off x="0" y="1"/>
            <a:ext cx="3169920" cy="549548"/>
          </a:xfrm>
          <a:prstGeom prst="rect">
            <a:avLst/>
          </a:prstGeom>
          <a:noFill/>
          <a:ln>
            <a:noFill/>
          </a:ln>
        </p:spPr>
        <p:txBody>
          <a:bodyPr spcFirstLastPara="1" wrap="square" lIns="68569" tIns="34275" rIns="68569" bIns="34275" anchor="ctr" anchorCtr="0">
            <a:normAutofit/>
          </a:bodyPr>
          <a:lstStyle/>
          <a:p>
            <a:pPr algn="l">
              <a:lnSpc>
                <a:spcPct val="90000"/>
              </a:lnSpc>
              <a:spcBef>
                <a:spcPts val="0"/>
              </a:spcBef>
              <a:buClr>
                <a:srgbClr val="0070C0"/>
              </a:buClr>
              <a:buSzPts val="4400"/>
            </a:pPr>
            <a:r>
              <a:rPr lang="en-IN" sz="2400" b="1" dirty="0">
                <a:solidFill>
                  <a:srgbClr val="0070C0"/>
                </a:solidFill>
                <a:latin typeface="Arial" panose="020B0604020202020204" pitchFamily="34" charset="0"/>
                <a:cs typeface="Arial" panose="020B0604020202020204" pitchFamily="34" charset="0"/>
              </a:rPr>
              <a:t>Observations &amp; Goal</a:t>
            </a:r>
            <a:endParaRPr sz="2400" dirty="0">
              <a:latin typeface="Arial" panose="020B0604020202020204" pitchFamily="34" charset="0"/>
              <a:cs typeface="Arial" panose="020B0604020202020204" pitchFamily="34" charset="0"/>
            </a:endParaRPr>
          </a:p>
        </p:txBody>
      </p:sp>
      <p:sp>
        <p:nvSpPr>
          <p:cNvPr id="142" name="Google Shape;142;p5">
            <a:extLst>
              <a:ext uri="{FF2B5EF4-FFF2-40B4-BE49-F238E27FC236}">
                <a16:creationId xmlns:a16="http://schemas.microsoft.com/office/drawing/2014/main" id="{5A0562BD-0F66-3E5A-758E-2B7EB3DFBE90}"/>
              </a:ext>
            </a:extLst>
          </p:cNvPr>
          <p:cNvSpPr txBox="1">
            <a:spLocks noGrp="1"/>
          </p:cNvSpPr>
          <p:nvPr>
            <p:ph type="ftr" idx="11"/>
          </p:nvPr>
        </p:nvSpPr>
        <p:spPr>
          <a:xfrm>
            <a:off x="3028950" y="4767263"/>
            <a:ext cx="3086100" cy="273844"/>
          </a:xfrm>
          <a:prstGeom prst="rect">
            <a:avLst/>
          </a:prstGeom>
          <a:noFill/>
          <a:ln>
            <a:noFill/>
          </a:ln>
        </p:spPr>
        <p:txBody>
          <a:bodyPr spcFirstLastPara="1" wrap="square" lIns="68569" tIns="34275" rIns="68569" bIns="34275" anchor="ctr" anchorCtr="0">
            <a:noAutofit/>
          </a:bodyPr>
          <a:lstStyle/>
          <a:p>
            <a:pPr algn="ctr"/>
            <a:r>
              <a:rPr lang="en-IN" sz="800" dirty="0"/>
              <a:t>Project Work Foundation (ECP4.1.9)</a:t>
            </a:r>
            <a:endParaRPr sz="800" dirty="0"/>
          </a:p>
        </p:txBody>
      </p:sp>
      <p:sp>
        <p:nvSpPr>
          <p:cNvPr id="143" name="Google Shape;143;p5">
            <a:extLst>
              <a:ext uri="{FF2B5EF4-FFF2-40B4-BE49-F238E27FC236}">
                <a16:creationId xmlns:a16="http://schemas.microsoft.com/office/drawing/2014/main" id="{F7174466-8EDC-FF3D-0F9E-591D355487A0}"/>
              </a:ext>
            </a:extLst>
          </p:cNvPr>
          <p:cNvSpPr txBox="1">
            <a:spLocks noGrp="1"/>
          </p:cNvSpPr>
          <p:nvPr>
            <p:ph type="sldNum" idx="12"/>
          </p:nvPr>
        </p:nvSpPr>
        <p:spPr>
          <a:xfrm>
            <a:off x="6457950" y="4767263"/>
            <a:ext cx="2057400" cy="273844"/>
          </a:xfrm>
          <a:prstGeom prst="rect">
            <a:avLst/>
          </a:prstGeom>
          <a:noFill/>
          <a:ln>
            <a:noFill/>
          </a:ln>
        </p:spPr>
        <p:txBody>
          <a:bodyPr spcFirstLastPara="1" wrap="square" lIns="68569" tIns="34275" rIns="68569" bIns="34275" anchor="ctr" anchorCtr="0">
            <a:noAutofit/>
          </a:bodyPr>
          <a:lstStyle/>
          <a:p>
            <a:pPr algn="r"/>
            <a:fld id="{00000000-1234-1234-1234-123412341234}" type="slidenum">
              <a:rPr lang="en-IN"/>
              <a:pPr algn="r"/>
              <a:t>8</a:t>
            </a:fld>
            <a:endParaRPr/>
          </a:p>
        </p:txBody>
      </p:sp>
      <p:sp>
        <p:nvSpPr>
          <p:cNvPr id="144" name="Google Shape;144;p5">
            <a:extLst>
              <a:ext uri="{FF2B5EF4-FFF2-40B4-BE49-F238E27FC236}">
                <a16:creationId xmlns:a16="http://schemas.microsoft.com/office/drawing/2014/main" id="{5F024051-40C3-324F-9A3B-50F8D4151198}"/>
              </a:ext>
            </a:extLst>
          </p:cNvPr>
          <p:cNvSpPr txBox="1"/>
          <p:nvPr/>
        </p:nvSpPr>
        <p:spPr>
          <a:xfrm>
            <a:off x="0" y="500172"/>
            <a:ext cx="4314825" cy="4565993"/>
          </a:xfrm>
          <a:prstGeom prst="rect">
            <a:avLst/>
          </a:prstGeom>
          <a:solidFill>
            <a:srgbClr val="FFC000"/>
          </a:solidFill>
          <a:ln>
            <a:noFill/>
          </a:ln>
        </p:spPr>
        <p:txBody>
          <a:bodyPr spcFirstLastPara="1" wrap="square" lIns="68569" tIns="68569" rIns="68569" bIns="68569" anchor="t" anchorCtr="0">
            <a:noAutofit/>
          </a:bodyPr>
          <a:lstStyle/>
          <a:p>
            <a:pPr lvl="0"/>
            <a:r>
              <a:rPr lang="en-IN" sz="2000" b="1" i="1" dirty="0">
                <a:solidFill>
                  <a:schemeClr val="dk1"/>
                </a:solidFill>
                <a:latin typeface="Calibri"/>
                <a:ea typeface="Calibri"/>
                <a:cs typeface="Calibri"/>
                <a:sym typeface="Calibri"/>
              </a:rPr>
              <a:t>Observation: </a:t>
            </a:r>
          </a:p>
          <a:p>
            <a:pPr marL="342900" lvl="0" indent="-342900">
              <a:buAutoNum type="arabicPeriod"/>
            </a:pPr>
            <a:r>
              <a:rPr lang="en-US" sz="2000" dirty="0"/>
              <a:t>Existing studies focus mainly on machine-learning–based BP estimation using ECG and PPG datasets under controlled conditions. </a:t>
            </a:r>
          </a:p>
          <a:p>
            <a:pPr marL="342900" lvl="0" indent="-342900">
              <a:buAutoNum type="arabicPeriod"/>
            </a:pPr>
            <a:r>
              <a:rPr lang="en-US" sz="2000" dirty="0"/>
              <a:t>Although good accuracy is achieved, significant gaps remain in hardware implementation, real-time signal processing, and robust performance under noise and motion.</a:t>
            </a:r>
            <a:endParaRPr sz="2000" dirty="0">
              <a:solidFill>
                <a:schemeClr val="dk1"/>
              </a:solidFill>
              <a:latin typeface="Calibri"/>
              <a:ea typeface="Calibri"/>
              <a:cs typeface="Calibri"/>
              <a:sym typeface="Calibri"/>
            </a:endParaRPr>
          </a:p>
        </p:txBody>
      </p:sp>
      <p:sp>
        <p:nvSpPr>
          <p:cNvPr id="4" name="Google Shape;144;p5">
            <a:extLst>
              <a:ext uri="{FF2B5EF4-FFF2-40B4-BE49-F238E27FC236}">
                <a16:creationId xmlns:a16="http://schemas.microsoft.com/office/drawing/2014/main" id="{F51A023F-F8C9-BBF0-55CB-31A712BEE759}"/>
              </a:ext>
            </a:extLst>
          </p:cNvPr>
          <p:cNvSpPr txBox="1"/>
          <p:nvPr/>
        </p:nvSpPr>
        <p:spPr>
          <a:xfrm>
            <a:off x="4467225" y="475114"/>
            <a:ext cx="4314825" cy="4565993"/>
          </a:xfrm>
          <a:prstGeom prst="rect">
            <a:avLst/>
          </a:prstGeom>
          <a:solidFill>
            <a:schemeClr val="accent1">
              <a:lumMod val="40000"/>
              <a:lumOff val="60000"/>
            </a:schemeClr>
          </a:solidFill>
          <a:ln>
            <a:noFill/>
          </a:ln>
        </p:spPr>
        <p:txBody>
          <a:bodyPr spcFirstLastPara="1" wrap="square" lIns="68569" tIns="68569" rIns="68569" bIns="68569" anchor="t" anchorCtr="0">
            <a:noAutofit/>
          </a:bodyPr>
          <a:lstStyle/>
          <a:p>
            <a:pPr lvl="0"/>
            <a:r>
              <a:rPr lang="en-IN" sz="2000" b="1" i="1" dirty="0">
                <a:solidFill>
                  <a:schemeClr val="dk1"/>
                </a:solidFill>
                <a:latin typeface="Calibri"/>
                <a:ea typeface="Calibri"/>
                <a:cs typeface="Calibri"/>
                <a:sym typeface="Calibri"/>
              </a:rPr>
              <a:t>Goal: </a:t>
            </a:r>
          </a:p>
          <a:p>
            <a:pPr marL="342900" lvl="0" indent="-342900">
              <a:buAutoNum type="arabicPeriod"/>
            </a:pPr>
            <a:r>
              <a:rPr lang="en-US" sz="2000" dirty="0"/>
              <a:t>To implement a real-time, hardware-integrated PPG-based BP estimation system on embedded platforms .</a:t>
            </a:r>
          </a:p>
          <a:p>
            <a:pPr marL="342900" lvl="0" indent="-342900">
              <a:buAutoNum type="arabicPeriod"/>
            </a:pPr>
            <a:r>
              <a:rPr lang="en-US" sz="2000" dirty="0"/>
              <a:t>To achieve robust performance under noise through analog front-end conditioning and signal quality validation before ML-based prediction</a:t>
            </a:r>
          </a:p>
          <a:p>
            <a:pPr marL="342900" lvl="0" indent="-342900">
              <a:buAutoNum type="arabicPeriod"/>
            </a:pPr>
            <a:endParaRPr sz="2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381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circle(in)">
                                      <p:cBhvr>
                                        <p:cTn id="7" dur="2000"/>
                                        <p:tgtEl>
                                          <p:spTgt spid="14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50" name="Google Shape;150;p6"/>
          <p:cNvSpPr txBox="1">
            <a:spLocks noGrp="1"/>
          </p:cNvSpPr>
          <p:nvPr>
            <p:ph type="ftr" idx="11"/>
          </p:nvPr>
        </p:nvSpPr>
        <p:spPr>
          <a:xfrm>
            <a:off x="3028950" y="4767263"/>
            <a:ext cx="3086100" cy="273844"/>
          </a:xfrm>
          <a:prstGeom prst="rect">
            <a:avLst/>
          </a:prstGeom>
          <a:noFill/>
          <a:ln>
            <a:noFill/>
          </a:ln>
        </p:spPr>
        <p:txBody>
          <a:bodyPr spcFirstLastPara="1" wrap="square" lIns="68569" tIns="34275" rIns="68569" bIns="34275" anchor="ctr" anchorCtr="0">
            <a:noAutofit/>
          </a:bodyPr>
          <a:lstStyle/>
          <a:p>
            <a:pPr algn="ctr"/>
            <a:r>
              <a:rPr lang="en-IN" sz="800" dirty="0"/>
              <a:t>Project Work Foundation (ECP4.1.9)</a:t>
            </a:r>
            <a:endParaRPr sz="800" dirty="0"/>
          </a:p>
        </p:txBody>
      </p:sp>
      <p:sp>
        <p:nvSpPr>
          <p:cNvPr id="13" name="TextBox 12">
            <a:extLst>
              <a:ext uri="{FF2B5EF4-FFF2-40B4-BE49-F238E27FC236}">
                <a16:creationId xmlns:a16="http://schemas.microsoft.com/office/drawing/2014/main" id="{E848292B-BD07-4AAD-91E3-6C69E3682685}"/>
              </a:ext>
            </a:extLst>
          </p:cNvPr>
          <p:cNvSpPr txBox="1"/>
          <p:nvPr/>
        </p:nvSpPr>
        <p:spPr>
          <a:xfrm>
            <a:off x="2525150" y="3360775"/>
            <a:ext cx="3344477" cy="1708160"/>
          </a:xfrm>
          <a:prstGeom prst="rect">
            <a:avLst/>
          </a:prstGeom>
          <a:noFill/>
        </p:spPr>
        <p:txBody>
          <a:bodyPr wrap="square" rtlCol="0">
            <a:spAutoFit/>
          </a:bodyPr>
          <a:lstStyle/>
          <a:p>
            <a:r>
              <a:rPr lang="en-US" sz="1500" b="1" i="1" dirty="0"/>
              <a:t>Challenges While Acquiring PPG Signal</a:t>
            </a:r>
            <a:endParaRPr lang="en-IN" sz="1500" b="1" i="1" dirty="0"/>
          </a:p>
          <a:p>
            <a:pPr marL="257175" indent="-257175">
              <a:buFont typeface="+mj-lt"/>
              <a:buAutoNum type="arabicPeriod"/>
            </a:pPr>
            <a:endParaRPr lang="en-US" sz="1500" b="1" dirty="0"/>
          </a:p>
          <a:p>
            <a:pPr marL="257175" indent="-257175">
              <a:buFont typeface="+mj-lt"/>
              <a:buAutoNum type="arabicPeriod"/>
            </a:pPr>
            <a:r>
              <a:rPr lang="en-US" sz="1500" b="1" dirty="0"/>
              <a:t>Powerline Interference</a:t>
            </a:r>
          </a:p>
          <a:p>
            <a:pPr marL="257175" indent="-257175">
              <a:buFont typeface="+mj-lt"/>
              <a:buAutoNum type="arabicPeriod"/>
            </a:pPr>
            <a:r>
              <a:rPr lang="en-US" sz="1500" b="1" dirty="0"/>
              <a:t>Motion Artifacts</a:t>
            </a:r>
          </a:p>
          <a:p>
            <a:pPr marL="257175" indent="-257175">
              <a:buFont typeface="+mj-lt"/>
              <a:buAutoNum type="arabicPeriod"/>
            </a:pPr>
            <a:r>
              <a:rPr lang="en-US" sz="1500" b="1" dirty="0"/>
              <a:t>Low amplitude PPG signal</a:t>
            </a:r>
          </a:p>
          <a:p>
            <a:pPr marL="257175" indent="-257175">
              <a:buFont typeface="+mj-lt"/>
              <a:buAutoNum type="arabicPeriod"/>
            </a:pPr>
            <a:r>
              <a:rPr lang="en-US" sz="1500" b="1" dirty="0"/>
              <a:t>Premature Ventricular Contraction</a:t>
            </a:r>
          </a:p>
          <a:p>
            <a:r>
              <a:rPr lang="en-US" sz="1500" b="1" dirty="0"/>
              <a:t> </a:t>
            </a:r>
            <a:endParaRPr lang="en-IN" sz="1500" b="1" dirty="0"/>
          </a:p>
        </p:txBody>
      </p:sp>
      <p:sp>
        <p:nvSpPr>
          <p:cNvPr id="152" name="Google Shape;152;p6"/>
          <p:cNvSpPr txBox="1"/>
          <p:nvPr/>
        </p:nvSpPr>
        <p:spPr>
          <a:xfrm>
            <a:off x="2422688" y="305869"/>
            <a:ext cx="3266912" cy="2769959"/>
          </a:xfrm>
          <a:prstGeom prst="rect">
            <a:avLst/>
          </a:prstGeom>
          <a:noFill/>
          <a:ln>
            <a:noFill/>
          </a:ln>
        </p:spPr>
        <p:txBody>
          <a:bodyPr spcFirstLastPara="1" wrap="square" lIns="68569" tIns="34275" rIns="68569" bIns="34275" anchor="t" anchorCtr="0">
            <a:spAutoFit/>
          </a:bodyPr>
          <a:lstStyle/>
          <a:p>
            <a:r>
              <a:rPr lang="en-IN" sz="1350" b="1" dirty="0">
                <a:solidFill>
                  <a:schemeClr val="dk1"/>
                </a:solidFill>
                <a:latin typeface="+mj-lt"/>
                <a:ea typeface="Calibri"/>
                <a:cs typeface="Calibri"/>
                <a:sym typeface="Calibri"/>
              </a:rPr>
              <a:t>1.  Acquiring the PPG signal</a:t>
            </a:r>
            <a:endParaRPr lang="en-IN" sz="1350" dirty="0">
              <a:latin typeface="+mj-lt"/>
            </a:endParaRPr>
          </a:p>
          <a:p>
            <a:r>
              <a:rPr lang="en-IN" sz="1350" b="1" dirty="0">
                <a:solidFill>
                  <a:schemeClr val="dk1"/>
                </a:solidFill>
                <a:latin typeface="+mj-lt"/>
                <a:ea typeface="Calibri"/>
                <a:cs typeface="Calibri"/>
                <a:sym typeface="Calibri"/>
              </a:rPr>
              <a:t>2.  Signal conditioning</a:t>
            </a:r>
            <a:endParaRPr lang="en-IN" sz="1350" dirty="0">
              <a:latin typeface="+mj-lt"/>
            </a:endParaRPr>
          </a:p>
          <a:p>
            <a:r>
              <a:rPr lang="en-IN" sz="1350" dirty="0">
                <a:solidFill>
                  <a:schemeClr val="dk1"/>
                </a:solidFill>
                <a:latin typeface="+mj-lt"/>
                <a:ea typeface="Calibri"/>
                <a:cs typeface="Calibri"/>
                <a:sym typeface="Calibri"/>
              </a:rPr>
              <a:t>	</a:t>
            </a:r>
            <a:r>
              <a:rPr lang="en-IN" sz="1350" b="1" dirty="0">
                <a:solidFill>
                  <a:schemeClr val="dk1"/>
                </a:solidFill>
                <a:latin typeface="+mj-lt"/>
                <a:ea typeface="Calibri"/>
                <a:cs typeface="Calibri"/>
                <a:sym typeface="Calibri"/>
              </a:rPr>
              <a:t>a. </a:t>
            </a:r>
            <a:r>
              <a:rPr lang="en-IN" sz="1350" dirty="0">
                <a:solidFill>
                  <a:schemeClr val="dk1"/>
                </a:solidFill>
                <a:latin typeface="+mj-lt"/>
                <a:ea typeface="Calibri"/>
                <a:cs typeface="Calibri"/>
                <a:sym typeface="Calibri"/>
              </a:rPr>
              <a:t>Noise reduction</a:t>
            </a:r>
            <a:endParaRPr sz="1350" dirty="0">
              <a:solidFill>
                <a:schemeClr val="dk1"/>
              </a:solidFill>
              <a:latin typeface="+mj-lt"/>
              <a:ea typeface="Calibri"/>
              <a:cs typeface="Calibri"/>
              <a:sym typeface="Calibri"/>
            </a:endParaRPr>
          </a:p>
          <a:p>
            <a:r>
              <a:rPr lang="en-IN" sz="1350" dirty="0">
                <a:solidFill>
                  <a:schemeClr val="dk1"/>
                </a:solidFill>
                <a:latin typeface="+mj-lt"/>
                <a:ea typeface="Calibri"/>
                <a:cs typeface="Calibri"/>
                <a:sym typeface="Calibri"/>
              </a:rPr>
              <a:t>	</a:t>
            </a:r>
            <a:r>
              <a:rPr lang="en-IN" sz="1350" b="1" dirty="0">
                <a:solidFill>
                  <a:schemeClr val="dk1"/>
                </a:solidFill>
                <a:latin typeface="+mj-lt"/>
                <a:ea typeface="Calibri"/>
                <a:cs typeface="Calibri"/>
                <a:sym typeface="Calibri"/>
              </a:rPr>
              <a:t>b. </a:t>
            </a:r>
            <a:r>
              <a:rPr lang="en-IN" sz="1350" dirty="0">
                <a:solidFill>
                  <a:schemeClr val="dk1"/>
                </a:solidFill>
                <a:latin typeface="+mj-lt"/>
                <a:ea typeface="Calibri"/>
                <a:cs typeface="Calibri"/>
                <a:sym typeface="Calibri"/>
              </a:rPr>
              <a:t>Amplification</a:t>
            </a:r>
            <a:endParaRPr sz="1350" dirty="0">
              <a:latin typeface="+mj-lt"/>
            </a:endParaRPr>
          </a:p>
          <a:p>
            <a:r>
              <a:rPr lang="en-IN" sz="1350" dirty="0">
                <a:solidFill>
                  <a:schemeClr val="dk1"/>
                </a:solidFill>
                <a:latin typeface="+mj-lt"/>
                <a:ea typeface="Calibri"/>
                <a:cs typeface="Calibri"/>
                <a:sym typeface="Calibri"/>
              </a:rPr>
              <a:t>	</a:t>
            </a:r>
            <a:r>
              <a:rPr lang="en-IN" sz="1350" b="1" dirty="0">
                <a:solidFill>
                  <a:schemeClr val="dk1"/>
                </a:solidFill>
                <a:latin typeface="+mj-lt"/>
                <a:ea typeface="Calibri"/>
                <a:cs typeface="Calibri"/>
                <a:sym typeface="Calibri"/>
              </a:rPr>
              <a:t>c. </a:t>
            </a:r>
            <a:r>
              <a:rPr lang="en-IN" sz="1350" dirty="0">
                <a:solidFill>
                  <a:schemeClr val="dk1"/>
                </a:solidFill>
                <a:latin typeface="+mj-lt"/>
                <a:ea typeface="Calibri"/>
                <a:cs typeface="Calibri"/>
                <a:sym typeface="Calibri"/>
              </a:rPr>
              <a:t>Analog to Digital conversion</a:t>
            </a:r>
            <a:endParaRPr sz="1350" dirty="0">
              <a:latin typeface="+mj-lt"/>
            </a:endParaRPr>
          </a:p>
          <a:p>
            <a:r>
              <a:rPr lang="en-IN" sz="1350" b="1" dirty="0">
                <a:solidFill>
                  <a:schemeClr val="dk1"/>
                </a:solidFill>
                <a:latin typeface="+mj-lt"/>
                <a:ea typeface="Calibri"/>
                <a:cs typeface="Calibri"/>
                <a:sym typeface="Calibri"/>
              </a:rPr>
              <a:t>3. Signal preprocessing</a:t>
            </a:r>
            <a:endParaRPr sz="1350" dirty="0">
              <a:latin typeface="+mj-lt"/>
            </a:endParaRPr>
          </a:p>
          <a:p>
            <a:r>
              <a:rPr lang="en-IN" sz="1350" dirty="0">
                <a:solidFill>
                  <a:schemeClr val="dk1"/>
                </a:solidFill>
                <a:latin typeface="+mj-lt"/>
                <a:ea typeface="Calibri"/>
                <a:cs typeface="Calibri"/>
                <a:sym typeface="Calibri"/>
              </a:rPr>
              <a:t>	</a:t>
            </a:r>
            <a:r>
              <a:rPr lang="en-IN" sz="1350" b="1" dirty="0">
                <a:solidFill>
                  <a:schemeClr val="dk1"/>
                </a:solidFill>
                <a:latin typeface="+mj-lt"/>
                <a:ea typeface="Calibri"/>
                <a:cs typeface="Calibri"/>
                <a:sym typeface="Calibri"/>
              </a:rPr>
              <a:t>a. </a:t>
            </a:r>
            <a:r>
              <a:rPr lang="en-IN" sz="1350" dirty="0">
                <a:solidFill>
                  <a:schemeClr val="dk1"/>
                </a:solidFill>
                <a:latin typeface="+mj-lt"/>
                <a:ea typeface="Calibri"/>
                <a:cs typeface="Calibri"/>
                <a:sym typeface="Calibri"/>
              </a:rPr>
              <a:t>Filtration</a:t>
            </a:r>
            <a:endParaRPr sz="1350" dirty="0">
              <a:latin typeface="+mj-lt"/>
            </a:endParaRPr>
          </a:p>
          <a:p>
            <a:r>
              <a:rPr lang="en-IN" sz="1350" dirty="0">
                <a:solidFill>
                  <a:schemeClr val="dk1"/>
                </a:solidFill>
                <a:latin typeface="+mj-lt"/>
                <a:ea typeface="Calibri"/>
                <a:cs typeface="Calibri"/>
                <a:sym typeface="Calibri"/>
              </a:rPr>
              <a:t>	</a:t>
            </a:r>
            <a:r>
              <a:rPr lang="en-IN" sz="1350" b="1" dirty="0">
                <a:solidFill>
                  <a:schemeClr val="dk1"/>
                </a:solidFill>
                <a:latin typeface="+mj-lt"/>
                <a:ea typeface="Calibri"/>
                <a:cs typeface="Calibri"/>
                <a:sym typeface="Calibri"/>
              </a:rPr>
              <a:t>b. </a:t>
            </a:r>
            <a:r>
              <a:rPr lang="en-IN" sz="1350" dirty="0">
                <a:solidFill>
                  <a:schemeClr val="dk1"/>
                </a:solidFill>
                <a:latin typeface="+mj-lt"/>
                <a:ea typeface="Calibri"/>
                <a:cs typeface="Calibri"/>
                <a:sym typeface="Calibri"/>
              </a:rPr>
              <a:t>Feature Extraction</a:t>
            </a:r>
            <a:endParaRPr sz="1350" dirty="0">
              <a:latin typeface="+mj-lt"/>
            </a:endParaRPr>
          </a:p>
          <a:p>
            <a:r>
              <a:rPr lang="en-IN" sz="1350" dirty="0">
                <a:solidFill>
                  <a:schemeClr val="dk1"/>
                </a:solidFill>
                <a:latin typeface="+mj-lt"/>
                <a:ea typeface="Calibri"/>
                <a:cs typeface="Calibri"/>
                <a:sym typeface="Calibri"/>
              </a:rPr>
              <a:t>	</a:t>
            </a:r>
            <a:r>
              <a:rPr lang="en-IN" sz="1350" b="1" dirty="0">
                <a:solidFill>
                  <a:schemeClr val="dk1"/>
                </a:solidFill>
                <a:latin typeface="+mj-lt"/>
                <a:ea typeface="Calibri"/>
                <a:cs typeface="Calibri"/>
                <a:sym typeface="Calibri"/>
              </a:rPr>
              <a:t>c. </a:t>
            </a:r>
            <a:r>
              <a:rPr lang="en-IN" sz="1350" dirty="0">
                <a:solidFill>
                  <a:schemeClr val="dk1"/>
                </a:solidFill>
                <a:latin typeface="+mj-lt"/>
                <a:ea typeface="Calibri"/>
                <a:cs typeface="Calibri"/>
                <a:sym typeface="Calibri"/>
              </a:rPr>
              <a:t>Feature Selection</a:t>
            </a:r>
            <a:endParaRPr sz="1350" dirty="0">
              <a:latin typeface="+mj-lt"/>
            </a:endParaRPr>
          </a:p>
          <a:p>
            <a:r>
              <a:rPr lang="en-IN" sz="1350" b="1" dirty="0">
                <a:solidFill>
                  <a:schemeClr val="dk1"/>
                </a:solidFill>
                <a:latin typeface="+mj-lt"/>
                <a:ea typeface="Calibri"/>
                <a:cs typeface="Calibri"/>
                <a:sym typeface="Calibri"/>
              </a:rPr>
              <a:t>4. Regression model</a:t>
            </a:r>
            <a:endParaRPr sz="1350" dirty="0">
              <a:latin typeface="+mj-lt"/>
            </a:endParaRPr>
          </a:p>
          <a:p>
            <a:r>
              <a:rPr lang="en-IN" sz="1350" dirty="0">
                <a:solidFill>
                  <a:schemeClr val="dk1"/>
                </a:solidFill>
                <a:latin typeface="+mj-lt"/>
                <a:ea typeface="Calibri"/>
                <a:cs typeface="Calibri"/>
                <a:sym typeface="Calibri"/>
              </a:rPr>
              <a:t>	</a:t>
            </a:r>
            <a:r>
              <a:rPr lang="en-IN" sz="1350" b="1" dirty="0">
                <a:solidFill>
                  <a:schemeClr val="dk1"/>
                </a:solidFill>
                <a:latin typeface="+mj-lt"/>
                <a:ea typeface="Calibri"/>
                <a:cs typeface="Calibri"/>
                <a:sym typeface="Calibri"/>
              </a:rPr>
              <a:t>a. </a:t>
            </a:r>
            <a:r>
              <a:rPr lang="en-IN" sz="1350" dirty="0">
                <a:solidFill>
                  <a:schemeClr val="dk1"/>
                </a:solidFill>
                <a:latin typeface="+mj-lt"/>
                <a:ea typeface="Calibri"/>
                <a:cs typeface="Calibri"/>
                <a:sym typeface="Calibri"/>
              </a:rPr>
              <a:t>Training the model</a:t>
            </a:r>
            <a:endParaRPr sz="1350" dirty="0">
              <a:latin typeface="+mj-lt"/>
            </a:endParaRPr>
          </a:p>
          <a:p>
            <a:r>
              <a:rPr lang="en-IN" sz="1350" dirty="0">
                <a:solidFill>
                  <a:schemeClr val="dk1"/>
                </a:solidFill>
                <a:latin typeface="+mj-lt"/>
                <a:ea typeface="Calibri"/>
                <a:cs typeface="Calibri"/>
                <a:sym typeface="Calibri"/>
              </a:rPr>
              <a:t>	</a:t>
            </a:r>
            <a:r>
              <a:rPr lang="en-IN" sz="1350" b="1" dirty="0">
                <a:solidFill>
                  <a:schemeClr val="dk1"/>
                </a:solidFill>
                <a:latin typeface="+mj-lt"/>
                <a:ea typeface="Calibri"/>
                <a:cs typeface="Calibri"/>
                <a:sym typeface="Calibri"/>
              </a:rPr>
              <a:t>b. </a:t>
            </a:r>
            <a:r>
              <a:rPr lang="en-IN" sz="1350" dirty="0">
                <a:solidFill>
                  <a:schemeClr val="dk1"/>
                </a:solidFill>
                <a:latin typeface="+mj-lt"/>
                <a:ea typeface="Calibri"/>
                <a:cs typeface="Calibri"/>
                <a:sym typeface="Calibri"/>
              </a:rPr>
              <a:t>Validation and Testing</a:t>
            </a:r>
            <a:endParaRPr sz="1350" dirty="0">
              <a:latin typeface="+mj-lt"/>
            </a:endParaRPr>
          </a:p>
          <a:p>
            <a:r>
              <a:rPr lang="en-IN" sz="1350" b="1" dirty="0">
                <a:solidFill>
                  <a:schemeClr val="dk1"/>
                </a:solidFill>
                <a:latin typeface="+mj-lt"/>
                <a:ea typeface="Calibri"/>
                <a:cs typeface="Calibri"/>
                <a:sym typeface="Calibri"/>
              </a:rPr>
              <a:t>5. Viewing PPG on a TFT Display</a:t>
            </a:r>
            <a:endParaRPr sz="1350" dirty="0">
              <a:latin typeface="+mj-lt"/>
            </a:endParaRPr>
          </a:p>
        </p:txBody>
      </p:sp>
      <p:sp>
        <p:nvSpPr>
          <p:cNvPr id="149" name="Google Shape;149;p6"/>
          <p:cNvSpPr txBox="1">
            <a:spLocks noGrp="1"/>
          </p:cNvSpPr>
          <p:nvPr>
            <p:ph type="title"/>
          </p:nvPr>
        </p:nvSpPr>
        <p:spPr>
          <a:xfrm>
            <a:off x="-54674" y="-130481"/>
            <a:ext cx="9144000" cy="531315"/>
          </a:xfrm>
          <a:prstGeom prst="rect">
            <a:avLst/>
          </a:prstGeom>
          <a:noFill/>
          <a:ln>
            <a:noFill/>
          </a:ln>
        </p:spPr>
        <p:txBody>
          <a:bodyPr spcFirstLastPara="1" wrap="square" lIns="68569" tIns="34275" rIns="68569" bIns="34275" anchor="ctr" anchorCtr="0">
            <a:normAutofit/>
          </a:bodyPr>
          <a:lstStyle/>
          <a:p>
            <a:pPr algn="l">
              <a:lnSpc>
                <a:spcPct val="90000"/>
              </a:lnSpc>
              <a:spcBef>
                <a:spcPts val="0"/>
              </a:spcBef>
              <a:buClr>
                <a:srgbClr val="0070C0"/>
              </a:buClr>
              <a:buSzPts val="4400"/>
            </a:pPr>
            <a:r>
              <a:rPr lang="en-IN" sz="2400" b="1" dirty="0">
                <a:solidFill>
                  <a:srgbClr val="0070C0"/>
                </a:solidFill>
              </a:rPr>
              <a:t>Proposed workflow:</a:t>
            </a:r>
            <a:endParaRPr sz="2400" dirty="0"/>
          </a:p>
        </p:txBody>
      </p:sp>
      <p:pic>
        <p:nvPicPr>
          <p:cNvPr id="3" name="Picture 2">
            <a:extLst>
              <a:ext uri="{FF2B5EF4-FFF2-40B4-BE49-F238E27FC236}">
                <a16:creationId xmlns:a16="http://schemas.microsoft.com/office/drawing/2014/main" id="{68740CA3-88F9-FB31-E04F-F63D4D769F5E}"/>
              </a:ext>
            </a:extLst>
          </p:cNvPr>
          <p:cNvPicPr>
            <a:picLocks noChangeAspect="1"/>
          </p:cNvPicPr>
          <p:nvPr/>
        </p:nvPicPr>
        <p:blipFill>
          <a:blip r:embed="rId3"/>
          <a:srcRect l="22502" r="21709"/>
          <a:stretch>
            <a:fillRect/>
          </a:stretch>
        </p:blipFill>
        <p:spPr>
          <a:xfrm>
            <a:off x="163358" y="267256"/>
            <a:ext cx="2143760" cy="4773851"/>
          </a:xfrm>
          <a:prstGeom prst="rect">
            <a:avLst/>
          </a:prstGeom>
        </p:spPr>
      </p:pic>
      <p:pic>
        <p:nvPicPr>
          <p:cNvPr id="5" name="Picture 4">
            <a:extLst>
              <a:ext uri="{FF2B5EF4-FFF2-40B4-BE49-F238E27FC236}">
                <a16:creationId xmlns:a16="http://schemas.microsoft.com/office/drawing/2014/main" id="{23C0C26D-0B67-4DC1-B3CB-15778F23B038}"/>
              </a:ext>
            </a:extLst>
          </p:cNvPr>
          <p:cNvPicPr>
            <a:picLocks noChangeAspect="1"/>
          </p:cNvPicPr>
          <p:nvPr/>
        </p:nvPicPr>
        <p:blipFill>
          <a:blip r:embed="rId4"/>
          <a:stretch>
            <a:fillRect/>
          </a:stretch>
        </p:blipFill>
        <p:spPr>
          <a:xfrm>
            <a:off x="5623675" y="202635"/>
            <a:ext cx="3356968" cy="4529770"/>
          </a:xfrm>
          <a:prstGeom prst="rect">
            <a:avLst/>
          </a:prstGeom>
        </p:spPr>
      </p:pic>
    </p:spTree>
    <p:extLst>
      <p:ext uri="{BB962C8B-B14F-4D97-AF65-F5344CB8AC3E}">
        <p14:creationId xmlns:p14="http://schemas.microsoft.com/office/powerpoint/2010/main" val="344654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8"/>
          <p:cNvSpPr txBox="1">
            <a:spLocks noGrp="1"/>
          </p:cNvSpPr>
          <p:nvPr>
            <p:ph type="title"/>
          </p:nvPr>
        </p:nvSpPr>
        <p:spPr>
          <a:xfrm>
            <a:off x="0" y="-9652"/>
            <a:ext cx="2743200" cy="558056"/>
          </a:xfrm>
          <a:prstGeom prst="rect">
            <a:avLst/>
          </a:prstGeom>
          <a:noFill/>
          <a:ln>
            <a:noFill/>
          </a:ln>
        </p:spPr>
        <p:txBody>
          <a:bodyPr spcFirstLastPara="1" wrap="square" lIns="68569" tIns="34275" rIns="68569" bIns="34275" anchor="ctr" anchorCtr="0">
            <a:normAutofit/>
          </a:bodyPr>
          <a:lstStyle/>
          <a:p>
            <a:pPr algn="l">
              <a:lnSpc>
                <a:spcPct val="90000"/>
              </a:lnSpc>
              <a:spcBef>
                <a:spcPts val="0"/>
              </a:spcBef>
              <a:buClr>
                <a:srgbClr val="0070C0"/>
              </a:buClr>
              <a:buSzPts val="4400"/>
            </a:pPr>
            <a:r>
              <a:rPr lang="en-IN" sz="2400" b="1" dirty="0">
                <a:solidFill>
                  <a:srgbClr val="0070C0"/>
                </a:solidFill>
              </a:rPr>
              <a:t>PPG signal filtering:</a:t>
            </a:r>
            <a:endParaRPr sz="2400" dirty="0"/>
          </a:p>
        </p:txBody>
      </p:sp>
      <p:sp>
        <p:nvSpPr>
          <p:cNvPr id="176" name="Google Shape;176;p8"/>
          <p:cNvSpPr txBox="1">
            <a:spLocks noGrp="1"/>
          </p:cNvSpPr>
          <p:nvPr>
            <p:ph type="ftr" idx="11"/>
          </p:nvPr>
        </p:nvSpPr>
        <p:spPr>
          <a:xfrm>
            <a:off x="3028950" y="4831131"/>
            <a:ext cx="3086100" cy="273844"/>
          </a:xfrm>
          <a:prstGeom prst="rect">
            <a:avLst/>
          </a:prstGeom>
          <a:noFill/>
          <a:ln>
            <a:noFill/>
          </a:ln>
        </p:spPr>
        <p:txBody>
          <a:bodyPr spcFirstLastPara="1" wrap="square" lIns="68569" tIns="34275" rIns="68569" bIns="34275" anchor="ctr" anchorCtr="0">
            <a:noAutofit/>
          </a:bodyPr>
          <a:lstStyle/>
          <a:p>
            <a:pPr algn="ctr"/>
            <a:r>
              <a:rPr lang="en-IN" sz="800" dirty="0"/>
              <a:t>Project Work Foundation (ECP4.1.9)</a:t>
            </a:r>
            <a:endParaRPr sz="800" dirty="0"/>
          </a:p>
        </p:txBody>
      </p:sp>
      <p:sp>
        <p:nvSpPr>
          <p:cNvPr id="177" name="Google Shape;177;p8"/>
          <p:cNvSpPr txBox="1">
            <a:spLocks noGrp="1"/>
          </p:cNvSpPr>
          <p:nvPr>
            <p:ph type="sldNum" idx="12"/>
          </p:nvPr>
        </p:nvSpPr>
        <p:spPr>
          <a:xfrm>
            <a:off x="6457950" y="4767263"/>
            <a:ext cx="2057400" cy="273844"/>
          </a:xfrm>
          <a:prstGeom prst="rect">
            <a:avLst/>
          </a:prstGeom>
          <a:noFill/>
          <a:ln>
            <a:noFill/>
          </a:ln>
        </p:spPr>
        <p:txBody>
          <a:bodyPr spcFirstLastPara="1" wrap="square" lIns="68569" tIns="34275" rIns="68569" bIns="34275" anchor="ctr" anchorCtr="0">
            <a:noAutofit/>
          </a:bodyPr>
          <a:lstStyle/>
          <a:p>
            <a:pPr algn="r"/>
            <a:fld id="{00000000-1234-1234-1234-123412341234}" type="slidenum">
              <a:rPr lang="en-IN"/>
              <a:pPr algn="r"/>
              <a:t>10</a:t>
            </a:fld>
            <a:endParaRPr/>
          </a:p>
        </p:txBody>
      </p:sp>
      <p:pic>
        <p:nvPicPr>
          <p:cNvPr id="31" name="Picture 30">
            <a:extLst>
              <a:ext uri="{FF2B5EF4-FFF2-40B4-BE49-F238E27FC236}">
                <a16:creationId xmlns:a16="http://schemas.microsoft.com/office/drawing/2014/main" id="{8EAB3182-B6E0-4755-9962-DB912B50FF33}"/>
              </a:ext>
            </a:extLst>
          </p:cNvPr>
          <p:cNvPicPr>
            <a:picLocks noChangeAspect="1"/>
          </p:cNvPicPr>
          <p:nvPr/>
        </p:nvPicPr>
        <p:blipFill rotWithShape="1">
          <a:blip r:embed="rId3"/>
          <a:srcRect l="9686" t="32738" r="4454" b="15675"/>
          <a:stretch/>
        </p:blipFill>
        <p:spPr>
          <a:xfrm>
            <a:off x="0" y="438112"/>
            <a:ext cx="4389120" cy="1363856"/>
          </a:xfrm>
          <a:prstGeom prst="rect">
            <a:avLst/>
          </a:prstGeom>
        </p:spPr>
      </p:pic>
      <p:pic>
        <p:nvPicPr>
          <p:cNvPr id="32" name="Picture 31">
            <a:extLst>
              <a:ext uri="{FF2B5EF4-FFF2-40B4-BE49-F238E27FC236}">
                <a16:creationId xmlns:a16="http://schemas.microsoft.com/office/drawing/2014/main" id="{14090E9E-78A7-498B-944E-9DFB65D04FF2}"/>
              </a:ext>
            </a:extLst>
          </p:cNvPr>
          <p:cNvPicPr>
            <a:picLocks noChangeAspect="1"/>
          </p:cNvPicPr>
          <p:nvPr/>
        </p:nvPicPr>
        <p:blipFill rotWithShape="1">
          <a:blip r:embed="rId4"/>
          <a:srcRect l="8588" t="28105" r="35869" b="15373"/>
          <a:stretch/>
        </p:blipFill>
        <p:spPr>
          <a:xfrm>
            <a:off x="85725" y="1940958"/>
            <a:ext cx="3724275" cy="2889355"/>
          </a:xfrm>
          <a:prstGeom prst="rect">
            <a:avLst/>
          </a:prstGeom>
        </p:spPr>
      </p:pic>
      <p:grpSp>
        <p:nvGrpSpPr>
          <p:cNvPr id="4" name="Group 3">
            <a:extLst>
              <a:ext uri="{FF2B5EF4-FFF2-40B4-BE49-F238E27FC236}">
                <a16:creationId xmlns:a16="http://schemas.microsoft.com/office/drawing/2014/main" id="{7BC37179-9A7D-4BF9-BF14-8E10BC582A3D}"/>
              </a:ext>
            </a:extLst>
          </p:cNvPr>
          <p:cNvGrpSpPr/>
          <p:nvPr/>
        </p:nvGrpSpPr>
        <p:grpSpPr>
          <a:xfrm>
            <a:off x="4470400" y="79601"/>
            <a:ext cx="4587875" cy="1680195"/>
            <a:chOff x="7276022" y="548370"/>
            <a:chExt cx="4399707" cy="2240260"/>
          </a:xfrm>
        </p:grpSpPr>
        <p:sp>
          <p:nvSpPr>
            <p:cNvPr id="3" name="Rectangle 2">
              <a:extLst>
                <a:ext uri="{FF2B5EF4-FFF2-40B4-BE49-F238E27FC236}">
                  <a16:creationId xmlns:a16="http://schemas.microsoft.com/office/drawing/2014/main" id="{AC80C6C0-D084-4238-AC20-5C26F51EA83B}"/>
                </a:ext>
              </a:extLst>
            </p:cNvPr>
            <p:cNvSpPr/>
            <p:nvPr/>
          </p:nvSpPr>
          <p:spPr>
            <a:xfrm>
              <a:off x="7276022" y="548370"/>
              <a:ext cx="4399707" cy="224026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35" name="TextBox 34">
              <a:extLst>
                <a:ext uri="{FF2B5EF4-FFF2-40B4-BE49-F238E27FC236}">
                  <a16:creationId xmlns:a16="http://schemas.microsoft.com/office/drawing/2014/main" id="{5802EFF7-633C-43C1-AA73-671B25368F27}"/>
                </a:ext>
              </a:extLst>
            </p:cNvPr>
            <p:cNvSpPr txBox="1"/>
            <p:nvPr/>
          </p:nvSpPr>
          <p:spPr>
            <a:xfrm>
              <a:off x="7514879" y="692654"/>
              <a:ext cx="4130700" cy="1661993"/>
            </a:xfrm>
            <a:prstGeom prst="rect">
              <a:avLst/>
            </a:prstGeom>
            <a:noFill/>
          </p:spPr>
          <p:txBody>
            <a:bodyPr wrap="square" rtlCol="0">
              <a:spAutoFit/>
            </a:bodyPr>
            <a:lstStyle/>
            <a:p>
              <a:r>
                <a:rPr lang="en-US" sz="1500" dirty="0"/>
                <a:t>The Butterworth filter is  favorable choice here as:</a:t>
              </a:r>
            </a:p>
            <a:p>
              <a:r>
                <a:rPr lang="en-US" sz="1500" b="1" dirty="0"/>
                <a:t>1. Maximally flat pass band response</a:t>
              </a:r>
              <a:endParaRPr lang="en-US" sz="1500" dirty="0"/>
            </a:p>
            <a:p>
              <a:r>
                <a:rPr lang="en-US" sz="1500" b="1" dirty="0"/>
                <a:t>2. Monotonic roll off</a:t>
              </a:r>
            </a:p>
            <a:p>
              <a:r>
                <a:rPr lang="en-US" sz="1500" b="1" dirty="0"/>
                <a:t>3. Phase linearity</a:t>
              </a:r>
              <a:endParaRPr lang="en-US" sz="1500" dirty="0"/>
            </a:p>
            <a:p>
              <a:r>
                <a:rPr lang="en-US" sz="1500" b="1" dirty="0"/>
                <a:t>4. Easy to design</a:t>
              </a:r>
              <a:endParaRPr lang="en-IN" sz="1500" dirty="0"/>
            </a:p>
          </p:txBody>
        </p:sp>
      </p:grpSp>
      <p:pic>
        <p:nvPicPr>
          <p:cNvPr id="5" name="Picture 4">
            <a:extLst>
              <a:ext uri="{FF2B5EF4-FFF2-40B4-BE49-F238E27FC236}">
                <a16:creationId xmlns:a16="http://schemas.microsoft.com/office/drawing/2014/main" id="{7CCA5887-33FA-433A-89A9-E4366DB60E8D}"/>
              </a:ext>
            </a:extLst>
          </p:cNvPr>
          <p:cNvPicPr>
            <a:picLocks noChangeAspect="1"/>
          </p:cNvPicPr>
          <p:nvPr/>
        </p:nvPicPr>
        <p:blipFill>
          <a:blip r:embed="rId5"/>
          <a:stretch>
            <a:fillRect/>
          </a:stretch>
        </p:blipFill>
        <p:spPr>
          <a:xfrm>
            <a:off x="3721557" y="1801968"/>
            <a:ext cx="5336718" cy="3303825"/>
          </a:xfrm>
          <a:prstGeom prst="rect">
            <a:avLst/>
          </a:prstGeom>
        </p:spPr>
      </p:pic>
      <p:pic>
        <p:nvPicPr>
          <p:cNvPr id="6" name="Picture 5">
            <a:extLst>
              <a:ext uri="{FF2B5EF4-FFF2-40B4-BE49-F238E27FC236}">
                <a16:creationId xmlns:a16="http://schemas.microsoft.com/office/drawing/2014/main" id="{29122153-78A0-4C33-976F-FFB61A650964}"/>
              </a:ext>
            </a:extLst>
          </p:cNvPr>
          <p:cNvPicPr>
            <a:picLocks noChangeAspect="1"/>
          </p:cNvPicPr>
          <p:nvPr/>
        </p:nvPicPr>
        <p:blipFill>
          <a:blip r:embed="rId6"/>
          <a:stretch>
            <a:fillRect/>
          </a:stretch>
        </p:blipFill>
        <p:spPr>
          <a:xfrm>
            <a:off x="721192" y="4856106"/>
            <a:ext cx="2279174" cy="192908"/>
          </a:xfrm>
          <a:prstGeom prst="rect">
            <a:avLst/>
          </a:prstGeom>
        </p:spPr>
      </p:pic>
    </p:spTree>
    <p:extLst>
      <p:ext uri="{BB962C8B-B14F-4D97-AF65-F5344CB8AC3E}">
        <p14:creationId xmlns:p14="http://schemas.microsoft.com/office/powerpoint/2010/main" val="1514070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circle(in)">
                                      <p:cBhvr>
                                        <p:cTn id="14" dur="2000"/>
                                        <p:tgtEl>
                                          <p:spTgt spid="32"/>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61;p7">
            <a:extLst>
              <a:ext uri="{FF2B5EF4-FFF2-40B4-BE49-F238E27FC236}">
                <a16:creationId xmlns:a16="http://schemas.microsoft.com/office/drawing/2014/main" id="{4C41275D-2BBD-41A3-B22F-54009E665552}"/>
              </a:ext>
            </a:extLst>
          </p:cNvPr>
          <p:cNvSpPr txBox="1">
            <a:spLocks/>
          </p:cNvSpPr>
          <p:nvPr/>
        </p:nvSpPr>
        <p:spPr>
          <a:xfrm>
            <a:off x="0" y="1"/>
            <a:ext cx="9144000" cy="558632"/>
          </a:xfrm>
          <a:prstGeom prst="rect">
            <a:avLst/>
          </a:prstGeom>
          <a:noFill/>
          <a:ln>
            <a:noFill/>
          </a:ln>
        </p:spPr>
        <p:txBody>
          <a:bodyPr spcFirstLastPara="1" wrap="square" lIns="68569" tIns="34275" rIns="68569" bIns="34275"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0070C0"/>
              </a:buClr>
              <a:buSzPts val="4400"/>
            </a:pPr>
            <a:r>
              <a:rPr lang="en-IN" sz="3300" b="1" dirty="0">
                <a:solidFill>
                  <a:srgbClr val="0070C0"/>
                </a:solidFill>
              </a:rPr>
              <a:t>Variational Autoencoder(VAE)</a:t>
            </a:r>
            <a:endParaRPr lang="en-IN" sz="3300" dirty="0"/>
          </a:p>
        </p:txBody>
      </p:sp>
      <p:sp>
        <p:nvSpPr>
          <p:cNvPr id="4" name="TextBox 3">
            <a:extLst>
              <a:ext uri="{FF2B5EF4-FFF2-40B4-BE49-F238E27FC236}">
                <a16:creationId xmlns:a16="http://schemas.microsoft.com/office/drawing/2014/main" id="{E48F20A9-5DC0-4094-A3F4-CCD526078031}"/>
              </a:ext>
            </a:extLst>
          </p:cNvPr>
          <p:cNvSpPr txBox="1"/>
          <p:nvPr/>
        </p:nvSpPr>
        <p:spPr>
          <a:xfrm>
            <a:off x="5936343" y="482043"/>
            <a:ext cx="3207656" cy="2585323"/>
          </a:xfrm>
          <a:prstGeom prst="rect">
            <a:avLst/>
          </a:prstGeom>
          <a:noFill/>
        </p:spPr>
        <p:txBody>
          <a:bodyPr wrap="square" rtlCol="0">
            <a:spAutoFit/>
          </a:bodyPr>
          <a:lstStyle/>
          <a:p>
            <a:r>
              <a:rPr lang="en-IN" sz="1350" dirty="0"/>
              <a:t>Feature extraction refers to the process of transforming raw PPG signals into a set of meaningful numerical representations that capture the physiological characteristics of the waveform. These features may include time-domain, frequency-domain, statistical,</a:t>
            </a:r>
            <a:r>
              <a:rPr lang="en-US" sz="1350" dirty="0"/>
              <a:t> and morphological properties. In this work, instead of manually extracting features, a Variational Autoencoder is used to learn compact latent representations of the PPG signal, which are then used for blood pressure estimation.</a:t>
            </a:r>
            <a:endParaRPr lang="en-IN" sz="1350" dirty="0"/>
          </a:p>
        </p:txBody>
      </p:sp>
      <p:pic>
        <p:nvPicPr>
          <p:cNvPr id="5" name="Picture 4">
            <a:extLst>
              <a:ext uri="{FF2B5EF4-FFF2-40B4-BE49-F238E27FC236}">
                <a16:creationId xmlns:a16="http://schemas.microsoft.com/office/drawing/2014/main" id="{807518CF-FAD3-4212-A2AF-A1285B9D9219}"/>
              </a:ext>
            </a:extLst>
          </p:cNvPr>
          <p:cNvPicPr>
            <a:picLocks noChangeAspect="1"/>
          </p:cNvPicPr>
          <p:nvPr/>
        </p:nvPicPr>
        <p:blipFill>
          <a:blip r:embed="rId2"/>
          <a:stretch>
            <a:fillRect/>
          </a:stretch>
        </p:blipFill>
        <p:spPr>
          <a:xfrm>
            <a:off x="59299" y="509387"/>
            <a:ext cx="5877043" cy="2062363"/>
          </a:xfrm>
          <a:prstGeom prst="rect">
            <a:avLst/>
          </a:prstGeom>
          <a:ln>
            <a:solidFill>
              <a:schemeClr val="tx1"/>
            </a:solidFill>
          </a:ln>
        </p:spPr>
      </p:pic>
      <p:pic>
        <p:nvPicPr>
          <p:cNvPr id="10" name="Picture 9">
            <a:extLst>
              <a:ext uri="{FF2B5EF4-FFF2-40B4-BE49-F238E27FC236}">
                <a16:creationId xmlns:a16="http://schemas.microsoft.com/office/drawing/2014/main" id="{7B72BF9E-07D9-4506-8F90-8500258DFEA0}"/>
              </a:ext>
            </a:extLst>
          </p:cNvPr>
          <p:cNvPicPr>
            <a:picLocks noChangeAspect="1"/>
          </p:cNvPicPr>
          <p:nvPr/>
        </p:nvPicPr>
        <p:blipFill rotWithShape="1">
          <a:blip r:embed="rId3">
            <a:extLst>
              <a:ext uri="{28A0092B-C50C-407E-A947-70E740481C1C}">
                <a14:useLocalDpi xmlns:a14="http://schemas.microsoft.com/office/drawing/2010/main" val="0"/>
              </a:ext>
            </a:extLst>
          </a:blip>
          <a:srcRect l="-1" t="740" r="1023"/>
          <a:stretch/>
        </p:blipFill>
        <p:spPr>
          <a:xfrm>
            <a:off x="37570" y="2599094"/>
            <a:ext cx="5660569" cy="2585322"/>
          </a:xfrm>
          <a:prstGeom prst="rect">
            <a:avLst/>
          </a:prstGeom>
        </p:spPr>
      </p:pic>
      <p:pic>
        <p:nvPicPr>
          <p:cNvPr id="12" name="Picture 11">
            <a:extLst>
              <a:ext uri="{FF2B5EF4-FFF2-40B4-BE49-F238E27FC236}">
                <a16:creationId xmlns:a16="http://schemas.microsoft.com/office/drawing/2014/main" id="{14558707-84DB-4E1F-B486-3272D47132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7504" y="3566771"/>
            <a:ext cx="3429559" cy="1520164"/>
          </a:xfrm>
          <a:prstGeom prst="rect">
            <a:avLst/>
          </a:prstGeom>
          <a:ln>
            <a:solidFill>
              <a:schemeClr val="tx1">
                <a:lumMod val="65000"/>
                <a:lumOff val="35000"/>
              </a:schemeClr>
            </a:solidFill>
          </a:ln>
        </p:spPr>
      </p:pic>
      <p:pic>
        <p:nvPicPr>
          <p:cNvPr id="14" name="Picture 13">
            <a:extLst>
              <a:ext uri="{FF2B5EF4-FFF2-40B4-BE49-F238E27FC236}">
                <a16:creationId xmlns:a16="http://schemas.microsoft.com/office/drawing/2014/main" id="{25D64A70-CC59-43C7-82E2-664149964DD1}"/>
              </a:ext>
            </a:extLst>
          </p:cNvPr>
          <p:cNvPicPr>
            <a:picLocks noChangeAspect="1"/>
          </p:cNvPicPr>
          <p:nvPr/>
        </p:nvPicPr>
        <p:blipFill>
          <a:blip r:embed="rId5"/>
          <a:stretch>
            <a:fillRect/>
          </a:stretch>
        </p:blipFill>
        <p:spPr>
          <a:xfrm>
            <a:off x="6290817" y="3063554"/>
            <a:ext cx="2614978" cy="414395"/>
          </a:xfrm>
          <a:prstGeom prst="rect">
            <a:avLst/>
          </a:prstGeom>
        </p:spPr>
      </p:pic>
    </p:spTree>
    <p:extLst>
      <p:ext uri="{BB962C8B-B14F-4D97-AF65-F5344CB8AC3E}">
        <p14:creationId xmlns:p14="http://schemas.microsoft.com/office/powerpoint/2010/main" val="1818663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ircle(in)">
                                      <p:cBhvr>
                                        <p:cTn id="14"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4CE208-171F-4132-927A-CB753E31B79F}"/>
              </a:ext>
            </a:extLst>
          </p:cNvPr>
          <p:cNvSpPr txBox="1"/>
          <p:nvPr/>
        </p:nvSpPr>
        <p:spPr>
          <a:xfrm>
            <a:off x="114301" y="37884"/>
            <a:ext cx="3479006" cy="461665"/>
          </a:xfrm>
          <a:prstGeom prst="rect">
            <a:avLst/>
          </a:prstGeom>
          <a:noFill/>
        </p:spPr>
        <p:txBody>
          <a:bodyPr wrap="square" rtlCol="0">
            <a:spAutoFit/>
          </a:bodyPr>
          <a:lstStyle/>
          <a:p>
            <a:r>
              <a:rPr lang="en-US" sz="2400" b="1" dirty="0">
                <a:solidFill>
                  <a:schemeClr val="accent5"/>
                </a:solidFill>
                <a:latin typeface="Arial" panose="020B0604020202020204" pitchFamily="34" charset="0"/>
                <a:cs typeface="Arial" panose="020B0604020202020204" pitchFamily="34" charset="0"/>
              </a:rPr>
              <a:t>Random Forest</a:t>
            </a:r>
            <a:endParaRPr lang="en-IN" sz="2400" b="1" dirty="0">
              <a:solidFill>
                <a:schemeClr val="accent5"/>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E5215F0-1E7D-4F89-827C-B92A4A4556DE}"/>
              </a:ext>
            </a:extLst>
          </p:cNvPr>
          <p:cNvSpPr/>
          <p:nvPr/>
        </p:nvSpPr>
        <p:spPr>
          <a:xfrm>
            <a:off x="0" y="4243254"/>
            <a:ext cx="9144000" cy="923330"/>
          </a:xfrm>
          <a:prstGeom prst="rect">
            <a:avLst/>
          </a:prstGeom>
          <a:solidFill>
            <a:srgbClr val="92D050"/>
          </a:solidFill>
        </p:spPr>
        <p:txBody>
          <a:bodyPr wrap="square">
            <a:spAutoFit/>
          </a:bodyPr>
          <a:lstStyle/>
          <a:p>
            <a:r>
              <a:rPr lang="en-IN" sz="1350" dirty="0">
                <a:latin typeface="Arial" panose="020B0604020202020204" pitchFamily="34" charset="0"/>
                <a:cs typeface="Arial" panose="020B0604020202020204" pitchFamily="34" charset="0"/>
              </a:rPr>
              <a:t>In the proposed system, Random Forest regression is employed to estimate SBP and DBP from features extracted from PPG signals. Random Forest is particularly suitable for this application due to its ability to model complex nonlinear relationships, robustness to noise in physiological signals, and resistance to overfitting. Furthermore, it requires minimal parameter tuning and provides reliable performance even with moderate-sized biomedical datasets.</a:t>
            </a:r>
          </a:p>
        </p:txBody>
      </p:sp>
      <p:pic>
        <p:nvPicPr>
          <p:cNvPr id="4" name="Picture 3">
            <a:extLst>
              <a:ext uri="{FF2B5EF4-FFF2-40B4-BE49-F238E27FC236}">
                <a16:creationId xmlns:a16="http://schemas.microsoft.com/office/drawing/2014/main" id="{36CCAD93-7CE2-4C92-BE5C-80914EB7FC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92906"/>
            <a:ext cx="9144000" cy="3850347"/>
          </a:xfrm>
          <a:prstGeom prst="rect">
            <a:avLst/>
          </a:prstGeom>
        </p:spPr>
      </p:pic>
    </p:spTree>
    <p:extLst>
      <p:ext uri="{BB962C8B-B14F-4D97-AF65-F5344CB8AC3E}">
        <p14:creationId xmlns:p14="http://schemas.microsoft.com/office/powerpoint/2010/main" val="1099165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82F97A-CEFD-4646-8061-D199326F3A16}"/>
              </a:ext>
            </a:extLst>
          </p:cNvPr>
          <p:cNvPicPr>
            <a:picLocks noChangeAspect="1"/>
          </p:cNvPicPr>
          <p:nvPr/>
        </p:nvPicPr>
        <p:blipFill>
          <a:blip r:embed="rId2"/>
          <a:stretch>
            <a:fillRect/>
          </a:stretch>
        </p:blipFill>
        <p:spPr>
          <a:xfrm>
            <a:off x="211176" y="470396"/>
            <a:ext cx="4894730" cy="2381850"/>
          </a:xfrm>
          <a:prstGeom prst="rect">
            <a:avLst/>
          </a:prstGeom>
        </p:spPr>
      </p:pic>
      <p:sp>
        <p:nvSpPr>
          <p:cNvPr id="4" name="Google Shape;103;p2">
            <a:extLst>
              <a:ext uri="{FF2B5EF4-FFF2-40B4-BE49-F238E27FC236}">
                <a16:creationId xmlns:a16="http://schemas.microsoft.com/office/drawing/2014/main" id="{50482962-5647-4399-A5FC-4338F5F138FF}"/>
              </a:ext>
            </a:extLst>
          </p:cNvPr>
          <p:cNvSpPr txBox="1">
            <a:spLocks noGrp="1"/>
          </p:cNvSpPr>
          <p:nvPr>
            <p:ph type="ftr" idx="11"/>
          </p:nvPr>
        </p:nvSpPr>
        <p:spPr>
          <a:xfrm>
            <a:off x="2701944" y="4677711"/>
            <a:ext cx="2020054" cy="363396"/>
          </a:xfrm>
          <a:prstGeom prst="rect">
            <a:avLst/>
          </a:prstGeom>
          <a:noFill/>
          <a:ln>
            <a:noFill/>
          </a:ln>
        </p:spPr>
        <p:txBody>
          <a:bodyPr spcFirstLastPara="1" wrap="square" lIns="68569" tIns="34275" rIns="68569" bIns="34275" anchor="ctr" anchorCtr="0">
            <a:noAutofit/>
          </a:bodyPr>
          <a:lstStyle/>
          <a:p>
            <a:pPr algn="ctr"/>
            <a:r>
              <a:rPr lang="en-IN" sz="800" dirty="0"/>
              <a:t>Project Work Foundation (ECP4.1.9)</a:t>
            </a:r>
            <a:endParaRPr sz="800" dirty="0"/>
          </a:p>
        </p:txBody>
      </p:sp>
      <p:sp>
        <p:nvSpPr>
          <p:cNvPr id="5" name="Google Shape;104;p2">
            <a:extLst>
              <a:ext uri="{FF2B5EF4-FFF2-40B4-BE49-F238E27FC236}">
                <a16:creationId xmlns:a16="http://schemas.microsoft.com/office/drawing/2014/main" id="{F999F67E-BF6E-4F12-90A9-85548D016974}"/>
              </a:ext>
            </a:extLst>
          </p:cNvPr>
          <p:cNvSpPr txBox="1">
            <a:spLocks noGrp="1"/>
          </p:cNvSpPr>
          <p:nvPr>
            <p:ph type="sldNum" idx="12"/>
          </p:nvPr>
        </p:nvSpPr>
        <p:spPr>
          <a:xfrm>
            <a:off x="6239946" y="4677711"/>
            <a:ext cx="1346703" cy="363396"/>
          </a:xfrm>
          <a:prstGeom prst="rect">
            <a:avLst/>
          </a:prstGeom>
          <a:noFill/>
          <a:ln>
            <a:noFill/>
          </a:ln>
        </p:spPr>
        <p:txBody>
          <a:bodyPr spcFirstLastPara="1" wrap="square" lIns="68569" tIns="34275" rIns="68569" bIns="34275" anchor="ctr" anchorCtr="0">
            <a:noAutofit/>
          </a:bodyPr>
          <a:lstStyle/>
          <a:p>
            <a:pPr algn="r"/>
            <a:fld id="{00000000-1234-1234-1234-123412341234}" type="slidenum">
              <a:rPr lang="en-IN"/>
              <a:pPr algn="r"/>
              <a:t>13</a:t>
            </a:fld>
            <a:endParaRPr/>
          </a:p>
        </p:txBody>
      </p:sp>
      <p:grpSp>
        <p:nvGrpSpPr>
          <p:cNvPr id="6" name="Group 5">
            <a:extLst>
              <a:ext uri="{FF2B5EF4-FFF2-40B4-BE49-F238E27FC236}">
                <a16:creationId xmlns:a16="http://schemas.microsoft.com/office/drawing/2014/main" id="{DDD6DBE7-F526-449B-B712-B91904409627}"/>
              </a:ext>
            </a:extLst>
          </p:cNvPr>
          <p:cNvGrpSpPr/>
          <p:nvPr/>
        </p:nvGrpSpPr>
        <p:grpSpPr>
          <a:xfrm>
            <a:off x="254579" y="3012227"/>
            <a:ext cx="4894730" cy="2028880"/>
            <a:chOff x="5519736" y="339447"/>
            <a:chExt cx="6181725" cy="3053693"/>
          </a:xfrm>
        </p:grpSpPr>
        <p:sp>
          <p:nvSpPr>
            <p:cNvPr id="7" name="Rectangle 6">
              <a:extLst>
                <a:ext uri="{FF2B5EF4-FFF2-40B4-BE49-F238E27FC236}">
                  <a16:creationId xmlns:a16="http://schemas.microsoft.com/office/drawing/2014/main" id="{703E2034-2B46-4227-9A1D-5385E7D25FCD}"/>
                </a:ext>
              </a:extLst>
            </p:cNvPr>
            <p:cNvSpPr/>
            <p:nvPr/>
          </p:nvSpPr>
          <p:spPr>
            <a:xfrm>
              <a:off x="5519736" y="339447"/>
              <a:ext cx="6181725" cy="30099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8" name="TextBox 7">
              <a:extLst>
                <a:ext uri="{FF2B5EF4-FFF2-40B4-BE49-F238E27FC236}">
                  <a16:creationId xmlns:a16="http://schemas.microsoft.com/office/drawing/2014/main" id="{5D296641-9E9F-4462-AAC6-B43677C709C7}"/>
                </a:ext>
              </a:extLst>
            </p:cNvPr>
            <p:cNvSpPr txBox="1"/>
            <p:nvPr/>
          </p:nvSpPr>
          <p:spPr>
            <a:xfrm>
              <a:off x="5705534" y="439995"/>
              <a:ext cx="5648324" cy="2953145"/>
            </a:xfrm>
            <a:prstGeom prst="rect">
              <a:avLst/>
            </a:prstGeom>
            <a:noFill/>
          </p:spPr>
          <p:txBody>
            <a:bodyPr wrap="square" rtlCol="0">
              <a:spAutoFit/>
            </a:bodyPr>
            <a:lstStyle/>
            <a:p>
              <a:r>
                <a:rPr lang="en-US" sz="1350" dirty="0"/>
                <a:t>Non-Invasive Blood Pressure (NIBP) standards are internationally accepted guide lines that ensure the accuracy and reliability of blood pressure measurement devices without invasive methods. They define validation procedures and performance requirements by comparing device readings with reference methods. Organizations such as AAMI, ISO, and ESH specify acceptable limits, </a:t>
              </a:r>
              <a:r>
                <a:rPr lang="en-US" sz="1350" b="1" dirty="0"/>
                <a:t>typically a mean error within ±5 mmHg and a standard deviation within 8 mmHg.</a:t>
              </a:r>
              <a:endParaRPr lang="en-IN" sz="1350" b="1" dirty="0"/>
            </a:p>
          </p:txBody>
        </p:sp>
      </p:grpSp>
      <p:sp>
        <p:nvSpPr>
          <p:cNvPr id="9" name="Rectangle 8">
            <a:extLst>
              <a:ext uri="{FF2B5EF4-FFF2-40B4-BE49-F238E27FC236}">
                <a16:creationId xmlns:a16="http://schemas.microsoft.com/office/drawing/2014/main" id="{989B032E-FC96-407E-86BA-51AFCF9EC537}"/>
              </a:ext>
            </a:extLst>
          </p:cNvPr>
          <p:cNvSpPr/>
          <p:nvPr/>
        </p:nvSpPr>
        <p:spPr>
          <a:xfrm>
            <a:off x="0" y="-11906"/>
            <a:ext cx="9245600" cy="415498"/>
          </a:xfrm>
          <a:prstGeom prst="rect">
            <a:avLst/>
          </a:prstGeom>
        </p:spPr>
        <p:txBody>
          <a:bodyPr wrap="square">
            <a:spAutoFit/>
          </a:bodyPr>
          <a:lstStyle/>
          <a:p>
            <a:pPr>
              <a:buClr>
                <a:srgbClr val="0070C0"/>
              </a:buClr>
              <a:buSzPts val="4400"/>
            </a:pPr>
            <a:r>
              <a:rPr lang="en-US" sz="2100" b="1" dirty="0">
                <a:solidFill>
                  <a:srgbClr val="0070C0"/>
                </a:solidFill>
              </a:rPr>
              <a:t>Statistical Performance Metrics (ME, MAE and SDE) for Blood Pressure Estimation</a:t>
            </a:r>
            <a:endParaRPr lang="en-IN" sz="2100" dirty="0"/>
          </a:p>
        </p:txBody>
      </p:sp>
      <p:sp>
        <p:nvSpPr>
          <p:cNvPr id="10" name="Rectangle 9">
            <a:extLst>
              <a:ext uri="{FF2B5EF4-FFF2-40B4-BE49-F238E27FC236}">
                <a16:creationId xmlns:a16="http://schemas.microsoft.com/office/drawing/2014/main" id="{C125F206-6D21-4DBB-AFA6-9A88E7FE6952}"/>
              </a:ext>
            </a:extLst>
          </p:cNvPr>
          <p:cNvSpPr/>
          <p:nvPr/>
        </p:nvSpPr>
        <p:spPr>
          <a:xfrm>
            <a:off x="7981950" y="3143716"/>
            <a:ext cx="1073150" cy="24718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pic>
        <p:nvPicPr>
          <p:cNvPr id="11" name="Picture 10">
            <a:extLst>
              <a:ext uri="{FF2B5EF4-FFF2-40B4-BE49-F238E27FC236}">
                <a16:creationId xmlns:a16="http://schemas.microsoft.com/office/drawing/2014/main" id="{51D96698-F381-49B8-A072-1F3621D032F2}"/>
              </a:ext>
            </a:extLst>
          </p:cNvPr>
          <p:cNvPicPr>
            <a:picLocks noChangeAspect="1"/>
          </p:cNvPicPr>
          <p:nvPr/>
        </p:nvPicPr>
        <p:blipFill>
          <a:blip r:embed="rId3"/>
          <a:stretch>
            <a:fillRect/>
          </a:stretch>
        </p:blipFill>
        <p:spPr>
          <a:xfrm>
            <a:off x="5105906" y="538701"/>
            <a:ext cx="1193675" cy="478457"/>
          </a:xfrm>
          <a:prstGeom prst="rect">
            <a:avLst/>
          </a:prstGeom>
        </p:spPr>
      </p:pic>
      <p:pic>
        <p:nvPicPr>
          <p:cNvPr id="12" name="Picture 11">
            <a:extLst>
              <a:ext uri="{FF2B5EF4-FFF2-40B4-BE49-F238E27FC236}">
                <a16:creationId xmlns:a16="http://schemas.microsoft.com/office/drawing/2014/main" id="{74D017D1-FA32-4FAC-A008-8586B3A9AE18}"/>
              </a:ext>
            </a:extLst>
          </p:cNvPr>
          <p:cNvPicPr>
            <a:picLocks noChangeAspect="1"/>
          </p:cNvPicPr>
          <p:nvPr/>
        </p:nvPicPr>
        <p:blipFill>
          <a:blip r:embed="rId4"/>
          <a:stretch>
            <a:fillRect/>
          </a:stretch>
        </p:blipFill>
        <p:spPr>
          <a:xfrm>
            <a:off x="7756211" y="518818"/>
            <a:ext cx="1282460" cy="488321"/>
          </a:xfrm>
          <a:prstGeom prst="rect">
            <a:avLst/>
          </a:prstGeom>
        </p:spPr>
      </p:pic>
      <p:pic>
        <p:nvPicPr>
          <p:cNvPr id="13" name="Picture 12">
            <a:extLst>
              <a:ext uri="{FF2B5EF4-FFF2-40B4-BE49-F238E27FC236}">
                <a16:creationId xmlns:a16="http://schemas.microsoft.com/office/drawing/2014/main" id="{81CAEA19-C40E-4B90-9B5E-E22792523EC2}"/>
              </a:ext>
            </a:extLst>
          </p:cNvPr>
          <p:cNvPicPr>
            <a:picLocks noChangeAspect="1"/>
          </p:cNvPicPr>
          <p:nvPr/>
        </p:nvPicPr>
        <p:blipFill rotWithShape="1">
          <a:blip r:embed="rId5"/>
          <a:srcRect t="5658" b="6446"/>
          <a:stretch/>
        </p:blipFill>
        <p:spPr>
          <a:xfrm>
            <a:off x="6386666" y="494178"/>
            <a:ext cx="1282460" cy="537602"/>
          </a:xfrm>
          <a:prstGeom prst="rect">
            <a:avLst/>
          </a:prstGeom>
        </p:spPr>
      </p:pic>
      <p:pic>
        <p:nvPicPr>
          <p:cNvPr id="14" name="Picture 13">
            <a:extLst>
              <a:ext uri="{FF2B5EF4-FFF2-40B4-BE49-F238E27FC236}">
                <a16:creationId xmlns:a16="http://schemas.microsoft.com/office/drawing/2014/main" id="{8E87CB82-2369-4F64-BF82-464E5B40CE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3292" y="3079031"/>
            <a:ext cx="3694464" cy="1999784"/>
          </a:xfrm>
          <a:prstGeom prst="rect">
            <a:avLst/>
          </a:prstGeom>
        </p:spPr>
      </p:pic>
      <p:pic>
        <p:nvPicPr>
          <p:cNvPr id="15" name="Picture 14">
            <a:extLst>
              <a:ext uri="{FF2B5EF4-FFF2-40B4-BE49-F238E27FC236}">
                <a16:creationId xmlns:a16="http://schemas.microsoft.com/office/drawing/2014/main" id="{FC1C3EB4-1338-4CBA-A7BF-30AD4DA010F7}"/>
              </a:ext>
            </a:extLst>
          </p:cNvPr>
          <p:cNvPicPr>
            <a:picLocks noChangeAspect="1"/>
          </p:cNvPicPr>
          <p:nvPr/>
        </p:nvPicPr>
        <p:blipFill rotWithShape="1">
          <a:blip r:embed="rId7">
            <a:extLst>
              <a:ext uri="{28A0092B-C50C-407E-A947-70E740481C1C}">
                <a14:useLocalDpi xmlns:a14="http://schemas.microsoft.com/office/drawing/2010/main" val="0"/>
              </a:ext>
            </a:extLst>
          </a:blip>
          <a:srcRect b="3000"/>
          <a:stretch/>
        </p:blipFill>
        <p:spPr>
          <a:xfrm>
            <a:off x="5255156" y="1075987"/>
            <a:ext cx="3783515" cy="1950137"/>
          </a:xfrm>
          <a:prstGeom prst="rect">
            <a:avLst/>
          </a:prstGeom>
        </p:spPr>
      </p:pic>
    </p:spTree>
    <p:extLst>
      <p:ext uri="{BB962C8B-B14F-4D97-AF65-F5344CB8AC3E}">
        <p14:creationId xmlns:p14="http://schemas.microsoft.com/office/powerpoint/2010/main" val="3901655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000"/>
                                        <p:tgtEl>
                                          <p:spTgt spid="12"/>
                                        </p:tgtEl>
                                      </p:cBhvr>
                                    </p:animEffect>
                                    <p:anim calcmode="lin" valueType="num">
                                      <p:cBhvr>
                                        <p:cTn id="26" dur="1000" fill="hold"/>
                                        <p:tgtEl>
                                          <p:spTgt spid="12"/>
                                        </p:tgtEl>
                                        <p:attrNameLst>
                                          <p:attrName>ppt_x</p:attrName>
                                        </p:attrNameLst>
                                      </p:cBhvr>
                                      <p:tavLst>
                                        <p:tav tm="0">
                                          <p:val>
                                            <p:strVal val="#ppt_x"/>
                                          </p:val>
                                        </p:tav>
                                        <p:tav tm="100000">
                                          <p:val>
                                            <p:strVal val="#ppt_x"/>
                                          </p:val>
                                        </p:tav>
                                      </p:tavLst>
                                    </p:anim>
                                    <p:anim calcmode="lin" valueType="num">
                                      <p:cBhvr>
                                        <p:cTn id="2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System Architecture</a:t>
            </a:r>
            <a:endParaRPr lang="en-US" sz="2000" dirty="0"/>
          </a:p>
        </p:txBody>
      </p:sp>
      <p:sp>
        <p:nvSpPr>
          <p:cNvPr id="4" name="Shape 2"/>
          <p:cNvSpPr/>
          <p:nvPr/>
        </p:nvSpPr>
        <p:spPr>
          <a:xfrm>
            <a:off x="0" y="4892040"/>
            <a:ext cx="9144000" cy="251460"/>
          </a:xfrm>
          <a:prstGeom prst="rect">
            <a:avLst/>
          </a:prstGeom>
          <a:solidFill>
            <a:srgbClr val="0D2B4E"/>
          </a:solidFill>
          <a:ln w="12700">
            <a:solidFill>
              <a:srgbClr val="0D2B4E"/>
            </a:solidFill>
            <a:prstDash val="solid"/>
          </a:ln>
        </p:spPr>
      </p:sp>
      <p:sp>
        <p:nvSpPr>
          <p:cNvPr id="5" name="Text 3"/>
          <p:cNvSpPr/>
          <p:nvPr/>
        </p:nvSpPr>
        <p:spPr>
          <a:xfrm>
            <a:off x="274320" y="4892040"/>
            <a:ext cx="7772400" cy="251460"/>
          </a:xfrm>
          <a:prstGeom prst="rect">
            <a:avLst/>
          </a:prstGeom>
          <a:noFill/>
          <a:ln/>
        </p:spPr>
        <p:txBody>
          <a:bodyPr wrap="square" lIns="0" tIns="0" rIns="0" bIns="0" rtlCol="0" anchor="ctr"/>
          <a:lstStyle/>
          <a:p>
            <a:r>
              <a:rPr lang="en-US" sz="900" dirty="0">
                <a:solidFill>
                  <a:srgbClr val="99C8D6"/>
                </a:solidFill>
                <a:latin typeface="Calibri" pitchFamily="34" charset="0"/>
                <a:ea typeface="Calibri" pitchFamily="34" charset="-122"/>
                <a:cs typeface="Calibri" pitchFamily="34" charset="-120"/>
              </a:rPr>
              <a:t>BP Estimator | IRPE, University of Calcutta</a:t>
            </a:r>
            <a:endParaRPr lang="en-US" sz="9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ctr">
              <a:buNone/>
            </a:pPr>
            <a:endParaRPr lang="en-US" sz="900" dirty="0"/>
          </a:p>
        </p:txBody>
      </p:sp>
      <p:sp>
        <p:nvSpPr>
          <p:cNvPr id="7" name="Shape 5"/>
          <p:cNvSpPr/>
          <p:nvPr/>
        </p:nvSpPr>
        <p:spPr>
          <a:xfrm>
            <a:off x="603504" y="960120"/>
            <a:ext cx="1261872" cy="1005840"/>
          </a:xfrm>
          <a:prstGeom prst="rect">
            <a:avLst/>
          </a:prstGeom>
          <a:solidFill>
            <a:srgbClr val="0D2B4E"/>
          </a:solidFill>
          <a:ln w="12700">
            <a:solidFill>
              <a:srgbClr val="0D2B4E"/>
            </a:solidFill>
            <a:prstDash val="solid"/>
          </a:ln>
          <a:effectLst>
            <a:outerShdw blurRad="101600" dist="38100" dir="8100000" algn="bl" rotWithShape="0">
              <a:srgbClr val="000000">
                <a:alpha val="12000"/>
              </a:srgbClr>
            </a:outerShdw>
          </a:effectLst>
        </p:spPr>
      </p:sp>
      <p:sp>
        <p:nvSpPr>
          <p:cNvPr id="8" name="Text 6"/>
          <p:cNvSpPr/>
          <p:nvPr/>
        </p:nvSpPr>
        <p:spPr>
          <a:xfrm>
            <a:off x="603504" y="1033272"/>
            <a:ext cx="126187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TCRT1000</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PPG Sensor</a:t>
            </a:r>
            <a:endParaRPr lang="en-US" sz="1150" dirty="0"/>
          </a:p>
        </p:txBody>
      </p:sp>
      <p:sp>
        <p:nvSpPr>
          <p:cNvPr id="9" name="Text 7"/>
          <p:cNvSpPr/>
          <p:nvPr/>
        </p:nvSpPr>
        <p:spPr>
          <a:xfrm>
            <a:off x="603504" y="1527048"/>
            <a:ext cx="1261872" cy="384048"/>
          </a:xfrm>
          <a:prstGeom prst="rect">
            <a:avLst/>
          </a:prstGeom>
          <a:noFill/>
          <a:ln/>
        </p:spPr>
        <p:txBody>
          <a:bodyPr wrap="square" lIns="0" tIns="0" rIns="0" bIns="0" rtlCol="0" anchor="ctr"/>
          <a:lstStyle/>
          <a:p>
            <a:pPr marL="0" indent="0" algn="ctr">
              <a:buNone/>
            </a:pPr>
            <a:r>
              <a:rPr lang="en-US" sz="900" dirty="0">
                <a:solidFill>
                  <a:srgbClr val="B8D8E0"/>
                </a:solidFill>
                <a:latin typeface="Calibri" pitchFamily="34" charset="0"/>
                <a:ea typeface="Calibri" pitchFamily="34" charset="-122"/>
                <a:cs typeface="Calibri" pitchFamily="34" charset="-120"/>
              </a:rPr>
              <a:t>IR LED +</a:t>
            </a:r>
            <a:endParaRPr lang="en-US" sz="900" dirty="0"/>
          </a:p>
          <a:p>
            <a:pPr marL="0" indent="0" algn="ctr">
              <a:buNone/>
            </a:pPr>
            <a:r>
              <a:rPr lang="en-US" sz="900" dirty="0">
                <a:solidFill>
                  <a:srgbClr val="B8D8E0"/>
                </a:solidFill>
                <a:latin typeface="Calibri" pitchFamily="34" charset="0"/>
                <a:ea typeface="Calibri" pitchFamily="34" charset="-122"/>
                <a:cs typeface="Calibri" pitchFamily="34" charset="-120"/>
              </a:rPr>
              <a:t>Phototransistor</a:t>
            </a:r>
            <a:endParaRPr lang="en-US" sz="900" dirty="0"/>
          </a:p>
        </p:txBody>
      </p:sp>
      <p:sp>
        <p:nvSpPr>
          <p:cNvPr id="10" name="Shape 8"/>
          <p:cNvSpPr/>
          <p:nvPr/>
        </p:nvSpPr>
        <p:spPr>
          <a:xfrm>
            <a:off x="1865376" y="1399032"/>
            <a:ext cx="73152" cy="109728"/>
          </a:xfrm>
          <a:prstGeom prst="rect">
            <a:avLst/>
          </a:prstGeom>
          <a:solidFill>
            <a:srgbClr val="64748B"/>
          </a:solidFill>
          <a:ln w="12700">
            <a:solidFill>
              <a:srgbClr val="64748B"/>
            </a:solidFill>
            <a:prstDash val="solid"/>
          </a:ln>
        </p:spPr>
      </p:sp>
      <p:sp>
        <p:nvSpPr>
          <p:cNvPr id="11" name="Text 9"/>
          <p:cNvSpPr/>
          <p:nvPr/>
        </p:nvSpPr>
        <p:spPr>
          <a:xfrm>
            <a:off x="1856232" y="1307592"/>
            <a:ext cx="164592" cy="25603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1938528" y="960120"/>
            <a:ext cx="1261872" cy="1005840"/>
          </a:xfrm>
          <a:prstGeom prst="rect">
            <a:avLst/>
          </a:prstGeom>
          <a:solidFill>
            <a:srgbClr val="0B7A8F"/>
          </a:solidFill>
          <a:ln w="12700">
            <a:solidFill>
              <a:srgbClr val="0B7A8F"/>
            </a:solidFill>
            <a:prstDash val="solid"/>
          </a:ln>
          <a:effectLst>
            <a:outerShdw blurRad="101600" dist="38100" dir="8100000" algn="bl" rotWithShape="0">
              <a:srgbClr val="000000">
                <a:alpha val="12000"/>
              </a:srgbClr>
            </a:outerShdw>
          </a:effectLst>
        </p:spPr>
      </p:sp>
      <p:sp>
        <p:nvSpPr>
          <p:cNvPr id="13" name="Text 11"/>
          <p:cNvSpPr/>
          <p:nvPr/>
        </p:nvSpPr>
        <p:spPr>
          <a:xfrm>
            <a:off x="1938528" y="1033272"/>
            <a:ext cx="126187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Analog</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Front-End</a:t>
            </a:r>
            <a:endParaRPr lang="en-US" sz="1150" dirty="0"/>
          </a:p>
        </p:txBody>
      </p:sp>
      <p:sp>
        <p:nvSpPr>
          <p:cNvPr id="14" name="Text 12"/>
          <p:cNvSpPr/>
          <p:nvPr/>
        </p:nvSpPr>
        <p:spPr>
          <a:xfrm>
            <a:off x="1938528" y="1527048"/>
            <a:ext cx="1261872" cy="384048"/>
          </a:xfrm>
          <a:prstGeom prst="rect">
            <a:avLst/>
          </a:prstGeom>
          <a:noFill/>
          <a:ln/>
        </p:spPr>
        <p:txBody>
          <a:bodyPr wrap="square" lIns="0" tIns="0" rIns="0" bIns="0" rtlCol="0" anchor="ctr"/>
          <a:lstStyle/>
          <a:p>
            <a:pPr marL="0" indent="0" algn="ctr">
              <a:buNone/>
            </a:pPr>
            <a:r>
              <a:rPr lang="en-US" sz="900" dirty="0">
                <a:solidFill>
                  <a:srgbClr val="B8D8E0"/>
                </a:solidFill>
                <a:latin typeface="Calibri" pitchFamily="34" charset="0"/>
                <a:ea typeface="Calibri" pitchFamily="34" charset="-122"/>
                <a:cs typeface="Calibri" pitchFamily="34" charset="-120"/>
              </a:rPr>
              <a:t>TIA + HPF</a:t>
            </a:r>
            <a:endParaRPr lang="en-US" sz="900" dirty="0"/>
          </a:p>
          <a:p>
            <a:pPr marL="0" indent="0" algn="ctr">
              <a:buNone/>
            </a:pPr>
            <a:r>
              <a:rPr lang="en-US" sz="900" dirty="0">
                <a:solidFill>
                  <a:srgbClr val="B8D8E0"/>
                </a:solidFill>
                <a:latin typeface="Calibri" pitchFamily="34" charset="0"/>
                <a:ea typeface="Calibri" pitchFamily="34" charset="-122"/>
                <a:cs typeface="Calibri" pitchFamily="34" charset="-120"/>
              </a:rPr>
              <a:t>+ LPF (OP-07)</a:t>
            </a:r>
            <a:endParaRPr lang="en-US" sz="900" dirty="0"/>
          </a:p>
        </p:txBody>
      </p:sp>
      <p:sp>
        <p:nvSpPr>
          <p:cNvPr id="15" name="Shape 13"/>
          <p:cNvSpPr/>
          <p:nvPr/>
        </p:nvSpPr>
        <p:spPr>
          <a:xfrm>
            <a:off x="3200400" y="1399032"/>
            <a:ext cx="73152" cy="109728"/>
          </a:xfrm>
          <a:prstGeom prst="rect">
            <a:avLst/>
          </a:prstGeom>
          <a:solidFill>
            <a:srgbClr val="64748B"/>
          </a:solidFill>
          <a:ln w="12700">
            <a:solidFill>
              <a:srgbClr val="64748B"/>
            </a:solidFill>
            <a:prstDash val="solid"/>
          </a:ln>
        </p:spPr>
      </p:sp>
      <p:sp>
        <p:nvSpPr>
          <p:cNvPr id="16" name="Text 14"/>
          <p:cNvSpPr/>
          <p:nvPr/>
        </p:nvSpPr>
        <p:spPr>
          <a:xfrm>
            <a:off x="3191256" y="1307592"/>
            <a:ext cx="164592" cy="25603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3273552" y="960120"/>
            <a:ext cx="1261872" cy="1005840"/>
          </a:xfrm>
          <a:prstGeom prst="rect">
            <a:avLst/>
          </a:prstGeom>
          <a:solidFill>
            <a:srgbClr val="0B7A8F"/>
          </a:solidFill>
          <a:ln w="12700">
            <a:solidFill>
              <a:srgbClr val="0B7A8F"/>
            </a:solidFill>
            <a:prstDash val="solid"/>
          </a:ln>
          <a:effectLst>
            <a:outerShdw blurRad="101600" dist="38100" dir="8100000" algn="bl" rotWithShape="0">
              <a:srgbClr val="000000">
                <a:alpha val="12000"/>
              </a:srgbClr>
            </a:outerShdw>
          </a:effectLst>
        </p:spPr>
      </p:sp>
      <p:sp>
        <p:nvSpPr>
          <p:cNvPr id="18" name="Text 16"/>
          <p:cNvSpPr/>
          <p:nvPr/>
        </p:nvSpPr>
        <p:spPr>
          <a:xfrm>
            <a:off x="3273552" y="1033272"/>
            <a:ext cx="126187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ESP32</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ADC</a:t>
            </a:r>
            <a:endParaRPr lang="en-US" sz="1150" dirty="0"/>
          </a:p>
        </p:txBody>
      </p:sp>
      <p:sp>
        <p:nvSpPr>
          <p:cNvPr id="19" name="Text 17"/>
          <p:cNvSpPr/>
          <p:nvPr/>
        </p:nvSpPr>
        <p:spPr>
          <a:xfrm>
            <a:off x="3273552" y="1527048"/>
            <a:ext cx="1261872" cy="384048"/>
          </a:xfrm>
          <a:prstGeom prst="rect">
            <a:avLst/>
          </a:prstGeom>
          <a:noFill/>
          <a:ln/>
        </p:spPr>
        <p:txBody>
          <a:bodyPr wrap="square" lIns="0" tIns="0" rIns="0" bIns="0" rtlCol="0" anchor="ctr"/>
          <a:lstStyle/>
          <a:p>
            <a:pPr marL="0" indent="0" algn="ctr">
              <a:buNone/>
            </a:pPr>
            <a:r>
              <a:rPr lang="en-US" sz="900" dirty="0">
                <a:solidFill>
                  <a:srgbClr val="B8D8E0"/>
                </a:solidFill>
                <a:latin typeface="Calibri" pitchFamily="34" charset="0"/>
                <a:ea typeface="Calibri" pitchFamily="34" charset="-122"/>
                <a:cs typeface="Calibri" pitchFamily="34" charset="-120"/>
              </a:rPr>
              <a:t>12-bit, GPIO34</a:t>
            </a:r>
            <a:endParaRPr lang="en-US" sz="900" dirty="0"/>
          </a:p>
          <a:p>
            <a:pPr marL="0" indent="0" algn="ctr">
              <a:buNone/>
            </a:pPr>
            <a:r>
              <a:rPr lang="en-US" sz="900" dirty="0">
                <a:solidFill>
                  <a:srgbClr val="B8D8E0"/>
                </a:solidFill>
                <a:latin typeface="Calibri" pitchFamily="34" charset="0"/>
                <a:ea typeface="Calibri" pitchFamily="34" charset="-122"/>
                <a:cs typeface="Calibri" pitchFamily="34" charset="-120"/>
              </a:rPr>
              <a:t>101 Hz</a:t>
            </a:r>
            <a:endParaRPr lang="en-US" sz="900" dirty="0"/>
          </a:p>
        </p:txBody>
      </p:sp>
      <p:sp>
        <p:nvSpPr>
          <p:cNvPr id="20" name="Shape 18"/>
          <p:cNvSpPr/>
          <p:nvPr/>
        </p:nvSpPr>
        <p:spPr>
          <a:xfrm>
            <a:off x="4535424" y="1399032"/>
            <a:ext cx="73152" cy="109728"/>
          </a:xfrm>
          <a:prstGeom prst="rect">
            <a:avLst/>
          </a:prstGeom>
          <a:solidFill>
            <a:srgbClr val="64748B"/>
          </a:solidFill>
          <a:ln w="12700">
            <a:solidFill>
              <a:srgbClr val="64748B"/>
            </a:solidFill>
            <a:prstDash val="solid"/>
          </a:ln>
        </p:spPr>
      </p:sp>
      <p:sp>
        <p:nvSpPr>
          <p:cNvPr id="21" name="Text 19"/>
          <p:cNvSpPr/>
          <p:nvPr/>
        </p:nvSpPr>
        <p:spPr>
          <a:xfrm>
            <a:off x="4526280" y="1307592"/>
            <a:ext cx="164592" cy="25603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4608576" y="960120"/>
            <a:ext cx="1261872" cy="1005840"/>
          </a:xfrm>
          <a:prstGeom prst="rect">
            <a:avLst/>
          </a:prstGeom>
          <a:solidFill>
            <a:srgbClr val="0D2B4E"/>
          </a:solidFill>
          <a:ln w="12700">
            <a:solidFill>
              <a:srgbClr val="0D2B4E"/>
            </a:solidFill>
            <a:prstDash val="solid"/>
          </a:ln>
          <a:effectLst>
            <a:outerShdw blurRad="101600" dist="38100" dir="8100000" algn="bl" rotWithShape="0">
              <a:srgbClr val="000000">
                <a:alpha val="12000"/>
              </a:srgbClr>
            </a:outerShdw>
          </a:effectLst>
        </p:spPr>
      </p:sp>
      <p:sp>
        <p:nvSpPr>
          <p:cNvPr id="23" name="Text 21"/>
          <p:cNvSpPr/>
          <p:nvPr/>
        </p:nvSpPr>
        <p:spPr>
          <a:xfrm>
            <a:off x="4608576" y="1033272"/>
            <a:ext cx="126187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Raspberry</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Pi 4</a:t>
            </a:r>
            <a:endParaRPr lang="en-US" sz="1150" dirty="0"/>
          </a:p>
        </p:txBody>
      </p:sp>
      <p:sp>
        <p:nvSpPr>
          <p:cNvPr id="24" name="Text 22"/>
          <p:cNvSpPr/>
          <p:nvPr/>
        </p:nvSpPr>
        <p:spPr>
          <a:xfrm>
            <a:off x="4608576" y="1527048"/>
            <a:ext cx="1261872" cy="384048"/>
          </a:xfrm>
          <a:prstGeom prst="rect">
            <a:avLst/>
          </a:prstGeom>
          <a:noFill/>
          <a:ln/>
        </p:spPr>
        <p:txBody>
          <a:bodyPr wrap="square" lIns="0" tIns="0" rIns="0" bIns="0" rtlCol="0" anchor="ctr"/>
          <a:lstStyle/>
          <a:p>
            <a:pPr marL="0" indent="0" algn="ctr">
              <a:buNone/>
            </a:pPr>
            <a:r>
              <a:rPr lang="en-US" sz="900" dirty="0">
                <a:solidFill>
                  <a:srgbClr val="B8D8E0"/>
                </a:solidFill>
                <a:latin typeface="Calibri" pitchFamily="34" charset="0"/>
                <a:ea typeface="Calibri" pitchFamily="34" charset="-122"/>
                <a:cs typeface="Calibri" pitchFamily="34" charset="-120"/>
              </a:rPr>
              <a:t>Python inference</a:t>
            </a:r>
            <a:endParaRPr lang="en-US" sz="900" dirty="0"/>
          </a:p>
          <a:p>
            <a:pPr marL="0" indent="0" algn="ctr">
              <a:buNone/>
            </a:pPr>
            <a:r>
              <a:rPr lang="en-US" sz="900" dirty="0">
                <a:solidFill>
                  <a:srgbClr val="B8D8E0"/>
                </a:solidFill>
                <a:latin typeface="Calibri" pitchFamily="34" charset="0"/>
                <a:ea typeface="Calibri" pitchFamily="34" charset="-122"/>
                <a:cs typeface="Calibri" pitchFamily="34" charset="-120"/>
              </a:rPr>
              <a:t>bp_main.py</a:t>
            </a:r>
            <a:endParaRPr lang="en-US" sz="900" dirty="0"/>
          </a:p>
        </p:txBody>
      </p:sp>
      <p:sp>
        <p:nvSpPr>
          <p:cNvPr id="25" name="Shape 23"/>
          <p:cNvSpPr/>
          <p:nvPr/>
        </p:nvSpPr>
        <p:spPr>
          <a:xfrm>
            <a:off x="5870448" y="1399032"/>
            <a:ext cx="73152" cy="109728"/>
          </a:xfrm>
          <a:prstGeom prst="rect">
            <a:avLst/>
          </a:prstGeom>
          <a:solidFill>
            <a:srgbClr val="64748B"/>
          </a:solidFill>
          <a:ln w="12700">
            <a:solidFill>
              <a:srgbClr val="64748B"/>
            </a:solidFill>
            <a:prstDash val="solid"/>
          </a:ln>
        </p:spPr>
      </p:sp>
      <p:sp>
        <p:nvSpPr>
          <p:cNvPr id="26" name="Text 24"/>
          <p:cNvSpPr/>
          <p:nvPr/>
        </p:nvSpPr>
        <p:spPr>
          <a:xfrm>
            <a:off x="5861304" y="1307592"/>
            <a:ext cx="164592" cy="25603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5943600" y="960120"/>
            <a:ext cx="1261872" cy="1005840"/>
          </a:xfrm>
          <a:prstGeom prst="rect">
            <a:avLst/>
          </a:prstGeom>
          <a:solidFill>
            <a:srgbClr val="00B4A0"/>
          </a:solidFill>
          <a:ln w="12700">
            <a:solidFill>
              <a:srgbClr val="00B4A0"/>
            </a:solidFill>
            <a:prstDash val="solid"/>
          </a:ln>
          <a:effectLst>
            <a:outerShdw blurRad="101600" dist="38100" dir="8100000" algn="bl" rotWithShape="0">
              <a:srgbClr val="000000">
                <a:alpha val="12000"/>
              </a:srgbClr>
            </a:outerShdw>
          </a:effectLst>
        </p:spPr>
      </p:sp>
      <p:sp>
        <p:nvSpPr>
          <p:cNvPr id="28" name="Text 26"/>
          <p:cNvSpPr/>
          <p:nvPr/>
        </p:nvSpPr>
        <p:spPr>
          <a:xfrm>
            <a:off x="5943600" y="1033272"/>
            <a:ext cx="126187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VAE +</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Random Forest</a:t>
            </a:r>
            <a:endParaRPr lang="en-US" sz="1150" dirty="0"/>
          </a:p>
        </p:txBody>
      </p:sp>
      <p:sp>
        <p:nvSpPr>
          <p:cNvPr id="29" name="Text 27"/>
          <p:cNvSpPr/>
          <p:nvPr/>
        </p:nvSpPr>
        <p:spPr>
          <a:xfrm>
            <a:off x="5943600" y="1527048"/>
            <a:ext cx="1261872" cy="384048"/>
          </a:xfrm>
          <a:prstGeom prst="rect">
            <a:avLst/>
          </a:prstGeom>
          <a:noFill/>
          <a:ln/>
        </p:spPr>
        <p:txBody>
          <a:bodyPr wrap="square" lIns="0" tIns="0" rIns="0" bIns="0" rtlCol="0" anchor="ctr"/>
          <a:lstStyle/>
          <a:p>
            <a:pPr marL="0" indent="0" algn="ctr">
              <a:buNone/>
            </a:pPr>
            <a:r>
              <a:rPr lang="en-US" sz="900" dirty="0">
                <a:solidFill>
                  <a:srgbClr val="0D2B4E"/>
                </a:solidFill>
                <a:latin typeface="Calibri" pitchFamily="34" charset="0"/>
                <a:ea typeface="Calibri" pitchFamily="34" charset="-122"/>
                <a:cs typeface="Calibri" pitchFamily="34" charset="-120"/>
              </a:rPr>
              <a:t>SBP &amp; DBP</a:t>
            </a:r>
            <a:endParaRPr lang="en-US" sz="900" dirty="0"/>
          </a:p>
          <a:p>
            <a:pPr marL="0" indent="0" algn="ctr">
              <a:buNone/>
            </a:pPr>
            <a:r>
              <a:rPr lang="en-US" sz="900" dirty="0">
                <a:solidFill>
                  <a:srgbClr val="0D2B4E"/>
                </a:solidFill>
                <a:latin typeface="Calibri" pitchFamily="34" charset="0"/>
                <a:ea typeface="Calibri" pitchFamily="34" charset="-122"/>
                <a:cs typeface="Calibri" pitchFamily="34" charset="-120"/>
              </a:rPr>
              <a:t>regression</a:t>
            </a:r>
            <a:endParaRPr lang="en-US" sz="900" dirty="0"/>
          </a:p>
        </p:txBody>
      </p:sp>
      <p:sp>
        <p:nvSpPr>
          <p:cNvPr id="30" name="Shape 28"/>
          <p:cNvSpPr/>
          <p:nvPr/>
        </p:nvSpPr>
        <p:spPr>
          <a:xfrm>
            <a:off x="7205472" y="1399032"/>
            <a:ext cx="73152" cy="109728"/>
          </a:xfrm>
          <a:prstGeom prst="rect">
            <a:avLst/>
          </a:prstGeom>
          <a:solidFill>
            <a:srgbClr val="64748B"/>
          </a:solidFill>
          <a:ln w="12700">
            <a:solidFill>
              <a:srgbClr val="64748B"/>
            </a:solidFill>
            <a:prstDash val="solid"/>
          </a:ln>
        </p:spPr>
      </p:sp>
      <p:sp>
        <p:nvSpPr>
          <p:cNvPr id="31" name="Text 29"/>
          <p:cNvSpPr/>
          <p:nvPr/>
        </p:nvSpPr>
        <p:spPr>
          <a:xfrm>
            <a:off x="7196328" y="1307592"/>
            <a:ext cx="164592" cy="25603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t>
            </a:r>
            <a:endParaRPr lang="en-US" sz="1100" dirty="0"/>
          </a:p>
        </p:txBody>
      </p:sp>
      <p:sp>
        <p:nvSpPr>
          <p:cNvPr id="32" name="Shape 30"/>
          <p:cNvSpPr/>
          <p:nvPr/>
        </p:nvSpPr>
        <p:spPr>
          <a:xfrm>
            <a:off x="7278624" y="960120"/>
            <a:ext cx="1261872" cy="1005840"/>
          </a:xfrm>
          <a:prstGeom prst="rect">
            <a:avLst/>
          </a:prstGeom>
          <a:solidFill>
            <a:srgbClr val="0D2B4E"/>
          </a:solidFill>
          <a:ln w="12700">
            <a:solidFill>
              <a:srgbClr val="0D2B4E"/>
            </a:solidFill>
            <a:prstDash val="solid"/>
          </a:ln>
          <a:effectLst>
            <a:outerShdw blurRad="101600" dist="38100" dir="8100000" algn="bl" rotWithShape="0">
              <a:srgbClr val="000000">
                <a:alpha val="12000"/>
              </a:srgbClr>
            </a:outerShdw>
          </a:effectLst>
        </p:spPr>
      </p:sp>
      <p:sp>
        <p:nvSpPr>
          <p:cNvPr id="33" name="Text 31"/>
          <p:cNvSpPr/>
          <p:nvPr/>
        </p:nvSpPr>
        <p:spPr>
          <a:xfrm>
            <a:off x="7278624" y="1033272"/>
            <a:ext cx="1261872"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16×2 LCD</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(I2C)</a:t>
            </a:r>
            <a:endParaRPr lang="en-US" sz="1150" dirty="0"/>
          </a:p>
        </p:txBody>
      </p:sp>
      <p:sp>
        <p:nvSpPr>
          <p:cNvPr id="34" name="Text 32"/>
          <p:cNvSpPr/>
          <p:nvPr/>
        </p:nvSpPr>
        <p:spPr>
          <a:xfrm>
            <a:off x="7278624" y="1527048"/>
            <a:ext cx="1261872" cy="384048"/>
          </a:xfrm>
          <a:prstGeom prst="rect">
            <a:avLst/>
          </a:prstGeom>
          <a:noFill/>
          <a:ln/>
        </p:spPr>
        <p:txBody>
          <a:bodyPr wrap="square" lIns="0" tIns="0" rIns="0" bIns="0" rtlCol="0" anchor="ctr"/>
          <a:lstStyle/>
          <a:p>
            <a:pPr marL="0" indent="0" algn="ctr">
              <a:buNone/>
            </a:pPr>
            <a:r>
              <a:rPr lang="en-US" sz="900" dirty="0">
                <a:solidFill>
                  <a:srgbClr val="B8D8E0"/>
                </a:solidFill>
                <a:latin typeface="Calibri" pitchFamily="34" charset="0"/>
                <a:ea typeface="Calibri" pitchFamily="34" charset="-122"/>
                <a:cs typeface="Calibri" pitchFamily="34" charset="-120"/>
              </a:rPr>
              <a:t>Real-time</a:t>
            </a:r>
            <a:endParaRPr lang="en-US" sz="900" dirty="0"/>
          </a:p>
          <a:p>
            <a:pPr marL="0" indent="0" algn="ctr">
              <a:buNone/>
            </a:pPr>
            <a:r>
              <a:rPr lang="en-US" sz="900" dirty="0">
                <a:solidFill>
                  <a:srgbClr val="B8D8E0"/>
                </a:solidFill>
                <a:latin typeface="Calibri" pitchFamily="34" charset="0"/>
                <a:ea typeface="Calibri" pitchFamily="34" charset="-122"/>
                <a:cs typeface="Calibri" pitchFamily="34" charset="-120"/>
              </a:rPr>
              <a:t>BP display</a:t>
            </a:r>
            <a:endParaRPr lang="en-US" sz="900" dirty="0"/>
          </a:p>
        </p:txBody>
      </p:sp>
      <p:sp>
        <p:nvSpPr>
          <p:cNvPr id="35" name="Shape 33"/>
          <p:cNvSpPr/>
          <p:nvPr/>
        </p:nvSpPr>
        <p:spPr>
          <a:xfrm>
            <a:off x="274320" y="2121408"/>
            <a:ext cx="4206240" cy="1170432"/>
          </a:xfrm>
          <a:prstGeom prst="rect">
            <a:avLst/>
          </a:prstGeom>
          <a:solidFill>
            <a:srgbClr val="F7FCFD"/>
          </a:solidFill>
          <a:ln w="12700">
            <a:solidFill>
              <a:srgbClr val="D8EEF2"/>
            </a:solidFill>
            <a:prstDash val="solid"/>
          </a:ln>
          <a:effectLst>
            <a:outerShdw blurRad="101600" dist="38100" dir="8100000" algn="bl" rotWithShape="0">
              <a:srgbClr val="000000">
                <a:alpha val="12000"/>
              </a:srgbClr>
            </a:outerShdw>
          </a:effectLst>
        </p:spPr>
      </p:sp>
      <p:sp>
        <p:nvSpPr>
          <p:cNvPr id="36" name="Shape 34"/>
          <p:cNvSpPr/>
          <p:nvPr/>
        </p:nvSpPr>
        <p:spPr>
          <a:xfrm>
            <a:off x="274320" y="2121408"/>
            <a:ext cx="64008" cy="1170432"/>
          </a:xfrm>
          <a:prstGeom prst="rect">
            <a:avLst/>
          </a:prstGeom>
          <a:solidFill>
            <a:srgbClr val="0B7A8F"/>
          </a:solidFill>
          <a:ln w="12700">
            <a:solidFill>
              <a:srgbClr val="0B7A8F"/>
            </a:solidFill>
            <a:prstDash val="solid"/>
          </a:ln>
        </p:spPr>
      </p:sp>
      <p:sp>
        <p:nvSpPr>
          <p:cNvPr id="37" name="Text 35"/>
          <p:cNvSpPr/>
          <p:nvPr/>
        </p:nvSpPr>
        <p:spPr>
          <a:xfrm>
            <a:off x="475488" y="2212848"/>
            <a:ext cx="3840480" cy="274320"/>
          </a:xfrm>
          <a:prstGeom prst="rect">
            <a:avLst/>
          </a:prstGeom>
          <a:noFill/>
          <a:ln/>
        </p:spPr>
        <p:txBody>
          <a:bodyPr wrap="square" lIns="0" tIns="0" rIns="0" bIns="0" rtlCol="0" anchor="ctr"/>
          <a:lstStyle/>
          <a:p>
            <a:pPr marL="0" indent="0">
              <a:buNone/>
            </a:pPr>
            <a:r>
              <a:rPr lang="en-US" sz="1150" b="1" dirty="0">
                <a:solidFill>
                  <a:srgbClr val="0D2B4E"/>
                </a:solidFill>
                <a:latin typeface="Calibri" pitchFamily="34" charset="0"/>
                <a:ea typeface="Calibri" pitchFamily="34" charset="-122"/>
                <a:cs typeface="Calibri" pitchFamily="34" charset="-120"/>
              </a:rPr>
              <a:t>Hardware Layer</a:t>
            </a:r>
            <a:endParaRPr lang="en-US" sz="1150" dirty="0"/>
          </a:p>
        </p:txBody>
      </p:sp>
      <p:sp>
        <p:nvSpPr>
          <p:cNvPr id="38" name="Text 36"/>
          <p:cNvSpPr/>
          <p:nvPr/>
        </p:nvSpPr>
        <p:spPr>
          <a:xfrm>
            <a:off x="475488" y="2505456"/>
            <a:ext cx="3840480" cy="71323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TCRT1000 biased at 10-12 mA via 330 Ω series resistor. OP-07 TIA converts photodiode current to voltage. 2nd-order Butterworth HPF (0.1 Hz) and LPF (16 Hz) shape the analog PPG. ESP32 samples at 101 Hz via 12-bit ADC on GPIO34.</a:t>
            </a:r>
            <a:endParaRPr lang="en-US" sz="1000" dirty="0"/>
          </a:p>
        </p:txBody>
      </p:sp>
      <p:sp>
        <p:nvSpPr>
          <p:cNvPr id="39" name="Shape 37"/>
          <p:cNvSpPr/>
          <p:nvPr/>
        </p:nvSpPr>
        <p:spPr>
          <a:xfrm>
            <a:off x="274320" y="3419856"/>
            <a:ext cx="4206240" cy="1170432"/>
          </a:xfrm>
          <a:prstGeom prst="rect">
            <a:avLst/>
          </a:prstGeom>
          <a:solidFill>
            <a:srgbClr val="F7FCFD"/>
          </a:solidFill>
          <a:ln w="12700">
            <a:solidFill>
              <a:srgbClr val="D8EEF2"/>
            </a:solidFill>
            <a:prstDash val="solid"/>
          </a:ln>
          <a:effectLst>
            <a:outerShdw blurRad="101600" dist="38100" dir="8100000" algn="bl" rotWithShape="0">
              <a:srgbClr val="000000">
                <a:alpha val="12000"/>
              </a:srgbClr>
            </a:outerShdw>
          </a:effectLst>
        </p:spPr>
      </p:sp>
      <p:sp>
        <p:nvSpPr>
          <p:cNvPr id="40" name="Shape 38"/>
          <p:cNvSpPr/>
          <p:nvPr/>
        </p:nvSpPr>
        <p:spPr>
          <a:xfrm>
            <a:off x="274320" y="3419856"/>
            <a:ext cx="64008" cy="1170432"/>
          </a:xfrm>
          <a:prstGeom prst="rect">
            <a:avLst/>
          </a:prstGeom>
          <a:solidFill>
            <a:srgbClr val="0B7A8F"/>
          </a:solidFill>
          <a:ln w="12700">
            <a:solidFill>
              <a:srgbClr val="0B7A8F"/>
            </a:solidFill>
            <a:prstDash val="solid"/>
          </a:ln>
        </p:spPr>
      </p:sp>
      <p:sp>
        <p:nvSpPr>
          <p:cNvPr id="41" name="Text 39"/>
          <p:cNvSpPr/>
          <p:nvPr/>
        </p:nvSpPr>
        <p:spPr>
          <a:xfrm>
            <a:off x="475488" y="3511296"/>
            <a:ext cx="3840480" cy="274320"/>
          </a:xfrm>
          <a:prstGeom prst="rect">
            <a:avLst/>
          </a:prstGeom>
          <a:noFill/>
          <a:ln/>
        </p:spPr>
        <p:txBody>
          <a:bodyPr wrap="square" lIns="0" tIns="0" rIns="0" bIns="0" rtlCol="0" anchor="ctr"/>
          <a:lstStyle/>
          <a:p>
            <a:pPr marL="0" indent="0">
              <a:buNone/>
            </a:pPr>
            <a:r>
              <a:rPr lang="en-US" sz="1150" b="1" dirty="0">
                <a:solidFill>
                  <a:srgbClr val="0D2B4E"/>
                </a:solidFill>
                <a:latin typeface="Calibri" pitchFamily="34" charset="0"/>
                <a:ea typeface="Calibri" pitchFamily="34" charset="-122"/>
                <a:cs typeface="Calibri" pitchFamily="34" charset="-120"/>
              </a:rPr>
              <a:t>Communication</a:t>
            </a:r>
            <a:endParaRPr lang="en-US" sz="1150" dirty="0"/>
          </a:p>
        </p:txBody>
      </p:sp>
      <p:sp>
        <p:nvSpPr>
          <p:cNvPr id="42" name="Text 40"/>
          <p:cNvSpPr/>
          <p:nvPr/>
        </p:nvSpPr>
        <p:spPr>
          <a:xfrm>
            <a:off x="475488" y="3803904"/>
            <a:ext cx="3840480" cy="71323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ESP32 streams cleaned PPG data over UART/I2C to Raspberry Pi 4 for ML inference. Autostart managed via crontab on boot.</a:t>
            </a:r>
            <a:endParaRPr lang="en-US" sz="1000" dirty="0"/>
          </a:p>
        </p:txBody>
      </p:sp>
      <p:sp>
        <p:nvSpPr>
          <p:cNvPr id="43" name="Shape 41"/>
          <p:cNvSpPr/>
          <p:nvPr/>
        </p:nvSpPr>
        <p:spPr>
          <a:xfrm>
            <a:off x="4663440" y="2121408"/>
            <a:ext cx="4206240" cy="1170432"/>
          </a:xfrm>
          <a:prstGeom prst="rect">
            <a:avLst/>
          </a:prstGeom>
          <a:solidFill>
            <a:srgbClr val="F7FCFD"/>
          </a:solidFill>
          <a:ln w="12700">
            <a:solidFill>
              <a:srgbClr val="D8EEF2"/>
            </a:solidFill>
            <a:prstDash val="solid"/>
          </a:ln>
          <a:effectLst>
            <a:outerShdw blurRad="101600" dist="38100" dir="8100000" algn="bl" rotWithShape="0">
              <a:srgbClr val="000000">
                <a:alpha val="12000"/>
              </a:srgbClr>
            </a:outerShdw>
          </a:effectLst>
        </p:spPr>
      </p:sp>
      <p:sp>
        <p:nvSpPr>
          <p:cNvPr id="44" name="Shape 42"/>
          <p:cNvSpPr/>
          <p:nvPr/>
        </p:nvSpPr>
        <p:spPr>
          <a:xfrm>
            <a:off x="4663440" y="2121408"/>
            <a:ext cx="64008" cy="1170432"/>
          </a:xfrm>
          <a:prstGeom prst="rect">
            <a:avLst/>
          </a:prstGeom>
          <a:solidFill>
            <a:srgbClr val="00B4A0"/>
          </a:solidFill>
          <a:ln w="12700">
            <a:solidFill>
              <a:srgbClr val="00B4A0"/>
            </a:solidFill>
            <a:prstDash val="solid"/>
          </a:ln>
        </p:spPr>
      </p:sp>
      <p:sp>
        <p:nvSpPr>
          <p:cNvPr id="45" name="Text 43"/>
          <p:cNvSpPr/>
          <p:nvPr/>
        </p:nvSpPr>
        <p:spPr>
          <a:xfrm>
            <a:off x="4864608" y="2212848"/>
            <a:ext cx="3840480" cy="274320"/>
          </a:xfrm>
          <a:prstGeom prst="rect">
            <a:avLst/>
          </a:prstGeom>
          <a:noFill/>
          <a:ln/>
        </p:spPr>
        <p:txBody>
          <a:bodyPr wrap="square" lIns="0" tIns="0" rIns="0" bIns="0" rtlCol="0" anchor="ctr"/>
          <a:lstStyle/>
          <a:p>
            <a:pPr marL="0" indent="0">
              <a:buNone/>
            </a:pPr>
            <a:r>
              <a:rPr lang="en-US" sz="1150" b="1" dirty="0">
                <a:solidFill>
                  <a:srgbClr val="0D2B4E"/>
                </a:solidFill>
                <a:latin typeface="Calibri" pitchFamily="34" charset="0"/>
                <a:ea typeface="Calibri" pitchFamily="34" charset="-122"/>
                <a:cs typeface="Calibri" pitchFamily="34" charset="-120"/>
              </a:rPr>
              <a:t>ML Inference Layer</a:t>
            </a:r>
            <a:endParaRPr lang="en-US" sz="1150" dirty="0"/>
          </a:p>
        </p:txBody>
      </p:sp>
      <p:sp>
        <p:nvSpPr>
          <p:cNvPr id="46" name="Text 44"/>
          <p:cNvSpPr/>
          <p:nvPr/>
        </p:nvSpPr>
        <p:spPr>
          <a:xfrm>
            <a:off x="4864608" y="2505456"/>
            <a:ext cx="3840480" cy="71323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Each PPG beat (104 pts) is normalized 0–1 and compressed by the VAE encoder to a latent vector z. Features [R, C, z₁…zₖ] are fed into two trained Random Forest models — one each for SBP and DBP.</a:t>
            </a:r>
            <a:endParaRPr lang="en-US" sz="1000" dirty="0"/>
          </a:p>
        </p:txBody>
      </p:sp>
      <p:sp>
        <p:nvSpPr>
          <p:cNvPr id="47" name="Shape 45"/>
          <p:cNvSpPr/>
          <p:nvPr/>
        </p:nvSpPr>
        <p:spPr>
          <a:xfrm>
            <a:off x="4663440" y="3419856"/>
            <a:ext cx="4206240" cy="1170432"/>
          </a:xfrm>
          <a:prstGeom prst="rect">
            <a:avLst/>
          </a:prstGeom>
          <a:solidFill>
            <a:srgbClr val="F7FCFD"/>
          </a:solidFill>
          <a:ln w="12700">
            <a:solidFill>
              <a:srgbClr val="D8EEF2"/>
            </a:solidFill>
            <a:prstDash val="solid"/>
          </a:ln>
          <a:effectLst>
            <a:outerShdw blurRad="101600" dist="38100" dir="8100000" algn="bl" rotWithShape="0">
              <a:srgbClr val="000000">
                <a:alpha val="12000"/>
              </a:srgbClr>
            </a:outerShdw>
          </a:effectLst>
        </p:spPr>
      </p:sp>
      <p:sp>
        <p:nvSpPr>
          <p:cNvPr id="48" name="Shape 46"/>
          <p:cNvSpPr/>
          <p:nvPr/>
        </p:nvSpPr>
        <p:spPr>
          <a:xfrm>
            <a:off x="4663440" y="3419856"/>
            <a:ext cx="64008" cy="1170432"/>
          </a:xfrm>
          <a:prstGeom prst="rect">
            <a:avLst/>
          </a:prstGeom>
          <a:solidFill>
            <a:srgbClr val="00B4A0"/>
          </a:solidFill>
          <a:ln w="12700">
            <a:solidFill>
              <a:srgbClr val="00B4A0"/>
            </a:solidFill>
            <a:prstDash val="solid"/>
          </a:ln>
        </p:spPr>
      </p:sp>
      <p:sp>
        <p:nvSpPr>
          <p:cNvPr id="49" name="Text 47"/>
          <p:cNvSpPr/>
          <p:nvPr/>
        </p:nvSpPr>
        <p:spPr>
          <a:xfrm>
            <a:off x="4864608" y="3511296"/>
            <a:ext cx="3840480" cy="274320"/>
          </a:xfrm>
          <a:prstGeom prst="rect">
            <a:avLst/>
          </a:prstGeom>
          <a:noFill/>
          <a:ln/>
        </p:spPr>
        <p:txBody>
          <a:bodyPr wrap="square" lIns="0" tIns="0" rIns="0" bIns="0" rtlCol="0" anchor="ctr"/>
          <a:lstStyle/>
          <a:p>
            <a:pPr marL="0" indent="0">
              <a:buNone/>
            </a:pPr>
            <a:r>
              <a:rPr lang="en-US" sz="1150" b="1" dirty="0">
                <a:solidFill>
                  <a:srgbClr val="0D2B4E"/>
                </a:solidFill>
                <a:latin typeface="Calibri" pitchFamily="34" charset="0"/>
                <a:ea typeface="Calibri" pitchFamily="34" charset="-122"/>
                <a:cs typeface="Calibri" pitchFamily="34" charset="-120"/>
              </a:rPr>
              <a:t>Output</a:t>
            </a:r>
            <a:endParaRPr lang="en-US" sz="1150" dirty="0"/>
          </a:p>
        </p:txBody>
      </p:sp>
      <p:sp>
        <p:nvSpPr>
          <p:cNvPr id="50" name="Text 48"/>
          <p:cNvSpPr/>
          <p:nvPr/>
        </p:nvSpPr>
        <p:spPr>
          <a:xfrm>
            <a:off x="4864608" y="3803904"/>
            <a:ext cx="3840480" cy="71323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SBP and DBP predictions are displayed on a 16×2 I2C LCD. ACF-based no-finger detection (threshold 0.45) prevents spurious readings.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9741"/>
          </a:xfrm>
          <a:prstGeom prst="rect">
            <a:avLst/>
          </a:prstGeom>
          <a:solidFill>
            <a:srgbClr val="0D2B4E"/>
          </a:solidFill>
          <a:ln w="12700">
            <a:solidFill>
              <a:srgbClr val="0D2B4E"/>
            </a:solidFill>
            <a:prstDash val="solid"/>
          </a:ln>
        </p:spPr>
      </p:sp>
      <p:sp>
        <p:nvSpPr>
          <p:cNvPr id="3" name="Text 1"/>
          <p:cNvSpPr/>
          <p:nvPr/>
        </p:nvSpPr>
        <p:spPr>
          <a:xfrm>
            <a:off x="301825" y="-93689"/>
            <a:ext cx="850392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Hardware: Sensor &amp; Analog Front-End Circuit</a:t>
            </a:r>
            <a:endParaRPr lang="en-US" sz="2000" dirty="0"/>
          </a:p>
        </p:txBody>
      </p:sp>
      <p:sp>
        <p:nvSpPr>
          <p:cNvPr id="4" name="Shape 2"/>
          <p:cNvSpPr/>
          <p:nvPr/>
        </p:nvSpPr>
        <p:spPr>
          <a:xfrm>
            <a:off x="0" y="4892040"/>
            <a:ext cx="9144000" cy="251460"/>
          </a:xfrm>
          <a:prstGeom prst="rect">
            <a:avLst/>
          </a:prstGeom>
          <a:solidFill>
            <a:srgbClr val="0D2B4E"/>
          </a:solidFill>
          <a:ln w="12700">
            <a:solidFill>
              <a:srgbClr val="0D2B4E"/>
            </a:solidFill>
            <a:prstDash val="solid"/>
          </a:ln>
        </p:spPr>
      </p:sp>
      <p:sp>
        <p:nvSpPr>
          <p:cNvPr id="5" name="Text 3"/>
          <p:cNvSpPr/>
          <p:nvPr/>
        </p:nvSpPr>
        <p:spPr>
          <a:xfrm>
            <a:off x="274320" y="4892040"/>
            <a:ext cx="7772400" cy="251460"/>
          </a:xfrm>
          <a:prstGeom prst="rect">
            <a:avLst/>
          </a:prstGeom>
          <a:noFill/>
          <a:ln/>
        </p:spPr>
        <p:txBody>
          <a:bodyPr wrap="square" lIns="0" tIns="0" rIns="0" bIns="0" rtlCol="0" anchor="ctr"/>
          <a:lstStyle/>
          <a:p>
            <a:r>
              <a:rPr lang="en-US" sz="900" dirty="0">
                <a:solidFill>
                  <a:srgbClr val="99C8D6"/>
                </a:solidFill>
                <a:latin typeface="Calibri" pitchFamily="34" charset="0"/>
                <a:ea typeface="Calibri" pitchFamily="34" charset="-122"/>
                <a:cs typeface="Calibri" pitchFamily="34" charset="-120"/>
              </a:rPr>
              <a:t>BP Estimator | IRPE, University of Calcutta</a:t>
            </a:r>
            <a:endParaRPr lang="en-US" sz="9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ctr">
              <a:buNone/>
            </a:pPr>
            <a:endParaRPr lang="en-US" sz="900" dirty="0"/>
          </a:p>
        </p:txBody>
      </p:sp>
      <p:sp>
        <p:nvSpPr>
          <p:cNvPr id="7" name="Shape 5"/>
          <p:cNvSpPr/>
          <p:nvPr/>
        </p:nvSpPr>
        <p:spPr>
          <a:xfrm>
            <a:off x="165971" y="2457413"/>
            <a:ext cx="2743200" cy="2404872"/>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8" name="Shape 6"/>
          <p:cNvSpPr/>
          <p:nvPr/>
        </p:nvSpPr>
        <p:spPr>
          <a:xfrm>
            <a:off x="165971" y="2457413"/>
            <a:ext cx="2743200" cy="457200"/>
          </a:xfrm>
          <a:prstGeom prst="rect">
            <a:avLst/>
          </a:prstGeom>
          <a:solidFill>
            <a:srgbClr val="0D2B4E"/>
          </a:solidFill>
          <a:ln w="12700">
            <a:solidFill>
              <a:srgbClr val="0D2B4E"/>
            </a:solidFill>
            <a:prstDash val="solid"/>
          </a:ln>
        </p:spPr>
      </p:sp>
      <p:sp>
        <p:nvSpPr>
          <p:cNvPr id="9" name="Text 7"/>
          <p:cNvSpPr/>
          <p:nvPr/>
        </p:nvSpPr>
        <p:spPr>
          <a:xfrm>
            <a:off x="257411" y="2457413"/>
            <a:ext cx="2606040"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TCRT1000 PPG Sensor</a:t>
            </a:r>
            <a:endParaRPr lang="en-US" sz="1150" dirty="0"/>
          </a:p>
        </p:txBody>
      </p:sp>
      <p:sp>
        <p:nvSpPr>
          <p:cNvPr id="10" name="Shape 8"/>
          <p:cNvSpPr/>
          <p:nvPr/>
        </p:nvSpPr>
        <p:spPr>
          <a:xfrm>
            <a:off x="303131" y="3070061"/>
            <a:ext cx="155448" cy="155448"/>
          </a:xfrm>
          <a:prstGeom prst="ellipse">
            <a:avLst/>
          </a:prstGeom>
          <a:solidFill>
            <a:srgbClr val="0D2B4E"/>
          </a:solidFill>
          <a:ln w="12700">
            <a:solidFill>
              <a:srgbClr val="0D2B4E"/>
            </a:solidFill>
            <a:prstDash val="solid"/>
          </a:ln>
        </p:spPr>
      </p:sp>
      <p:sp>
        <p:nvSpPr>
          <p:cNvPr id="11" name="Text 9"/>
          <p:cNvSpPr/>
          <p:nvPr/>
        </p:nvSpPr>
        <p:spPr>
          <a:xfrm>
            <a:off x="519902" y="2887181"/>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IR LED + NPN phototransistor in reflective mode</a:t>
            </a:r>
            <a:endParaRPr lang="en-US" sz="1000" dirty="0"/>
          </a:p>
        </p:txBody>
      </p:sp>
      <p:sp>
        <p:nvSpPr>
          <p:cNvPr id="12" name="Shape 10"/>
          <p:cNvSpPr/>
          <p:nvPr/>
        </p:nvSpPr>
        <p:spPr>
          <a:xfrm>
            <a:off x="303131" y="3507014"/>
            <a:ext cx="155448" cy="155448"/>
          </a:xfrm>
          <a:prstGeom prst="ellipse">
            <a:avLst/>
          </a:prstGeom>
          <a:solidFill>
            <a:srgbClr val="0D2B4E"/>
          </a:solidFill>
          <a:ln w="12700">
            <a:solidFill>
              <a:srgbClr val="0D2B4E"/>
            </a:solidFill>
            <a:prstDash val="solid"/>
          </a:ln>
        </p:spPr>
      </p:sp>
      <p:sp>
        <p:nvSpPr>
          <p:cNvPr id="13" name="Text 11"/>
          <p:cNvSpPr/>
          <p:nvPr/>
        </p:nvSpPr>
        <p:spPr>
          <a:xfrm>
            <a:off x="538190" y="3265714"/>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Biased at 10–12 mA forward current</a:t>
            </a:r>
            <a:endParaRPr lang="en-US" sz="1000" dirty="0"/>
          </a:p>
        </p:txBody>
      </p:sp>
      <p:sp>
        <p:nvSpPr>
          <p:cNvPr id="14" name="Shape 12"/>
          <p:cNvSpPr/>
          <p:nvPr/>
        </p:nvSpPr>
        <p:spPr>
          <a:xfrm>
            <a:off x="301825" y="3966173"/>
            <a:ext cx="155448" cy="155448"/>
          </a:xfrm>
          <a:prstGeom prst="ellipse">
            <a:avLst/>
          </a:prstGeom>
          <a:solidFill>
            <a:srgbClr val="0D2B4E"/>
          </a:solidFill>
          <a:ln w="12700">
            <a:solidFill>
              <a:srgbClr val="0D2B4E"/>
            </a:solidFill>
            <a:prstDash val="solid"/>
          </a:ln>
        </p:spPr>
      </p:sp>
      <p:sp>
        <p:nvSpPr>
          <p:cNvPr id="15" name="Text 13"/>
          <p:cNvSpPr/>
          <p:nvPr/>
        </p:nvSpPr>
        <p:spPr>
          <a:xfrm>
            <a:off x="519902" y="3710141"/>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Series resistor: 330 Ω (Vcc = 3.6 V bias)</a:t>
            </a:r>
            <a:endParaRPr lang="en-US" sz="1000" dirty="0"/>
          </a:p>
        </p:txBody>
      </p:sp>
      <p:sp>
        <p:nvSpPr>
          <p:cNvPr id="16" name="Shape 14"/>
          <p:cNvSpPr/>
          <p:nvPr/>
        </p:nvSpPr>
        <p:spPr>
          <a:xfrm>
            <a:off x="303131" y="4388829"/>
            <a:ext cx="155448" cy="155448"/>
          </a:xfrm>
          <a:prstGeom prst="ellipse">
            <a:avLst/>
          </a:prstGeom>
          <a:solidFill>
            <a:srgbClr val="0D2B4E"/>
          </a:solidFill>
          <a:ln w="12700">
            <a:solidFill>
              <a:srgbClr val="0D2B4E"/>
            </a:solidFill>
            <a:prstDash val="solid"/>
          </a:ln>
        </p:spPr>
      </p:sp>
      <p:sp>
        <p:nvSpPr>
          <p:cNvPr id="17" name="Text 15"/>
          <p:cNvSpPr/>
          <p:nvPr/>
        </p:nvSpPr>
        <p:spPr>
          <a:xfrm>
            <a:off x="508871" y="4203917"/>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Detects volumetric blood flow changes at fingertip</a:t>
            </a:r>
            <a:endParaRPr lang="en-US" sz="1000" dirty="0"/>
          </a:p>
        </p:txBody>
      </p:sp>
      <p:sp>
        <p:nvSpPr>
          <p:cNvPr id="18" name="Shape 16"/>
          <p:cNvSpPr/>
          <p:nvPr/>
        </p:nvSpPr>
        <p:spPr>
          <a:xfrm>
            <a:off x="3092051" y="2457413"/>
            <a:ext cx="2743200" cy="2404872"/>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19" name="Shape 17"/>
          <p:cNvSpPr/>
          <p:nvPr/>
        </p:nvSpPr>
        <p:spPr>
          <a:xfrm>
            <a:off x="3092051" y="2457413"/>
            <a:ext cx="2743200" cy="457200"/>
          </a:xfrm>
          <a:prstGeom prst="rect">
            <a:avLst/>
          </a:prstGeom>
          <a:solidFill>
            <a:srgbClr val="0B7A8F"/>
          </a:solidFill>
          <a:ln w="12700">
            <a:solidFill>
              <a:srgbClr val="0B7A8F"/>
            </a:solidFill>
            <a:prstDash val="solid"/>
          </a:ln>
        </p:spPr>
      </p:sp>
      <p:sp>
        <p:nvSpPr>
          <p:cNvPr id="20" name="Text 18"/>
          <p:cNvSpPr/>
          <p:nvPr/>
        </p:nvSpPr>
        <p:spPr>
          <a:xfrm>
            <a:off x="3183491" y="2457413"/>
            <a:ext cx="2606040"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Trans-Impedance Amplifier (TIA)</a:t>
            </a:r>
            <a:endParaRPr lang="en-US" sz="1150" dirty="0"/>
          </a:p>
        </p:txBody>
      </p:sp>
      <p:sp>
        <p:nvSpPr>
          <p:cNvPr id="21" name="Shape 19"/>
          <p:cNvSpPr/>
          <p:nvPr/>
        </p:nvSpPr>
        <p:spPr>
          <a:xfrm>
            <a:off x="3229211" y="3070061"/>
            <a:ext cx="155448" cy="155448"/>
          </a:xfrm>
          <a:prstGeom prst="ellipse">
            <a:avLst/>
          </a:prstGeom>
          <a:solidFill>
            <a:srgbClr val="0B7A8F"/>
          </a:solidFill>
          <a:ln w="12700">
            <a:solidFill>
              <a:srgbClr val="0B7A8F"/>
            </a:solidFill>
            <a:prstDash val="solid"/>
          </a:ln>
        </p:spPr>
      </p:sp>
      <p:sp>
        <p:nvSpPr>
          <p:cNvPr id="22" name="Text 20"/>
          <p:cNvSpPr/>
          <p:nvPr/>
        </p:nvSpPr>
        <p:spPr>
          <a:xfrm>
            <a:off x="3445982" y="2804885"/>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OP-07 op-amp — ultra-low offset voltage</a:t>
            </a:r>
            <a:endParaRPr lang="en-US" sz="1000" dirty="0"/>
          </a:p>
        </p:txBody>
      </p:sp>
      <p:sp>
        <p:nvSpPr>
          <p:cNvPr id="23" name="Shape 21"/>
          <p:cNvSpPr/>
          <p:nvPr/>
        </p:nvSpPr>
        <p:spPr>
          <a:xfrm>
            <a:off x="3233711" y="3500010"/>
            <a:ext cx="155448" cy="155448"/>
          </a:xfrm>
          <a:prstGeom prst="ellipse">
            <a:avLst/>
          </a:prstGeom>
          <a:solidFill>
            <a:srgbClr val="0B7A8F"/>
          </a:solidFill>
          <a:ln w="12700">
            <a:solidFill>
              <a:srgbClr val="0B7A8F"/>
            </a:solidFill>
            <a:prstDash val="solid"/>
          </a:ln>
        </p:spPr>
      </p:sp>
      <p:sp>
        <p:nvSpPr>
          <p:cNvPr id="24" name="Text 22"/>
          <p:cNvSpPr/>
          <p:nvPr/>
        </p:nvSpPr>
        <p:spPr>
          <a:xfrm>
            <a:off x="3445982" y="3280373"/>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Converts photodiode current → voltage signal</a:t>
            </a:r>
            <a:endParaRPr lang="en-US" sz="1000" dirty="0"/>
          </a:p>
        </p:txBody>
      </p:sp>
      <p:sp>
        <p:nvSpPr>
          <p:cNvPr id="25" name="Shape 23"/>
          <p:cNvSpPr/>
          <p:nvPr/>
        </p:nvSpPr>
        <p:spPr>
          <a:xfrm>
            <a:off x="3227905" y="3979889"/>
            <a:ext cx="155448" cy="155448"/>
          </a:xfrm>
          <a:prstGeom prst="ellipse">
            <a:avLst/>
          </a:prstGeom>
          <a:solidFill>
            <a:srgbClr val="0B7A8F"/>
          </a:solidFill>
          <a:ln w="12700">
            <a:solidFill>
              <a:srgbClr val="0B7A8F"/>
            </a:solidFill>
            <a:prstDash val="solid"/>
          </a:ln>
        </p:spPr>
      </p:sp>
      <p:sp>
        <p:nvSpPr>
          <p:cNvPr id="26" name="Text 24"/>
          <p:cNvSpPr/>
          <p:nvPr/>
        </p:nvSpPr>
        <p:spPr>
          <a:xfrm>
            <a:off x="3440176" y="3806153"/>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Feedback resistor Rf &amp; capacitor Cf set for ~10 Hz BW</a:t>
            </a:r>
            <a:endParaRPr lang="en-US" sz="1000" dirty="0"/>
          </a:p>
        </p:txBody>
      </p:sp>
      <p:sp>
        <p:nvSpPr>
          <p:cNvPr id="27" name="Shape 25"/>
          <p:cNvSpPr/>
          <p:nvPr/>
        </p:nvSpPr>
        <p:spPr>
          <a:xfrm>
            <a:off x="3239008" y="4423373"/>
            <a:ext cx="155448" cy="155448"/>
          </a:xfrm>
          <a:prstGeom prst="ellipse">
            <a:avLst/>
          </a:prstGeom>
          <a:solidFill>
            <a:srgbClr val="0B7A8F"/>
          </a:solidFill>
          <a:ln w="12700">
            <a:solidFill>
              <a:srgbClr val="0B7A8F"/>
            </a:solidFill>
            <a:prstDash val="solid"/>
          </a:ln>
        </p:spPr>
      </p:sp>
      <p:sp>
        <p:nvSpPr>
          <p:cNvPr id="28" name="Text 26"/>
          <p:cNvSpPr/>
          <p:nvPr/>
        </p:nvSpPr>
        <p:spPr>
          <a:xfrm>
            <a:off x="3445982" y="4258781"/>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Offset null trimmed with 44 kΩ potentiometer</a:t>
            </a:r>
            <a:endParaRPr lang="en-US" sz="1000" dirty="0"/>
          </a:p>
        </p:txBody>
      </p:sp>
      <p:sp>
        <p:nvSpPr>
          <p:cNvPr id="29" name="Shape 27"/>
          <p:cNvSpPr/>
          <p:nvPr/>
        </p:nvSpPr>
        <p:spPr>
          <a:xfrm>
            <a:off x="6018131" y="2457413"/>
            <a:ext cx="2743200" cy="2404872"/>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30" name="Shape 28"/>
          <p:cNvSpPr/>
          <p:nvPr/>
        </p:nvSpPr>
        <p:spPr>
          <a:xfrm>
            <a:off x="6018131" y="2457413"/>
            <a:ext cx="2743200" cy="457200"/>
          </a:xfrm>
          <a:prstGeom prst="rect">
            <a:avLst/>
          </a:prstGeom>
          <a:solidFill>
            <a:srgbClr val="00B4A0"/>
          </a:solidFill>
          <a:ln w="12700">
            <a:solidFill>
              <a:srgbClr val="00B4A0"/>
            </a:solidFill>
            <a:prstDash val="solid"/>
          </a:ln>
        </p:spPr>
      </p:sp>
      <p:sp>
        <p:nvSpPr>
          <p:cNvPr id="31" name="Text 29"/>
          <p:cNvSpPr/>
          <p:nvPr/>
        </p:nvSpPr>
        <p:spPr>
          <a:xfrm>
            <a:off x="6109571" y="2457413"/>
            <a:ext cx="2606040" cy="4572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Active Filter Stages</a:t>
            </a:r>
            <a:endParaRPr lang="en-US" sz="1150" dirty="0"/>
          </a:p>
        </p:txBody>
      </p:sp>
      <p:sp>
        <p:nvSpPr>
          <p:cNvPr id="32" name="Shape 30"/>
          <p:cNvSpPr/>
          <p:nvPr/>
        </p:nvSpPr>
        <p:spPr>
          <a:xfrm>
            <a:off x="6155291" y="3070061"/>
            <a:ext cx="155448" cy="155448"/>
          </a:xfrm>
          <a:prstGeom prst="ellipse">
            <a:avLst/>
          </a:prstGeom>
          <a:solidFill>
            <a:srgbClr val="00B4A0"/>
          </a:solidFill>
          <a:ln w="12700">
            <a:solidFill>
              <a:srgbClr val="00B4A0"/>
            </a:solidFill>
            <a:prstDash val="solid"/>
          </a:ln>
        </p:spPr>
      </p:sp>
      <p:sp>
        <p:nvSpPr>
          <p:cNvPr id="33" name="Text 31"/>
          <p:cNvSpPr/>
          <p:nvPr/>
        </p:nvSpPr>
        <p:spPr>
          <a:xfrm>
            <a:off x="6356459" y="2896325"/>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2nd-order Butterworth HPF — fc = 0.1 Hz (removes DC baseline)</a:t>
            </a:r>
            <a:endParaRPr lang="en-US" sz="1000" dirty="0"/>
          </a:p>
        </p:txBody>
      </p:sp>
      <p:sp>
        <p:nvSpPr>
          <p:cNvPr id="34" name="Shape 32"/>
          <p:cNvSpPr/>
          <p:nvPr/>
        </p:nvSpPr>
        <p:spPr>
          <a:xfrm>
            <a:off x="6141575" y="3572981"/>
            <a:ext cx="155448" cy="155448"/>
          </a:xfrm>
          <a:prstGeom prst="ellipse">
            <a:avLst/>
          </a:prstGeom>
          <a:solidFill>
            <a:srgbClr val="00B4A0"/>
          </a:solidFill>
          <a:ln w="12700">
            <a:solidFill>
              <a:srgbClr val="00B4A0"/>
            </a:solidFill>
            <a:prstDash val="solid"/>
          </a:ln>
        </p:spPr>
      </p:sp>
      <p:sp>
        <p:nvSpPr>
          <p:cNvPr id="35" name="Text 33"/>
          <p:cNvSpPr/>
          <p:nvPr/>
        </p:nvSpPr>
        <p:spPr>
          <a:xfrm>
            <a:off x="6352903" y="3399245"/>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2nd-order Butterworth LPF — fc = 16 Hz (removes HF noise)</a:t>
            </a:r>
            <a:endParaRPr lang="en-US" sz="1000" dirty="0"/>
          </a:p>
        </p:txBody>
      </p:sp>
      <p:sp>
        <p:nvSpPr>
          <p:cNvPr id="36" name="Shape 34"/>
          <p:cNvSpPr/>
          <p:nvPr/>
        </p:nvSpPr>
        <p:spPr>
          <a:xfrm>
            <a:off x="6160879" y="4011893"/>
            <a:ext cx="155448" cy="155448"/>
          </a:xfrm>
          <a:prstGeom prst="ellipse">
            <a:avLst/>
          </a:prstGeom>
          <a:solidFill>
            <a:srgbClr val="00B4A0"/>
          </a:solidFill>
          <a:ln w="12700">
            <a:solidFill>
              <a:srgbClr val="00B4A0"/>
            </a:solidFill>
            <a:prstDash val="solid"/>
          </a:ln>
        </p:spPr>
      </p:sp>
      <p:sp>
        <p:nvSpPr>
          <p:cNvPr id="37" name="Text 35"/>
          <p:cNvSpPr/>
          <p:nvPr/>
        </p:nvSpPr>
        <p:spPr>
          <a:xfrm>
            <a:off x="6352903" y="3842729"/>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Passband: 0.1 – 16 Hz (40–180 BPM cardiac range)</a:t>
            </a:r>
            <a:endParaRPr lang="en-US" sz="1000" dirty="0"/>
          </a:p>
        </p:txBody>
      </p:sp>
      <p:sp>
        <p:nvSpPr>
          <p:cNvPr id="38" name="Shape 36"/>
          <p:cNvSpPr/>
          <p:nvPr/>
        </p:nvSpPr>
        <p:spPr>
          <a:xfrm>
            <a:off x="6124013" y="4438105"/>
            <a:ext cx="155448" cy="155448"/>
          </a:xfrm>
          <a:prstGeom prst="ellipse">
            <a:avLst/>
          </a:prstGeom>
          <a:solidFill>
            <a:srgbClr val="00B4A0"/>
          </a:solidFill>
          <a:ln w="12700">
            <a:solidFill>
              <a:srgbClr val="00B4A0"/>
            </a:solidFill>
            <a:prstDash val="solid"/>
          </a:ln>
        </p:spPr>
      </p:sp>
      <p:sp>
        <p:nvSpPr>
          <p:cNvPr id="39" name="Text 37"/>
          <p:cNvSpPr/>
          <p:nvPr/>
        </p:nvSpPr>
        <p:spPr>
          <a:xfrm>
            <a:off x="6352903" y="4318217"/>
            <a:ext cx="224028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Both stages in non-inverting config: Gain = 1 + Rf/R1</a:t>
            </a:r>
            <a:endParaRPr lang="en-US" sz="1000" dirty="0"/>
          </a:p>
        </p:txBody>
      </p:sp>
      <p:pic>
        <p:nvPicPr>
          <p:cNvPr id="41" name="Google Shape;57;p13">
            <a:extLst>
              <a:ext uri="{FF2B5EF4-FFF2-40B4-BE49-F238E27FC236}">
                <a16:creationId xmlns:a16="http://schemas.microsoft.com/office/drawing/2014/main" id="{8D4874DF-5166-40B5-BB5D-E8B4F2ABFE06}"/>
              </a:ext>
            </a:extLst>
          </p:cNvPr>
          <p:cNvPicPr preferRelativeResize="0"/>
          <p:nvPr/>
        </p:nvPicPr>
        <p:blipFill>
          <a:blip r:embed="rId3">
            <a:alphaModFix/>
          </a:blip>
          <a:stretch>
            <a:fillRect/>
          </a:stretch>
        </p:blipFill>
        <p:spPr>
          <a:xfrm>
            <a:off x="110191" y="535158"/>
            <a:ext cx="9033809" cy="1849103"/>
          </a:xfrm>
          <a:prstGeom prst="rect">
            <a:avLst/>
          </a:prstGeom>
          <a:noFill/>
          <a:ln>
            <a:noFill/>
          </a:ln>
        </p:spPr>
      </p:pic>
      <p:sp>
        <p:nvSpPr>
          <p:cNvPr id="42" name="Google Shape;58;p13">
            <a:extLst>
              <a:ext uri="{FF2B5EF4-FFF2-40B4-BE49-F238E27FC236}">
                <a16:creationId xmlns:a16="http://schemas.microsoft.com/office/drawing/2014/main" id="{5CA73542-E030-47B9-8975-5B847EDD39C8}"/>
              </a:ext>
            </a:extLst>
          </p:cNvPr>
          <p:cNvSpPr txBox="1"/>
          <p:nvPr/>
        </p:nvSpPr>
        <p:spPr>
          <a:xfrm>
            <a:off x="915045" y="1988555"/>
            <a:ext cx="1245052" cy="407764"/>
          </a:xfrm>
          <a:prstGeom prst="rect">
            <a:avLst/>
          </a:prstGeom>
          <a:solidFill>
            <a:srgbClr val="000000"/>
          </a:solidFill>
          <a:ln>
            <a:noFill/>
          </a:ln>
        </p:spPr>
        <p:txBody>
          <a:bodyPr spcFirstLastPara="1" wrap="square" lIns="121900" tIns="121900" rIns="121900" bIns="121900" anchor="t" anchorCtr="0">
            <a:spAutoFit/>
          </a:bodyPr>
          <a:lstStyle/>
          <a:p>
            <a:r>
              <a:rPr lang="en" sz="1050" dirty="0">
                <a:solidFill>
                  <a:schemeClr val="lt1"/>
                </a:solidFill>
              </a:rPr>
              <a:t>Phototransistor</a:t>
            </a:r>
            <a:endParaRPr sz="1050" dirty="0">
              <a:solidFill>
                <a:schemeClr val="lt1"/>
              </a:solidFill>
            </a:endParaRPr>
          </a:p>
        </p:txBody>
      </p:sp>
      <p:sp>
        <p:nvSpPr>
          <p:cNvPr id="43" name="Google Shape;59;p13">
            <a:extLst>
              <a:ext uri="{FF2B5EF4-FFF2-40B4-BE49-F238E27FC236}">
                <a16:creationId xmlns:a16="http://schemas.microsoft.com/office/drawing/2014/main" id="{29BE0105-5E8C-4675-8520-3046E8FF8F33}"/>
              </a:ext>
            </a:extLst>
          </p:cNvPr>
          <p:cNvSpPr txBox="1"/>
          <p:nvPr/>
        </p:nvSpPr>
        <p:spPr>
          <a:xfrm>
            <a:off x="2676282" y="1903161"/>
            <a:ext cx="1014418" cy="492402"/>
          </a:xfrm>
          <a:prstGeom prst="rect">
            <a:avLst/>
          </a:prstGeom>
          <a:solidFill>
            <a:srgbClr val="000000"/>
          </a:solidFill>
          <a:ln>
            <a:noFill/>
          </a:ln>
        </p:spPr>
        <p:txBody>
          <a:bodyPr spcFirstLastPara="1" wrap="square" lIns="121900" tIns="121900" rIns="121900" bIns="121900" anchor="t" anchorCtr="0">
            <a:spAutoFit/>
          </a:bodyPr>
          <a:lstStyle/>
          <a:p>
            <a:r>
              <a:rPr lang="en" sz="800" dirty="0">
                <a:solidFill>
                  <a:schemeClr val="lt1"/>
                </a:solidFill>
              </a:rPr>
              <a:t>Trans Impedance </a:t>
            </a:r>
            <a:endParaRPr sz="800" dirty="0">
              <a:solidFill>
                <a:schemeClr val="lt1"/>
              </a:solidFill>
            </a:endParaRPr>
          </a:p>
          <a:p>
            <a:pPr algn="ctr"/>
            <a:r>
              <a:rPr lang="en" sz="800" dirty="0">
                <a:solidFill>
                  <a:schemeClr val="lt1"/>
                </a:solidFill>
              </a:rPr>
              <a:t>Amplifier </a:t>
            </a:r>
            <a:endParaRPr sz="800" dirty="0">
              <a:solidFill>
                <a:schemeClr val="lt1"/>
              </a:solidFill>
            </a:endParaRPr>
          </a:p>
        </p:txBody>
      </p:sp>
      <p:sp>
        <p:nvSpPr>
          <p:cNvPr id="44" name="Google Shape;60;p13">
            <a:extLst>
              <a:ext uri="{FF2B5EF4-FFF2-40B4-BE49-F238E27FC236}">
                <a16:creationId xmlns:a16="http://schemas.microsoft.com/office/drawing/2014/main" id="{97018DB5-8CF6-4E2B-8F04-13BEDE16C5C3}"/>
              </a:ext>
            </a:extLst>
          </p:cNvPr>
          <p:cNvSpPr txBox="1"/>
          <p:nvPr/>
        </p:nvSpPr>
        <p:spPr>
          <a:xfrm flipH="1">
            <a:off x="8109899" y="1988555"/>
            <a:ext cx="419784" cy="369291"/>
          </a:xfrm>
          <a:prstGeom prst="rect">
            <a:avLst/>
          </a:prstGeom>
          <a:solidFill>
            <a:srgbClr val="000000"/>
          </a:solidFill>
          <a:ln>
            <a:noFill/>
          </a:ln>
        </p:spPr>
        <p:txBody>
          <a:bodyPr spcFirstLastPara="1" wrap="square" lIns="121900" tIns="121900" rIns="121900" bIns="121900" anchor="t" anchorCtr="0">
            <a:spAutoFit/>
          </a:bodyPr>
          <a:lstStyle/>
          <a:p>
            <a:r>
              <a:rPr lang="en" sz="800" dirty="0">
                <a:solidFill>
                  <a:schemeClr val="lt1"/>
                </a:solidFill>
              </a:rPr>
              <a:t>LPF</a:t>
            </a:r>
            <a:endParaRPr sz="800" dirty="0">
              <a:solidFill>
                <a:schemeClr val="lt1"/>
              </a:solidFill>
            </a:endParaRPr>
          </a:p>
        </p:txBody>
      </p:sp>
      <p:sp>
        <p:nvSpPr>
          <p:cNvPr id="45" name="Google Shape;61;p13">
            <a:extLst>
              <a:ext uri="{FF2B5EF4-FFF2-40B4-BE49-F238E27FC236}">
                <a16:creationId xmlns:a16="http://schemas.microsoft.com/office/drawing/2014/main" id="{FD4C70CE-CE25-4D2E-94F5-CE1030A99324}"/>
              </a:ext>
            </a:extLst>
          </p:cNvPr>
          <p:cNvSpPr txBox="1"/>
          <p:nvPr/>
        </p:nvSpPr>
        <p:spPr>
          <a:xfrm>
            <a:off x="5087822" y="1922368"/>
            <a:ext cx="419783" cy="369291"/>
          </a:xfrm>
          <a:prstGeom prst="rect">
            <a:avLst/>
          </a:prstGeom>
          <a:solidFill>
            <a:srgbClr val="000000"/>
          </a:solidFill>
          <a:ln>
            <a:noFill/>
          </a:ln>
        </p:spPr>
        <p:txBody>
          <a:bodyPr spcFirstLastPara="1" wrap="square" lIns="121900" tIns="121900" rIns="121900" bIns="121900" anchor="t" anchorCtr="0">
            <a:spAutoFit/>
          </a:bodyPr>
          <a:lstStyle/>
          <a:p>
            <a:r>
              <a:rPr lang="en" sz="800" dirty="0">
                <a:solidFill>
                  <a:schemeClr val="lt1"/>
                </a:solidFill>
              </a:rPr>
              <a:t>HPF</a:t>
            </a:r>
            <a:endParaRPr sz="800" dirty="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PPG Signal Acquisition &amp; Digital Filtering</a:t>
            </a:r>
            <a:endParaRPr lang="en-US" sz="2000" dirty="0"/>
          </a:p>
        </p:txBody>
      </p:sp>
      <p:sp>
        <p:nvSpPr>
          <p:cNvPr id="4" name="Shape 2"/>
          <p:cNvSpPr/>
          <p:nvPr/>
        </p:nvSpPr>
        <p:spPr>
          <a:xfrm>
            <a:off x="0" y="4892040"/>
            <a:ext cx="9144000" cy="251460"/>
          </a:xfrm>
          <a:prstGeom prst="rect">
            <a:avLst/>
          </a:prstGeom>
          <a:solidFill>
            <a:srgbClr val="0D2B4E"/>
          </a:solidFill>
          <a:ln w="12700">
            <a:solidFill>
              <a:srgbClr val="0D2B4E"/>
            </a:solidFill>
            <a:prstDash val="solid"/>
          </a:ln>
        </p:spPr>
      </p:sp>
      <p:sp>
        <p:nvSpPr>
          <p:cNvPr id="5" name="Text 3"/>
          <p:cNvSpPr/>
          <p:nvPr/>
        </p:nvSpPr>
        <p:spPr>
          <a:xfrm>
            <a:off x="274320" y="4892040"/>
            <a:ext cx="7772400" cy="251460"/>
          </a:xfrm>
          <a:prstGeom prst="rect">
            <a:avLst/>
          </a:prstGeom>
          <a:noFill/>
          <a:ln/>
        </p:spPr>
        <p:txBody>
          <a:bodyPr wrap="square" lIns="0" tIns="0" rIns="0" bIns="0" rtlCol="0" anchor="ctr"/>
          <a:lstStyle/>
          <a:p>
            <a:r>
              <a:rPr lang="en-US" sz="900" dirty="0">
                <a:solidFill>
                  <a:srgbClr val="99C8D6"/>
                </a:solidFill>
                <a:latin typeface="Calibri" pitchFamily="34" charset="0"/>
                <a:ea typeface="Calibri" pitchFamily="34" charset="-122"/>
                <a:cs typeface="Calibri" pitchFamily="34" charset="-120"/>
              </a:rPr>
              <a:t>BP Estimator | IRPE, University of Calcutta</a:t>
            </a:r>
            <a:endParaRPr lang="en-US" sz="900" dirty="0"/>
          </a:p>
        </p:txBody>
      </p:sp>
      <p:sp>
        <p:nvSpPr>
          <p:cNvPr id="6" name="Text 4"/>
          <p:cNvSpPr/>
          <p:nvPr/>
        </p:nvSpPr>
        <p:spPr>
          <a:xfrm>
            <a:off x="8412480" y="4892040"/>
            <a:ext cx="548640" cy="251460"/>
          </a:xfrm>
          <a:prstGeom prst="rect">
            <a:avLst/>
          </a:prstGeom>
          <a:noFill/>
          <a:ln/>
        </p:spPr>
        <p:txBody>
          <a:bodyPr wrap="square" lIns="0" tIns="0" rIns="0" bIns="0" rtlCol="0" anchor="ctr"/>
          <a:lstStyle/>
          <a:p>
            <a:pPr marL="0" indent="0" algn="ctr">
              <a:buNone/>
            </a:pPr>
            <a:endParaRPr lang="en-US" sz="900" dirty="0"/>
          </a:p>
        </p:txBody>
      </p:sp>
      <p:sp>
        <p:nvSpPr>
          <p:cNvPr id="7" name="Shape 5"/>
          <p:cNvSpPr/>
          <p:nvPr/>
        </p:nvSpPr>
        <p:spPr>
          <a:xfrm>
            <a:off x="256032" y="804672"/>
            <a:ext cx="4114800" cy="1920240"/>
          </a:xfrm>
          <a:prstGeom prst="rect">
            <a:avLst/>
          </a:prstGeom>
          <a:solidFill>
            <a:srgbClr val="F7FCFD"/>
          </a:solidFill>
          <a:ln w="12700">
            <a:solidFill>
              <a:srgbClr val="D8EEF2"/>
            </a:solidFill>
            <a:prstDash val="solid"/>
          </a:ln>
          <a:effectLst>
            <a:outerShdw blurRad="101600" dist="38100" dir="8100000" algn="bl" rotWithShape="0">
              <a:srgbClr val="000000">
                <a:alpha val="12000"/>
              </a:srgbClr>
            </a:outerShdw>
          </a:effectLst>
        </p:spPr>
      </p:sp>
      <p:sp>
        <p:nvSpPr>
          <p:cNvPr id="8" name="Shape 6"/>
          <p:cNvSpPr/>
          <p:nvPr/>
        </p:nvSpPr>
        <p:spPr>
          <a:xfrm>
            <a:off x="256032" y="804672"/>
            <a:ext cx="64008" cy="1920240"/>
          </a:xfrm>
          <a:prstGeom prst="rect">
            <a:avLst/>
          </a:prstGeom>
          <a:solidFill>
            <a:srgbClr val="0B7A8F"/>
          </a:solidFill>
          <a:ln w="12700">
            <a:solidFill>
              <a:srgbClr val="0B7A8F"/>
            </a:solidFill>
            <a:prstDash val="solid"/>
          </a:ln>
        </p:spPr>
      </p:sp>
      <p:sp>
        <p:nvSpPr>
          <p:cNvPr id="9" name="Text 7"/>
          <p:cNvSpPr/>
          <p:nvPr/>
        </p:nvSpPr>
        <p:spPr>
          <a:xfrm>
            <a:off x="457200" y="868680"/>
            <a:ext cx="3749040" cy="274320"/>
          </a:xfrm>
          <a:prstGeom prst="rect">
            <a:avLst/>
          </a:prstGeom>
          <a:noFill/>
          <a:ln/>
        </p:spPr>
        <p:txBody>
          <a:bodyPr wrap="square" lIns="0" tIns="0" rIns="0" bIns="0" rtlCol="0" anchor="ctr"/>
          <a:lstStyle/>
          <a:p>
            <a:pPr marL="0" indent="0">
              <a:buNone/>
            </a:pPr>
            <a:r>
              <a:rPr lang="en-US" sz="1300" b="1" dirty="0">
                <a:solidFill>
                  <a:srgbClr val="0D2B4E"/>
                </a:solidFill>
                <a:latin typeface="Calibri" pitchFamily="34" charset="0"/>
                <a:ea typeface="Calibri" pitchFamily="34" charset="-122"/>
                <a:cs typeface="Calibri" pitchFamily="34" charset="-120"/>
              </a:rPr>
              <a:t>ESP32 Acquisition</a:t>
            </a:r>
            <a:endParaRPr lang="en-US" sz="1300" dirty="0"/>
          </a:p>
        </p:txBody>
      </p:sp>
      <p:sp>
        <p:nvSpPr>
          <p:cNvPr id="10" name="Text 8"/>
          <p:cNvSpPr/>
          <p:nvPr/>
        </p:nvSpPr>
        <p:spPr>
          <a:xfrm>
            <a:off x="457200" y="1188720"/>
            <a:ext cx="3749040" cy="141732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 Sampling rate: </a:t>
            </a:r>
            <a:r>
              <a:rPr lang="en-US" sz="1100" dirty="0">
                <a:solidFill>
                  <a:srgbClr val="1E293B"/>
                </a:solidFill>
                <a:latin typeface="Calibri" pitchFamily="34" charset="0"/>
                <a:ea typeface="Calibri" pitchFamily="34" charset="-122"/>
                <a:cs typeface="Calibri" pitchFamily="34" charset="-120"/>
              </a:rPr>
              <a:t>101 Hz via 12-bit ADC (GPIO34)
</a:t>
            </a:r>
            <a:r>
              <a:rPr lang="en-US" sz="1100" b="1" dirty="0">
                <a:solidFill>
                  <a:srgbClr val="1E293B"/>
                </a:solidFill>
                <a:latin typeface="Calibri" pitchFamily="34" charset="0"/>
                <a:ea typeface="Calibri" pitchFamily="34" charset="-122"/>
                <a:cs typeface="Calibri" pitchFamily="34" charset="-120"/>
              </a:rPr>
              <a:t>• ADC range: </a:t>
            </a:r>
            <a:r>
              <a:rPr lang="en-US" sz="1100" dirty="0">
                <a:solidFill>
                  <a:srgbClr val="1E293B"/>
                </a:solidFill>
                <a:latin typeface="Calibri" pitchFamily="34" charset="0"/>
                <a:ea typeface="Calibri" pitchFamily="34" charset="-122"/>
                <a:cs typeface="Calibri" pitchFamily="34" charset="-120"/>
              </a:rPr>
              <a:t>0 – 3.3 V → 0 – 4095 counts
</a:t>
            </a:r>
            <a:r>
              <a:rPr lang="en-US" sz="1100" b="1" dirty="0">
                <a:solidFill>
                  <a:srgbClr val="1E293B"/>
                </a:solidFill>
                <a:latin typeface="Calibri" pitchFamily="34" charset="0"/>
                <a:ea typeface="Calibri" pitchFamily="34" charset="-122"/>
                <a:cs typeface="Calibri" pitchFamily="34" charset="-120"/>
              </a:rPr>
              <a:t>• Beat detection: </a:t>
            </a:r>
            <a:r>
              <a:rPr lang="en-US" sz="1100" dirty="0">
                <a:solidFill>
                  <a:srgbClr val="1E293B"/>
                </a:solidFill>
                <a:latin typeface="Calibri" pitchFamily="34" charset="0"/>
                <a:ea typeface="Calibri" pitchFamily="34" charset="-122"/>
                <a:cs typeface="Calibri" pitchFamily="34" charset="-120"/>
              </a:rPr>
              <a:t>Peak-valley identification per cardiac cycle
</a:t>
            </a:r>
            <a:r>
              <a:rPr lang="en-US" sz="1100" b="1" dirty="0">
                <a:solidFill>
                  <a:srgbClr val="1E293B"/>
                </a:solidFill>
                <a:latin typeface="Calibri" pitchFamily="34" charset="0"/>
                <a:ea typeface="Calibri" pitchFamily="34" charset="-122"/>
                <a:cs typeface="Calibri" pitchFamily="34" charset="-120"/>
              </a:rPr>
              <a:t>• No-finger guard: </a:t>
            </a:r>
            <a:r>
              <a:rPr lang="en-US" sz="1100" dirty="0">
                <a:solidFill>
                  <a:srgbClr val="1E293B"/>
                </a:solidFill>
                <a:latin typeface="Calibri" pitchFamily="34" charset="0"/>
                <a:ea typeface="Calibri" pitchFamily="34" charset="-122"/>
                <a:cs typeface="Calibri" pitchFamily="34" charset="-120"/>
              </a:rPr>
              <a:t>ACF threshold &lt; 0.45 → reject segment</a:t>
            </a:r>
            <a:endParaRPr lang="en-US" sz="1100" dirty="0"/>
          </a:p>
        </p:txBody>
      </p:sp>
      <p:sp>
        <p:nvSpPr>
          <p:cNvPr id="11" name="Shape 9"/>
          <p:cNvSpPr/>
          <p:nvPr/>
        </p:nvSpPr>
        <p:spPr>
          <a:xfrm>
            <a:off x="4572000" y="804672"/>
            <a:ext cx="4297680" cy="1920240"/>
          </a:xfrm>
          <a:prstGeom prst="rect">
            <a:avLst/>
          </a:prstGeom>
          <a:solidFill>
            <a:srgbClr val="F7FCFD"/>
          </a:solidFill>
          <a:ln w="12700">
            <a:solidFill>
              <a:srgbClr val="D8EEF2"/>
            </a:solidFill>
            <a:prstDash val="solid"/>
          </a:ln>
          <a:effectLst>
            <a:outerShdw blurRad="101600" dist="38100" dir="8100000" algn="bl" rotWithShape="0">
              <a:srgbClr val="000000">
                <a:alpha val="12000"/>
              </a:srgbClr>
            </a:outerShdw>
          </a:effectLst>
        </p:spPr>
      </p:sp>
      <p:sp>
        <p:nvSpPr>
          <p:cNvPr id="12" name="Shape 10"/>
          <p:cNvSpPr/>
          <p:nvPr/>
        </p:nvSpPr>
        <p:spPr>
          <a:xfrm>
            <a:off x="4572000" y="804672"/>
            <a:ext cx="64008" cy="1920240"/>
          </a:xfrm>
          <a:prstGeom prst="rect">
            <a:avLst/>
          </a:prstGeom>
          <a:solidFill>
            <a:srgbClr val="00B4A0"/>
          </a:solidFill>
          <a:ln w="12700">
            <a:solidFill>
              <a:srgbClr val="00B4A0"/>
            </a:solidFill>
            <a:prstDash val="solid"/>
          </a:ln>
        </p:spPr>
      </p:sp>
      <p:sp>
        <p:nvSpPr>
          <p:cNvPr id="13" name="Text 11"/>
          <p:cNvSpPr/>
          <p:nvPr/>
        </p:nvSpPr>
        <p:spPr>
          <a:xfrm>
            <a:off x="4754880" y="868680"/>
            <a:ext cx="3931920" cy="274320"/>
          </a:xfrm>
          <a:prstGeom prst="rect">
            <a:avLst/>
          </a:prstGeom>
          <a:noFill/>
          <a:ln/>
        </p:spPr>
        <p:txBody>
          <a:bodyPr wrap="square" lIns="0" tIns="0" rIns="0" bIns="0" rtlCol="0" anchor="ctr"/>
          <a:lstStyle/>
          <a:p>
            <a:pPr marL="0" indent="0">
              <a:buNone/>
            </a:pPr>
            <a:r>
              <a:rPr lang="en-US" sz="1300" b="1" dirty="0">
                <a:solidFill>
                  <a:srgbClr val="0D2B4E"/>
                </a:solidFill>
                <a:latin typeface="Calibri" pitchFamily="34" charset="0"/>
                <a:ea typeface="Calibri" pitchFamily="34" charset="-122"/>
                <a:cs typeface="Calibri" pitchFamily="34" charset="-120"/>
              </a:rPr>
              <a:t>Digital Filter SNR Comparison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663440" y="1188720"/>
          <a:ext cx="4160520" cy="1405128"/>
        </p:xfrm>
        <a:graphic>
          <a:graphicData uri="http://schemas.openxmlformats.org/drawingml/2006/table">
            <a:tbl>
              <a:tblPr/>
              <a:tblGrid>
                <a:gridCol w="15087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256032">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Filter</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SNR In (dB)</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SNR Out (dB)</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Improvement</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extLst>
                  <a:ext uri="{0D108BD9-81ED-4DB2-BD59-A6C34878D82A}">
                    <a16:rowId xmlns:a16="http://schemas.microsoft.com/office/drawing/2014/main" val="10000"/>
                  </a:ext>
                </a:extLst>
              </a:tr>
              <a:tr h="256032">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Butterworth (4th)</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16.37</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-0.99 → ✓</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17.36</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extLst>
                  <a:ext uri="{0D108BD9-81ED-4DB2-BD59-A6C34878D82A}">
                    <a16:rowId xmlns:a16="http://schemas.microsoft.com/office/drawing/2014/main" val="10001"/>
                  </a:ext>
                </a:extLst>
              </a:tr>
              <a:tr h="256032">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Chebyshev I (4th)</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16.37</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~17.5</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~18.0</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extLst>
                  <a:ext uri="{0D108BD9-81ED-4DB2-BD59-A6C34878D82A}">
                    <a16:rowId xmlns:a16="http://schemas.microsoft.com/office/drawing/2014/main" val="10002"/>
                  </a:ext>
                </a:extLst>
              </a:tr>
              <a:tr h="256032">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Elliptic (4th)</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16.37</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~19.0</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extLst>
                  <a:ext uri="{0D108BD9-81ED-4DB2-BD59-A6C34878D82A}">
                    <a16:rowId xmlns:a16="http://schemas.microsoft.com/office/drawing/2014/main" val="10003"/>
                  </a:ext>
                </a:extLst>
              </a:tr>
              <a:tr h="256032">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 Butterworth (Analog)</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7.45</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21.007</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tc>
                  <a:txBody>
                    <a:bodyPr/>
                    <a:lstStyle/>
                    <a:p>
                      <a:pPr marL="0" indent="0">
                        <a:buNone/>
                      </a:pPr>
                      <a:r>
                        <a:rPr lang="en-US" sz="950" dirty="0">
                          <a:solidFill>
                            <a:srgbClr val="000000"/>
                          </a:solidFill>
                          <a:latin typeface="Calibri" pitchFamily="34" charset="0"/>
                          <a:ea typeface="Calibri" pitchFamily="34" charset="-122"/>
                          <a:cs typeface="Calibri" pitchFamily="34" charset="-120"/>
                        </a:rPr>
                        <a:t>13.557</a:t>
                      </a:r>
                      <a:endParaRPr lang="en-US" sz="950" dirty="0">
                        <a:latin typeface="Calibri" charset="0"/>
                        <a:ea typeface="Calibri" charset="0"/>
                        <a:cs typeface="Calibri" charset="0"/>
                      </a:endParaRPr>
                    </a:p>
                  </a:txBody>
                  <a:tcPr>
                    <a:lnL w="6350" cap="flat" cmpd="sng" algn="ctr">
                      <a:solidFill>
                        <a:srgbClr val="CBE8EF"/>
                      </a:solidFill>
                      <a:prstDash val="solid"/>
                      <a:round/>
                      <a:headEnd type="none" w="med" len="med"/>
                      <a:tailEnd type="none" w="med" len="med"/>
                    </a:lnL>
                    <a:lnR w="6350" cap="flat" cmpd="sng" algn="ctr">
                      <a:solidFill>
                        <a:srgbClr val="CBE8EF"/>
                      </a:solidFill>
                      <a:prstDash val="solid"/>
                      <a:round/>
                      <a:headEnd type="none" w="med" len="med"/>
                      <a:tailEnd type="none" w="med" len="med"/>
                    </a:lnR>
                    <a:lnT w="6350" cap="flat" cmpd="sng" algn="ctr">
                      <a:solidFill>
                        <a:srgbClr val="CBE8EF"/>
                      </a:solidFill>
                      <a:prstDash val="solid"/>
                      <a:round/>
                      <a:headEnd type="none" w="med" len="med"/>
                      <a:tailEnd type="none" w="med" len="med"/>
                    </a:lnT>
                    <a:lnB w="6350" cap="flat" cmpd="sng" algn="ctr">
                      <a:solidFill>
                        <a:srgbClr val="CBE8EF"/>
                      </a:solidFill>
                      <a:prstDash val="solid"/>
                      <a:round/>
                      <a:headEnd type="none" w="med" len="med"/>
                      <a:tailEnd type="none" w="med" len="med"/>
                    </a:lnB>
                    <a:solidFill>
                      <a:srgbClr val="F7FCFD"/>
                    </a:solidFill>
                  </a:tcPr>
                </a:tc>
                <a:extLst>
                  <a:ext uri="{0D108BD9-81ED-4DB2-BD59-A6C34878D82A}">
                    <a16:rowId xmlns:a16="http://schemas.microsoft.com/office/drawing/2014/main" val="10004"/>
                  </a:ext>
                </a:extLst>
              </a:tr>
            </a:tbl>
          </a:graphicData>
        </a:graphic>
      </p:graphicFrame>
      <p:sp>
        <p:nvSpPr>
          <p:cNvPr id="15" name="Shape 12"/>
          <p:cNvSpPr/>
          <p:nvPr/>
        </p:nvSpPr>
        <p:spPr>
          <a:xfrm>
            <a:off x="256032" y="2834640"/>
            <a:ext cx="8631936" cy="1783080"/>
          </a:xfrm>
          <a:prstGeom prst="rect">
            <a:avLst/>
          </a:prstGeom>
          <a:solidFill>
            <a:srgbClr val="0D2B4E"/>
          </a:solidFill>
          <a:ln w="12700">
            <a:solidFill>
              <a:srgbClr val="0D2B4E"/>
            </a:solidFill>
            <a:prstDash val="solid"/>
          </a:ln>
          <a:effectLst>
            <a:outerShdw blurRad="101600" dist="38100" dir="8100000" algn="bl" rotWithShape="0">
              <a:srgbClr val="000000">
                <a:alpha val="12000"/>
              </a:srgbClr>
            </a:outerShdw>
          </a:effectLst>
        </p:spPr>
      </p:sp>
      <p:sp>
        <p:nvSpPr>
          <p:cNvPr id="16" name="Text 13"/>
          <p:cNvSpPr/>
          <p:nvPr/>
        </p:nvSpPr>
        <p:spPr>
          <a:xfrm>
            <a:off x="411480" y="2889504"/>
            <a:ext cx="8321040" cy="292608"/>
          </a:xfrm>
          <a:prstGeom prst="rect">
            <a:avLst/>
          </a:prstGeom>
          <a:noFill/>
          <a:ln/>
        </p:spPr>
        <p:txBody>
          <a:bodyPr wrap="square" lIns="0" tIns="0" rIns="0" bIns="0" rtlCol="0" anchor="ctr"/>
          <a:lstStyle/>
          <a:p>
            <a:pPr marL="0" indent="0">
              <a:buNone/>
            </a:pPr>
            <a:r>
              <a:rPr lang="en-US" sz="1300" b="1" dirty="0">
                <a:solidFill>
                  <a:srgbClr val="00B4A0"/>
                </a:solidFill>
                <a:latin typeface="Calibri" pitchFamily="34" charset="0"/>
                <a:ea typeface="Calibri" pitchFamily="34" charset="-122"/>
                <a:cs typeface="Calibri" pitchFamily="34" charset="-120"/>
              </a:rPr>
              <a:t>Analog Front-End SNR Performance (Verified on Oscilloscope)</a:t>
            </a:r>
            <a:endParaRPr lang="en-US" sz="1300" dirty="0"/>
          </a:p>
        </p:txBody>
      </p:sp>
      <p:sp>
        <p:nvSpPr>
          <p:cNvPr id="17" name="Text 14"/>
          <p:cNvSpPr/>
          <p:nvPr/>
        </p:nvSpPr>
        <p:spPr>
          <a:xfrm>
            <a:off x="457200" y="3236976"/>
            <a:ext cx="1920240" cy="274320"/>
          </a:xfrm>
          <a:prstGeom prst="rect">
            <a:avLst/>
          </a:prstGeom>
          <a:noFill/>
          <a:ln/>
        </p:spPr>
        <p:txBody>
          <a:bodyPr wrap="square" lIns="0" tIns="0" rIns="0" bIns="0" rtlCol="0" anchor="ctr"/>
          <a:lstStyle/>
          <a:p>
            <a:pPr marL="0" indent="0" algn="ctr">
              <a:buNone/>
            </a:pPr>
            <a:r>
              <a:rPr lang="en-US" sz="1100" dirty="0">
                <a:solidFill>
                  <a:srgbClr val="99C8D6"/>
                </a:solidFill>
                <a:latin typeface="Calibri" pitchFamily="34" charset="0"/>
                <a:ea typeface="Calibri" pitchFamily="34" charset="-122"/>
                <a:cs typeface="Calibri" pitchFamily="34" charset="-120"/>
              </a:rPr>
              <a:t>SNRᵢₙ</a:t>
            </a:r>
            <a:endParaRPr lang="en-US" sz="1100" dirty="0"/>
          </a:p>
        </p:txBody>
      </p:sp>
      <p:sp>
        <p:nvSpPr>
          <p:cNvPr id="18" name="Text 15"/>
          <p:cNvSpPr/>
          <p:nvPr/>
        </p:nvSpPr>
        <p:spPr>
          <a:xfrm>
            <a:off x="457200" y="3511296"/>
            <a:ext cx="1920240" cy="475488"/>
          </a:xfrm>
          <a:prstGeom prst="rect">
            <a:avLst/>
          </a:prstGeom>
          <a:noFill/>
          <a:ln/>
        </p:spPr>
        <p:txBody>
          <a:bodyPr wrap="square" lIns="0" tIns="0" rIns="0" bIns="0" rtlCol="0" anchor="ctr"/>
          <a:lstStyle/>
          <a:p>
            <a:pPr marL="0" indent="0" algn="ctr">
              <a:buNone/>
            </a:pPr>
            <a:r>
              <a:rPr lang="en-US" sz="2200" b="1" dirty="0">
                <a:solidFill>
                  <a:srgbClr val="00B4A0"/>
                </a:solidFill>
                <a:latin typeface="Calibri" pitchFamily="34" charset="0"/>
                <a:ea typeface="Calibri" pitchFamily="34" charset="-122"/>
                <a:cs typeface="Calibri" pitchFamily="34" charset="-120"/>
              </a:rPr>
              <a:t>7.45 dB</a:t>
            </a:r>
            <a:endParaRPr lang="en-US" sz="2200" dirty="0"/>
          </a:p>
        </p:txBody>
      </p:sp>
      <p:sp>
        <p:nvSpPr>
          <p:cNvPr id="19" name="Text 16"/>
          <p:cNvSpPr/>
          <p:nvPr/>
        </p:nvSpPr>
        <p:spPr>
          <a:xfrm>
            <a:off x="457200" y="3986784"/>
            <a:ext cx="1920240" cy="457200"/>
          </a:xfrm>
          <a:prstGeom prst="rect">
            <a:avLst/>
          </a:prstGeom>
          <a:noFill/>
          <a:ln/>
        </p:spPr>
        <p:txBody>
          <a:bodyPr wrap="square" lIns="0" tIns="0" rIns="0" bIns="0" rtlCol="0" anchor="ctr"/>
          <a:lstStyle/>
          <a:p>
            <a:pPr marL="0" indent="0" algn="ctr">
              <a:buNone/>
            </a:pPr>
            <a:r>
              <a:rPr lang="en-US" sz="900" dirty="0">
                <a:solidFill>
                  <a:srgbClr val="7BBFCC"/>
                </a:solidFill>
                <a:latin typeface="Calibri" pitchFamily="34" charset="0"/>
                <a:ea typeface="Calibri" pitchFamily="34" charset="-122"/>
                <a:cs typeface="Calibri" pitchFamily="34" charset="-120"/>
              </a:rPr>
              <a:t>Input SNR</a:t>
            </a:r>
            <a:endParaRPr lang="en-US" sz="900" dirty="0"/>
          </a:p>
          <a:p>
            <a:pPr marL="0" indent="0" algn="ctr">
              <a:buNone/>
            </a:pPr>
            <a:r>
              <a:rPr lang="en-US" sz="900" dirty="0">
                <a:solidFill>
                  <a:srgbClr val="7BBFCC"/>
                </a:solidFill>
                <a:latin typeface="Calibri" pitchFamily="34" charset="0"/>
                <a:ea typeface="Calibri" pitchFamily="34" charset="-122"/>
                <a:cs typeface="Calibri" pitchFamily="34" charset="-120"/>
              </a:rPr>
              <a:t>(raw PPG)</a:t>
            </a:r>
            <a:endParaRPr lang="en-US" sz="900" dirty="0"/>
          </a:p>
        </p:txBody>
      </p:sp>
      <p:sp>
        <p:nvSpPr>
          <p:cNvPr id="20" name="Text 17"/>
          <p:cNvSpPr/>
          <p:nvPr/>
        </p:nvSpPr>
        <p:spPr>
          <a:xfrm>
            <a:off x="2633472" y="3236976"/>
            <a:ext cx="1920240" cy="274320"/>
          </a:xfrm>
          <a:prstGeom prst="rect">
            <a:avLst/>
          </a:prstGeom>
          <a:noFill/>
          <a:ln/>
        </p:spPr>
        <p:txBody>
          <a:bodyPr wrap="square" lIns="0" tIns="0" rIns="0" bIns="0" rtlCol="0" anchor="ctr"/>
          <a:lstStyle/>
          <a:p>
            <a:pPr marL="0" indent="0" algn="ctr">
              <a:buNone/>
            </a:pPr>
            <a:r>
              <a:rPr lang="en-US" sz="1100" dirty="0">
                <a:solidFill>
                  <a:srgbClr val="99C8D6"/>
                </a:solidFill>
                <a:latin typeface="Calibri" pitchFamily="34" charset="0"/>
                <a:ea typeface="Calibri" pitchFamily="34" charset="-122"/>
                <a:cs typeface="Calibri" pitchFamily="34" charset="-120"/>
              </a:rPr>
              <a:t>SNRₒᵤₜ</a:t>
            </a:r>
            <a:endParaRPr lang="en-US" sz="1100" dirty="0"/>
          </a:p>
        </p:txBody>
      </p:sp>
      <p:sp>
        <p:nvSpPr>
          <p:cNvPr id="21" name="Text 18"/>
          <p:cNvSpPr/>
          <p:nvPr/>
        </p:nvSpPr>
        <p:spPr>
          <a:xfrm>
            <a:off x="2633472" y="3511296"/>
            <a:ext cx="1920240" cy="475488"/>
          </a:xfrm>
          <a:prstGeom prst="rect">
            <a:avLst/>
          </a:prstGeom>
          <a:noFill/>
          <a:ln/>
        </p:spPr>
        <p:txBody>
          <a:bodyPr wrap="square" lIns="0" tIns="0" rIns="0" bIns="0" rtlCol="0" anchor="ctr"/>
          <a:lstStyle/>
          <a:p>
            <a:pPr marL="0" indent="0" algn="ctr">
              <a:buNone/>
            </a:pPr>
            <a:r>
              <a:rPr lang="en-US" sz="2200" b="1" dirty="0">
                <a:solidFill>
                  <a:srgbClr val="00B4A0"/>
                </a:solidFill>
                <a:latin typeface="Calibri" pitchFamily="34" charset="0"/>
                <a:ea typeface="Calibri" pitchFamily="34" charset="-122"/>
                <a:cs typeface="Calibri" pitchFamily="34" charset="-120"/>
              </a:rPr>
              <a:t>21.0 dB</a:t>
            </a:r>
            <a:endParaRPr lang="en-US" sz="2200" dirty="0"/>
          </a:p>
        </p:txBody>
      </p:sp>
      <p:sp>
        <p:nvSpPr>
          <p:cNvPr id="22" name="Text 19"/>
          <p:cNvSpPr/>
          <p:nvPr/>
        </p:nvSpPr>
        <p:spPr>
          <a:xfrm>
            <a:off x="2633472" y="3986784"/>
            <a:ext cx="1920240" cy="457200"/>
          </a:xfrm>
          <a:prstGeom prst="rect">
            <a:avLst/>
          </a:prstGeom>
          <a:noFill/>
          <a:ln/>
        </p:spPr>
        <p:txBody>
          <a:bodyPr wrap="square" lIns="0" tIns="0" rIns="0" bIns="0" rtlCol="0" anchor="ctr"/>
          <a:lstStyle/>
          <a:p>
            <a:pPr marL="0" indent="0" algn="ctr">
              <a:buNone/>
            </a:pPr>
            <a:r>
              <a:rPr lang="en-US" sz="900" dirty="0">
                <a:solidFill>
                  <a:srgbClr val="7BBFCC"/>
                </a:solidFill>
                <a:latin typeface="Calibri" pitchFamily="34" charset="0"/>
                <a:ea typeface="Calibri" pitchFamily="34" charset="-122"/>
                <a:cs typeface="Calibri" pitchFamily="34" charset="-120"/>
              </a:rPr>
              <a:t>Output SNR</a:t>
            </a:r>
            <a:endParaRPr lang="en-US" sz="900" dirty="0"/>
          </a:p>
          <a:p>
            <a:pPr marL="0" indent="0" algn="ctr">
              <a:buNone/>
            </a:pPr>
            <a:r>
              <a:rPr lang="en-US" sz="900" dirty="0">
                <a:solidFill>
                  <a:srgbClr val="7BBFCC"/>
                </a:solidFill>
                <a:latin typeface="Calibri" pitchFamily="34" charset="0"/>
                <a:ea typeface="Calibri" pitchFamily="34" charset="-122"/>
                <a:cs typeface="Calibri" pitchFamily="34" charset="-120"/>
              </a:rPr>
              <a:t>(post filter)</a:t>
            </a:r>
            <a:endParaRPr lang="en-US" sz="900" dirty="0"/>
          </a:p>
        </p:txBody>
      </p:sp>
      <p:sp>
        <p:nvSpPr>
          <p:cNvPr id="23" name="Text 20"/>
          <p:cNvSpPr/>
          <p:nvPr/>
        </p:nvSpPr>
        <p:spPr>
          <a:xfrm>
            <a:off x="4809744" y="3236976"/>
            <a:ext cx="1920240" cy="274320"/>
          </a:xfrm>
          <a:prstGeom prst="rect">
            <a:avLst/>
          </a:prstGeom>
          <a:noFill/>
          <a:ln/>
        </p:spPr>
        <p:txBody>
          <a:bodyPr wrap="square" lIns="0" tIns="0" rIns="0" bIns="0" rtlCol="0" anchor="ctr"/>
          <a:lstStyle/>
          <a:p>
            <a:pPr marL="0" indent="0" algn="ctr">
              <a:buNone/>
            </a:pPr>
            <a:r>
              <a:rPr lang="en-US" sz="1100" dirty="0">
                <a:solidFill>
                  <a:srgbClr val="99C8D6"/>
                </a:solidFill>
                <a:latin typeface="Calibri" pitchFamily="34" charset="0"/>
                <a:ea typeface="Calibri" pitchFamily="34" charset="-122"/>
                <a:cs typeface="Calibri" pitchFamily="34" charset="-120"/>
              </a:rPr>
              <a:t>ΔSNR</a:t>
            </a:r>
            <a:endParaRPr lang="en-US" sz="1100" dirty="0"/>
          </a:p>
        </p:txBody>
      </p:sp>
      <p:sp>
        <p:nvSpPr>
          <p:cNvPr id="24" name="Text 21"/>
          <p:cNvSpPr/>
          <p:nvPr/>
        </p:nvSpPr>
        <p:spPr>
          <a:xfrm>
            <a:off x="4809744" y="3511296"/>
            <a:ext cx="1920240" cy="475488"/>
          </a:xfrm>
          <a:prstGeom prst="rect">
            <a:avLst/>
          </a:prstGeom>
          <a:noFill/>
          <a:ln/>
        </p:spPr>
        <p:txBody>
          <a:bodyPr wrap="square" lIns="0" tIns="0" rIns="0" bIns="0" rtlCol="0" anchor="ctr"/>
          <a:lstStyle/>
          <a:p>
            <a:pPr marL="0" indent="0" algn="ctr">
              <a:buNone/>
            </a:pPr>
            <a:r>
              <a:rPr lang="en-US" sz="2200" b="1" dirty="0">
                <a:solidFill>
                  <a:srgbClr val="00B4A0"/>
                </a:solidFill>
                <a:latin typeface="Calibri" pitchFamily="34" charset="0"/>
                <a:ea typeface="Calibri" pitchFamily="34" charset="-122"/>
                <a:cs typeface="Calibri" pitchFamily="34" charset="-120"/>
              </a:rPr>
              <a:t>13.56 dB</a:t>
            </a:r>
            <a:endParaRPr lang="en-US" sz="2200" dirty="0"/>
          </a:p>
        </p:txBody>
      </p:sp>
      <p:sp>
        <p:nvSpPr>
          <p:cNvPr id="25" name="Text 22"/>
          <p:cNvSpPr/>
          <p:nvPr/>
        </p:nvSpPr>
        <p:spPr>
          <a:xfrm>
            <a:off x="4809744" y="3986784"/>
            <a:ext cx="1920240" cy="457200"/>
          </a:xfrm>
          <a:prstGeom prst="rect">
            <a:avLst/>
          </a:prstGeom>
          <a:noFill/>
          <a:ln/>
        </p:spPr>
        <p:txBody>
          <a:bodyPr wrap="square" lIns="0" tIns="0" rIns="0" bIns="0" rtlCol="0" anchor="ctr"/>
          <a:lstStyle/>
          <a:p>
            <a:pPr marL="0" indent="0" algn="ctr">
              <a:buNone/>
            </a:pPr>
            <a:r>
              <a:rPr lang="en-US" sz="900" dirty="0">
                <a:solidFill>
                  <a:srgbClr val="7BBFCC"/>
                </a:solidFill>
                <a:latin typeface="Calibri" pitchFamily="34" charset="0"/>
                <a:ea typeface="Calibri" pitchFamily="34" charset="-122"/>
                <a:cs typeface="Calibri" pitchFamily="34" charset="-120"/>
              </a:rPr>
              <a:t>2nd-order</a:t>
            </a:r>
            <a:endParaRPr lang="en-US" sz="900" dirty="0"/>
          </a:p>
          <a:p>
            <a:pPr marL="0" indent="0" algn="ctr">
              <a:buNone/>
            </a:pPr>
            <a:r>
              <a:rPr lang="en-US" sz="900" dirty="0">
                <a:solidFill>
                  <a:srgbClr val="7BBFCC"/>
                </a:solidFill>
                <a:latin typeface="Calibri" pitchFamily="34" charset="0"/>
                <a:ea typeface="Calibri" pitchFamily="34" charset="-122"/>
                <a:cs typeface="Calibri" pitchFamily="34" charset="-120"/>
              </a:rPr>
              <a:t>Butterworth BP</a:t>
            </a:r>
            <a:endParaRPr lang="en-US" sz="900" dirty="0"/>
          </a:p>
        </p:txBody>
      </p:sp>
      <p:sp>
        <p:nvSpPr>
          <p:cNvPr id="26" name="Text 23"/>
          <p:cNvSpPr/>
          <p:nvPr/>
        </p:nvSpPr>
        <p:spPr>
          <a:xfrm>
            <a:off x="6986016" y="3236976"/>
            <a:ext cx="1920240" cy="274320"/>
          </a:xfrm>
          <a:prstGeom prst="rect">
            <a:avLst/>
          </a:prstGeom>
          <a:noFill/>
          <a:ln/>
        </p:spPr>
        <p:txBody>
          <a:bodyPr wrap="square" lIns="0" tIns="0" rIns="0" bIns="0" rtlCol="0" anchor="ctr"/>
          <a:lstStyle/>
          <a:p>
            <a:pPr marL="0" indent="0" algn="ctr">
              <a:buNone/>
            </a:pPr>
            <a:r>
              <a:rPr lang="en-US" sz="1100" dirty="0">
                <a:solidFill>
                  <a:srgbClr val="99C8D6"/>
                </a:solidFill>
                <a:latin typeface="Calibri" pitchFamily="34" charset="0"/>
                <a:ea typeface="Calibri" pitchFamily="34" charset="-122"/>
                <a:cs typeface="Calibri" pitchFamily="34" charset="-120"/>
              </a:rPr>
              <a:t>Bandwidth</a:t>
            </a:r>
            <a:endParaRPr lang="en-US" sz="1100" dirty="0"/>
          </a:p>
        </p:txBody>
      </p:sp>
      <p:sp>
        <p:nvSpPr>
          <p:cNvPr id="27" name="Text 24"/>
          <p:cNvSpPr/>
          <p:nvPr/>
        </p:nvSpPr>
        <p:spPr>
          <a:xfrm>
            <a:off x="6986016" y="3511296"/>
            <a:ext cx="1920240" cy="475488"/>
          </a:xfrm>
          <a:prstGeom prst="rect">
            <a:avLst/>
          </a:prstGeom>
          <a:noFill/>
          <a:ln/>
        </p:spPr>
        <p:txBody>
          <a:bodyPr wrap="square" lIns="0" tIns="0" rIns="0" bIns="0" rtlCol="0" anchor="ctr"/>
          <a:lstStyle/>
          <a:p>
            <a:pPr marL="0" indent="0" algn="ctr">
              <a:buNone/>
            </a:pPr>
            <a:r>
              <a:rPr lang="en-US" sz="2200" b="1" dirty="0">
                <a:solidFill>
                  <a:srgbClr val="00B4A0"/>
                </a:solidFill>
                <a:latin typeface="Calibri" pitchFamily="34" charset="0"/>
                <a:ea typeface="Calibri" pitchFamily="34" charset="-122"/>
                <a:cs typeface="Calibri" pitchFamily="34" charset="-120"/>
              </a:rPr>
              <a:t>0.1–16 Hz</a:t>
            </a:r>
            <a:endParaRPr lang="en-US" sz="2200" dirty="0"/>
          </a:p>
        </p:txBody>
      </p:sp>
      <p:sp>
        <p:nvSpPr>
          <p:cNvPr id="28" name="Text 25"/>
          <p:cNvSpPr/>
          <p:nvPr/>
        </p:nvSpPr>
        <p:spPr>
          <a:xfrm>
            <a:off x="6986016" y="3986784"/>
            <a:ext cx="1920240" cy="457200"/>
          </a:xfrm>
          <a:prstGeom prst="rect">
            <a:avLst/>
          </a:prstGeom>
          <a:noFill/>
          <a:ln/>
        </p:spPr>
        <p:txBody>
          <a:bodyPr wrap="square" lIns="0" tIns="0" rIns="0" bIns="0" rtlCol="0" anchor="ctr"/>
          <a:lstStyle/>
          <a:p>
            <a:pPr marL="0" indent="0" algn="ctr">
              <a:buNone/>
            </a:pPr>
            <a:r>
              <a:rPr lang="en-US" sz="900" dirty="0">
                <a:solidFill>
                  <a:srgbClr val="7BBFCC"/>
                </a:solidFill>
                <a:latin typeface="Calibri" pitchFamily="34" charset="0"/>
                <a:ea typeface="Calibri" pitchFamily="34" charset="-122"/>
                <a:cs typeface="Calibri" pitchFamily="34" charset="-120"/>
              </a:rPr>
              <a:t>Analog filter</a:t>
            </a:r>
            <a:endParaRPr lang="en-US" sz="900" dirty="0"/>
          </a:p>
          <a:p>
            <a:pPr marL="0" indent="0" algn="ctr">
              <a:buNone/>
            </a:pPr>
            <a:r>
              <a:rPr lang="en-US" sz="900" dirty="0">
                <a:solidFill>
                  <a:srgbClr val="7BBFCC"/>
                </a:solidFill>
                <a:latin typeface="Calibri" pitchFamily="34" charset="0"/>
                <a:ea typeface="Calibri" pitchFamily="34" charset="-122"/>
                <a:cs typeface="Calibri" pitchFamily="34" charset="-120"/>
              </a:rPr>
              <a:t>passband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Software Implementation &amp; Embedded System</a:t>
            </a:r>
            <a:endParaRPr lang="en-US" sz="2000" dirty="0"/>
          </a:p>
        </p:txBody>
      </p:sp>
      <p:sp>
        <p:nvSpPr>
          <p:cNvPr id="4" name="Shape 2"/>
          <p:cNvSpPr/>
          <p:nvPr/>
        </p:nvSpPr>
        <p:spPr>
          <a:xfrm>
            <a:off x="0" y="4892040"/>
            <a:ext cx="9144000" cy="251460"/>
          </a:xfrm>
          <a:prstGeom prst="rect">
            <a:avLst/>
          </a:prstGeom>
          <a:solidFill>
            <a:srgbClr val="0D2B4E"/>
          </a:solidFill>
          <a:ln w="12700">
            <a:solidFill>
              <a:srgbClr val="0D2B4E"/>
            </a:solidFill>
            <a:prstDash val="solid"/>
          </a:ln>
        </p:spPr>
      </p:sp>
      <p:sp>
        <p:nvSpPr>
          <p:cNvPr id="5" name="Text 3"/>
          <p:cNvSpPr/>
          <p:nvPr/>
        </p:nvSpPr>
        <p:spPr>
          <a:xfrm>
            <a:off x="274320" y="4892040"/>
            <a:ext cx="7772400" cy="251460"/>
          </a:xfrm>
          <a:prstGeom prst="rect">
            <a:avLst/>
          </a:prstGeom>
          <a:noFill/>
          <a:ln/>
        </p:spPr>
        <p:txBody>
          <a:bodyPr wrap="square" lIns="0" tIns="0" rIns="0" bIns="0" rtlCol="0" anchor="ctr"/>
          <a:lstStyle/>
          <a:p>
            <a:r>
              <a:rPr lang="en-US" sz="900" dirty="0">
                <a:solidFill>
                  <a:srgbClr val="99C8D6"/>
                </a:solidFill>
                <a:latin typeface="Calibri" pitchFamily="34" charset="0"/>
                <a:ea typeface="Calibri" pitchFamily="34" charset="-122"/>
                <a:cs typeface="Calibri" pitchFamily="34" charset="-120"/>
              </a:rPr>
              <a:t>BP Estimator | IRPE, University of Calcutta</a:t>
            </a:r>
            <a:endParaRPr lang="en-US" sz="900" dirty="0"/>
          </a:p>
        </p:txBody>
      </p:sp>
      <p:sp>
        <p:nvSpPr>
          <p:cNvPr id="7" name="Shape 5"/>
          <p:cNvSpPr/>
          <p:nvPr/>
        </p:nvSpPr>
        <p:spPr>
          <a:xfrm>
            <a:off x="256032" y="804672"/>
            <a:ext cx="4133088" cy="1828800"/>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8" name="Shape 6"/>
          <p:cNvSpPr/>
          <p:nvPr/>
        </p:nvSpPr>
        <p:spPr>
          <a:xfrm>
            <a:off x="256032" y="804672"/>
            <a:ext cx="4133088" cy="347472"/>
          </a:xfrm>
          <a:prstGeom prst="rect">
            <a:avLst/>
          </a:prstGeom>
          <a:solidFill>
            <a:srgbClr val="0D2B4E"/>
          </a:solidFill>
          <a:ln w="12700">
            <a:solidFill>
              <a:srgbClr val="0D2B4E"/>
            </a:solidFill>
            <a:prstDash val="solid"/>
          </a:ln>
        </p:spPr>
      </p:sp>
      <p:sp>
        <p:nvSpPr>
          <p:cNvPr id="9" name="Text 7"/>
          <p:cNvSpPr/>
          <p:nvPr/>
        </p:nvSpPr>
        <p:spPr>
          <a:xfrm>
            <a:off x="347472" y="804672"/>
            <a:ext cx="393192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bp_main.py — Core Inference</a:t>
            </a:r>
            <a:endParaRPr lang="en-US" sz="1150" dirty="0"/>
          </a:p>
        </p:txBody>
      </p:sp>
      <p:sp>
        <p:nvSpPr>
          <p:cNvPr id="10" name="Shape 8"/>
          <p:cNvSpPr/>
          <p:nvPr/>
        </p:nvSpPr>
        <p:spPr>
          <a:xfrm>
            <a:off x="393192" y="1271016"/>
            <a:ext cx="73152" cy="73152"/>
          </a:xfrm>
          <a:prstGeom prst="rect">
            <a:avLst/>
          </a:prstGeom>
          <a:solidFill>
            <a:srgbClr val="0D2B4E"/>
          </a:solidFill>
          <a:ln w="12700">
            <a:solidFill>
              <a:srgbClr val="0D2B4E"/>
            </a:solidFill>
            <a:prstDash val="solid"/>
          </a:ln>
        </p:spPr>
      </p:sp>
      <p:sp>
        <p:nvSpPr>
          <p:cNvPr id="11" name="Text 9"/>
          <p:cNvSpPr/>
          <p:nvPr/>
        </p:nvSpPr>
        <p:spPr>
          <a:xfrm>
            <a:off x="548640" y="1207008"/>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Runs on Raspberry Pi 4 (Python 3)</a:t>
            </a:r>
            <a:endParaRPr lang="en-US" sz="950" dirty="0"/>
          </a:p>
        </p:txBody>
      </p:sp>
      <p:sp>
        <p:nvSpPr>
          <p:cNvPr id="12" name="Shape 10"/>
          <p:cNvSpPr/>
          <p:nvPr/>
        </p:nvSpPr>
        <p:spPr>
          <a:xfrm>
            <a:off x="393192" y="1508760"/>
            <a:ext cx="73152" cy="73152"/>
          </a:xfrm>
          <a:prstGeom prst="rect">
            <a:avLst/>
          </a:prstGeom>
          <a:solidFill>
            <a:srgbClr val="0D2B4E"/>
          </a:solidFill>
          <a:ln w="12700">
            <a:solidFill>
              <a:srgbClr val="0D2B4E"/>
            </a:solidFill>
            <a:prstDash val="solid"/>
          </a:ln>
        </p:spPr>
      </p:sp>
      <p:sp>
        <p:nvSpPr>
          <p:cNvPr id="13" name="Text 11"/>
          <p:cNvSpPr/>
          <p:nvPr/>
        </p:nvSpPr>
        <p:spPr>
          <a:xfrm>
            <a:off x="548640" y="1444752"/>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Loads VAE (.keras) + RF (.pkl) models at startup</a:t>
            </a:r>
            <a:endParaRPr lang="en-US" sz="950" dirty="0"/>
          </a:p>
        </p:txBody>
      </p:sp>
      <p:sp>
        <p:nvSpPr>
          <p:cNvPr id="14" name="Shape 12"/>
          <p:cNvSpPr/>
          <p:nvPr/>
        </p:nvSpPr>
        <p:spPr>
          <a:xfrm>
            <a:off x="393192" y="1746504"/>
            <a:ext cx="73152" cy="73152"/>
          </a:xfrm>
          <a:prstGeom prst="rect">
            <a:avLst/>
          </a:prstGeom>
          <a:solidFill>
            <a:srgbClr val="0D2B4E"/>
          </a:solidFill>
          <a:ln w="12700">
            <a:solidFill>
              <a:srgbClr val="0D2B4E"/>
            </a:solidFill>
            <a:prstDash val="solid"/>
          </a:ln>
        </p:spPr>
      </p:sp>
      <p:sp>
        <p:nvSpPr>
          <p:cNvPr id="15" name="Text 13"/>
          <p:cNvSpPr/>
          <p:nvPr/>
        </p:nvSpPr>
        <p:spPr>
          <a:xfrm>
            <a:off x="548640" y="1682496"/>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Reads PPG via UART/I2C from ESP32</a:t>
            </a:r>
            <a:endParaRPr lang="en-US" sz="950" dirty="0"/>
          </a:p>
        </p:txBody>
      </p:sp>
      <p:sp>
        <p:nvSpPr>
          <p:cNvPr id="16" name="Shape 14"/>
          <p:cNvSpPr/>
          <p:nvPr/>
        </p:nvSpPr>
        <p:spPr>
          <a:xfrm>
            <a:off x="393192" y="1984248"/>
            <a:ext cx="73152" cy="73152"/>
          </a:xfrm>
          <a:prstGeom prst="rect">
            <a:avLst/>
          </a:prstGeom>
          <a:solidFill>
            <a:srgbClr val="0D2B4E"/>
          </a:solidFill>
          <a:ln w="12700">
            <a:solidFill>
              <a:srgbClr val="0D2B4E"/>
            </a:solidFill>
            <a:prstDash val="solid"/>
          </a:ln>
        </p:spPr>
      </p:sp>
      <p:sp>
        <p:nvSpPr>
          <p:cNvPr id="17" name="Text 15"/>
          <p:cNvSpPr/>
          <p:nvPr/>
        </p:nvSpPr>
        <p:spPr>
          <a:xfrm>
            <a:off x="548640" y="1920240"/>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Detects valid beat via normalized ACF threshold (0.45)</a:t>
            </a:r>
            <a:endParaRPr lang="en-US" sz="950" dirty="0"/>
          </a:p>
        </p:txBody>
      </p:sp>
      <p:sp>
        <p:nvSpPr>
          <p:cNvPr id="18" name="Shape 16"/>
          <p:cNvSpPr/>
          <p:nvPr/>
        </p:nvSpPr>
        <p:spPr>
          <a:xfrm>
            <a:off x="393192" y="2221992"/>
            <a:ext cx="73152" cy="73152"/>
          </a:xfrm>
          <a:prstGeom prst="rect">
            <a:avLst/>
          </a:prstGeom>
          <a:solidFill>
            <a:srgbClr val="0D2B4E"/>
          </a:solidFill>
          <a:ln w="12700">
            <a:solidFill>
              <a:srgbClr val="0D2B4E"/>
            </a:solidFill>
            <a:prstDash val="solid"/>
          </a:ln>
        </p:spPr>
      </p:sp>
      <p:sp>
        <p:nvSpPr>
          <p:cNvPr id="19" name="Text 17"/>
          <p:cNvSpPr/>
          <p:nvPr/>
        </p:nvSpPr>
        <p:spPr>
          <a:xfrm>
            <a:off x="548640" y="2157984"/>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Applies SBP_OFFSET &amp; DBP_OFFSET calibration constants</a:t>
            </a:r>
            <a:endParaRPr lang="en-US" sz="950" dirty="0"/>
          </a:p>
        </p:txBody>
      </p:sp>
      <p:sp>
        <p:nvSpPr>
          <p:cNvPr id="20" name="Shape 18"/>
          <p:cNvSpPr/>
          <p:nvPr/>
        </p:nvSpPr>
        <p:spPr>
          <a:xfrm>
            <a:off x="393192" y="2459736"/>
            <a:ext cx="73152" cy="73152"/>
          </a:xfrm>
          <a:prstGeom prst="rect">
            <a:avLst/>
          </a:prstGeom>
          <a:solidFill>
            <a:srgbClr val="0D2B4E"/>
          </a:solidFill>
          <a:ln w="12700">
            <a:solidFill>
              <a:srgbClr val="0D2B4E"/>
            </a:solidFill>
            <a:prstDash val="solid"/>
          </a:ln>
        </p:spPr>
      </p:sp>
      <p:sp>
        <p:nvSpPr>
          <p:cNvPr id="21" name="Text 19"/>
          <p:cNvSpPr/>
          <p:nvPr/>
        </p:nvSpPr>
        <p:spPr>
          <a:xfrm>
            <a:off x="548640" y="2395728"/>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Displays result on 16×2 I2C LCD (RPLCD library)</a:t>
            </a:r>
            <a:endParaRPr lang="en-US" sz="950" dirty="0"/>
          </a:p>
        </p:txBody>
      </p:sp>
      <p:sp>
        <p:nvSpPr>
          <p:cNvPr id="22" name="Shape 20"/>
          <p:cNvSpPr/>
          <p:nvPr/>
        </p:nvSpPr>
        <p:spPr>
          <a:xfrm>
            <a:off x="4663440" y="804672"/>
            <a:ext cx="4133088" cy="1828800"/>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23" name="Shape 21"/>
          <p:cNvSpPr/>
          <p:nvPr/>
        </p:nvSpPr>
        <p:spPr>
          <a:xfrm>
            <a:off x="4663440" y="804672"/>
            <a:ext cx="4133088" cy="347472"/>
          </a:xfrm>
          <a:prstGeom prst="rect">
            <a:avLst/>
          </a:prstGeom>
          <a:solidFill>
            <a:srgbClr val="0B7A8F"/>
          </a:solidFill>
          <a:ln w="12700">
            <a:solidFill>
              <a:srgbClr val="0B7A8F"/>
            </a:solidFill>
            <a:prstDash val="solid"/>
          </a:ln>
        </p:spPr>
      </p:sp>
      <p:sp>
        <p:nvSpPr>
          <p:cNvPr id="24" name="Text 22"/>
          <p:cNvSpPr/>
          <p:nvPr/>
        </p:nvSpPr>
        <p:spPr>
          <a:xfrm>
            <a:off x="4754880" y="804672"/>
            <a:ext cx="393192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ESP32 Firmware</a:t>
            </a:r>
            <a:endParaRPr lang="en-US" sz="1150" dirty="0"/>
          </a:p>
        </p:txBody>
      </p:sp>
      <p:sp>
        <p:nvSpPr>
          <p:cNvPr id="25" name="Shape 23"/>
          <p:cNvSpPr/>
          <p:nvPr/>
        </p:nvSpPr>
        <p:spPr>
          <a:xfrm>
            <a:off x="4800600" y="1271016"/>
            <a:ext cx="73152" cy="73152"/>
          </a:xfrm>
          <a:prstGeom prst="rect">
            <a:avLst/>
          </a:prstGeom>
          <a:solidFill>
            <a:srgbClr val="0B7A8F"/>
          </a:solidFill>
          <a:ln w="12700">
            <a:solidFill>
              <a:srgbClr val="0B7A8F"/>
            </a:solidFill>
            <a:prstDash val="solid"/>
          </a:ln>
        </p:spPr>
      </p:sp>
      <p:sp>
        <p:nvSpPr>
          <p:cNvPr id="26" name="Text 24"/>
          <p:cNvSpPr/>
          <p:nvPr/>
        </p:nvSpPr>
        <p:spPr>
          <a:xfrm>
            <a:off x="4956048" y="1207008"/>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Arduino-based firmware (ESP32 core)</a:t>
            </a:r>
            <a:endParaRPr lang="en-US" sz="950" dirty="0"/>
          </a:p>
        </p:txBody>
      </p:sp>
      <p:sp>
        <p:nvSpPr>
          <p:cNvPr id="27" name="Shape 25"/>
          <p:cNvSpPr/>
          <p:nvPr/>
        </p:nvSpPr>
        <p:spPr>
          <a:xfrm>
            <a:off x="4800600" y="1508760"/>
            <a:ext cx="73152" cy="73152"/>
          </a:xfrm>
          <a:prstGeom prst="rect">
            <a:avLst/>
          </a:prstGeom>
          <a:solidFill>
            <a:srgbClr val="0B7A8F"/>
          </a:solidFill>
          <a:ln w="12700">
            <a:solidFill>
              <a:srgbClr val="0B7A8F"/>
            </a:solidFill>
            <a:prstDash val="solid"/>
          </a:ln>
        </p:spPr>
      </p:sp>
      <p:sp>
        <p:nvSpPr>
          <p:cNvPr id="28" name="Text 26"/>
          <p:cNvSpPr/>
          <p:nvPr/>
        </p:nvSpPr>
        <p:spPr>
          <a:xfrm>
            <a:off x="4956048" y="1444752"/>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12-bit ADC sampling at 101 Hz on GPIO34</a:t>
            </a:r>
            <a:endParaRPr lang="en-US" sz="950" dirty="0"/>
          </a:p>
        </p:txBody>
      </p:sp>
      <p:sp>
        <p:nvSpPr>
          <p:cNvPr id="29" name="Shape 27"/>
          <p:cNvSpPr/>
          <p:nvPr/>
        </p:nvSpPr>
        <p:spPr>
          <a:xfrm>
            <a:off x="4800600" y="1746504"/>
            <a:ext cx="73152" cy="73152"/>
          </a:xfrm>
          <a:prstGeom prst="rect">
            <a:avLst/>
          </a:prstGeom>
          <a:solidFill>
            <a:srgbClr val="0B7A8F"/>
          </a:solidFill>
          <a:ln w="12700">
            <a:solidFill>
              <a:srgbClr val="0B7A8F"/>
            </a:solidFill>
            <a:prstDash val="solid"/>
          </a:ln>
        </p:spPr>
      </p:sp>
      <p:sp>
        <p:nvSpPr>
          <p:cNvPr id="30" name="Text 28"/>
          <p:cNvSpPr/>
          <p:nvPr/>
        </p:nvSpPr>
        <p:spPr>
          <a:xfrm>
            <a:off x="4956048" y="1682496"/>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Real-time IIR bandpass filter (0.1–16 Hz)</a:t>
            </a:r>
            <a:endParaRPr lang="en-US" sz="950" dirty="0"/>
          </a:p>
        </p:txBody>
      </p:sp>
      <p:sp>
        <p:nvSpPr>
          <p:cNvPr id="31" name="Shape 29"/>
          <p:cNvSpPr/>
          <p:nvPr/>
        </p:nvSpPr>
        <p:spPr>
          <a:xfrm>
            <a:off x="4800600" y="1984248"/>
            <a:ext cx="73152" cy="73152"/>
          </a:xfrm>
          <a:prstGeom prst="rect">
            <a:avLst/>
          </a:prstGeom>
          <a:solidFill>
            <a:srgbClr val="0B7A8F"/>
          </a:solidFill>
          <a:ln w="12700">
            <a:solidFill>
              <a:srgbClr val="0B7A8F"/>
            </a:solidFill>
            <a:prstDash val="solid"/>
          </a:ln>
        </p:spPr>
      </p:sp>
      <p:sp>
        <p:nvSpPr>
          <p:cNvPr id="32" name="Text 30"/>
          <p:cNvSpPr/>
          <p:nvPr/>
        </p:nvSpPr>
        <p:spPr>
          <a:xfrm>
            <a:off x="4956048" y="1920240"/>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Streams cleaned PPG buffer over Serial/I2C</a:t>
            </a:r>
            <a:endParaRPr lang="en-US" sz="950" dirty="0"/>
          </a:p>
        </p:txBody>
      </p:sp>
      <p:sp>
        <p:nvSpPr>
          <p:cNvPr id="33" name="Shape 31"/>
          <p:cNvSpPr/>
          <p:nvPr/>
        </p:nvSpPr>
        <p:spPr>
          <a:xfrm>
            <a:off x="4800600" y="2221992"/>
            <a:ext cx="73152" cy="73152"/>
          </a:xfrm>
          <a:prstGeom prst="rect">
            <a:avLst/>
          </a:prstGeom>
          <a:solidFill>
            <a:srgbClr val="0B7A8F"/>
          </a:solidFill>
          <a:ln w="12700">
            <a:solidFill>
              <a:srgbClr val="0B7A8F"/>
            </a:solidFill>
            <a:prstDash val="solid"/>
          </a:ln>
        </p:spPr>
      </p:sp>
      <p:sp>
        <p:nvSpPr>
          <p:cNvPr id="34" name="Text 32"/>
          <p:cNvSpPr/>
          <p:nvPr/>
        </p:nvSpPr>
        <p:spPr>
          <a:xfrm>
            <a:off x="4956048" y="2157984"/>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Push button (GPIO) for manual trigger</a:t>
            </a:r>
            <a:endParaRPr lang="en-US" sz="950" dirty="0"/>
          </a:p>
        </p:txBody>
      </p:sp>
      <p:sp>
        <p:nvSpPr>
          <p:cNvPr id="35" name="Shape 33"/>
          <p:cNvSpPr/>
          <p:nvPr/>
        </p:nvSpPr>
        <p:spPr>
          <a:xfrm>
            <a:off x="4800600" y="2459736"/>
            <a:ext cx="73152" cy="73152"/>
          </a:xfrm>
          <a:prstGeom prst="rect">
            <a:avLst/>
          </a:prstGeom>
          <a:solidFill>
            <a:srgbClr val="0B7A8F"/>
          </a:solidFill>
          <a:ln w="12700">
            <a:solidFill>
              <a:srgbClr val="0B7A8F"/>
            </a:solidFill>
            <a:prstDash val="solid"/>
          </a:ln>
        </p:spPr>
      </p:sp>
      <p:sp>
        <p:nvSpPr>
          <p:cNvPr id="36" name="Text 34"/>
          <p:cNvSpPr/>
          <p:nvPr/>
        </p:nvSpPr>
        <p:spPr>
          <a:xfrm>
            <a:off x="4956048" y="2395728"/>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WiFi UDP mode available for remote logging</a:t>
            </a:r>
            <a:endParaRPr lang="en-US" sz="950" dirty="0"/>
          </a:p>
        </p:txBody>
      </p:sp>
      <p:sp>
        <p:nvSpPr>
          <p:cNvPr id="37" name="Shape 35"/>
          <p:cNvSpPr/>
          <p:nvPr/>
        </p:nvSpPr>
        <p:spPr>
          <a:xfrm>
            <a:off x="256032" y="2798064"/>
            <a:ext cx="4133088" cy="1828800"/>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38" name="Shape 36"/>
          <p:cNvSpPr/>
          <p:nvPr/>
        </p:nvSpPr>
        <p:spPr>
          <a:xfrm>
            <a:off x="256032" y="2798064"/>
            <a:ext cx="4133088" cy="347472"/>
          </a:xfrm>
          <a:prstGeom prst="rect">
            <a:avLst/>
          </a:prstGeom>
          <a:solidFill>
            <a:srgbClr val="0B7A8F"/>
          </a:solidFill>
          <a:ln w="12700">
            <a:solidFill>
              <a:srgbClr val="0B7A8F"/>
            </a:solidFill>
            <a:prstDash val="solid"/>
          </a:ln>
        </p:spPr>
      </p:sp>
      <p:sp>
        <p:nvSpPr>
          <p:cNvPr id="39" name="Text 37"/>
          <p:cNvSpPr/>
          <p:nvPr/>
        </p:nvSpPr>
        <p:spPr>
          <a:xfrm>
            <a:off x="347472" y="2798064"/>
            <a:ext cx="393192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16×2 I2C LCD Display</a:t>
            </a:r>
            <a:endParaRPr lang="en-US" sz="1150" dirty="0"/>
          </a:p>
        </p:txBody>
      </p:sp>
      <p:sp>
        <p:nvSpPr>
          <p:cNvPr id="40" name="Shape 38"/>
          <p:cNvSpPr/>
          <p:nvPr/>
        </p:nvSpPr>
        <p:spPr>
          <a:xfrm>
            <a:off x="393192" y="3264408"/>
            <a:ext cx="73152" cy="73152"/>
          </a:xfrm>
          <a:prstGeom prst="rect">
            <a:avLst/>
          </a:prstGeom>
          <a:solidFill>
            <a:srgbClr val="0B7A8F"/>
          </a:solidFill>
          <a:ln w="12700">
            <a:solidFill>
              <a:srgbClr val="0B7A8F"/>
            </a:solidFill>
            <a:prstDash val="solid"/>
          </a:ln>
        </p:spPr>
      </p:sp>
      <p:sp>
        <p:nvSpPr>
          <p:cNvPr id="41" name="Text 39"/>
          <p:cNvSpPr/>
          <p:nvPr/>
        </p:nvSpPr>
        <p:spPr>
          <a:xfrm>
            <a:off x="548640" y="3200400"/>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PCF8574 I2C backpack (address 0x27)</a:t>
            </a:r>
            <a:endParaRPr lang="en-US" sz="950" dirty="0"/>
          </a:p>
        </p:txBody>
      </p:sp>
      <p:sp>
        <p:nvSpPr>
          <p:cNvPr id="42" name="Shape 40"/>
          <p:cNvSpPr/>
          <p:nvPr/>
        </p:nvSpPr>
        <p:spPr>
          <a:xfrm>
            <a:off x="393192" y="3502152"/>
            <a:ext cx="73152" cy="73152"/>
          </a:xfrm>
          <a:prstGeom prst="rect">
            <a:avLst/>
          </a:prstGeom>
          <a:solidFill>
            <a:srgbClr val="0B7A8F"/>
          </a:solidFill>
          <a:ln w="12700">
            <a:solidFill>
              <a:srgbClr val="0B7A8F"/>
            </a:solidFill>
            <a:prstDash val="solid"/>
          </a:ln>
        </p:spPr>
      </p:sp>
      <p:sp>
        <p:nvSpPr>
          <p:cNvPr id="43" name="Text 41"/>
          <p:cNvSpPr/>
          <p:nvPr/>
        </p:nvSpPr>
        <p:spPr>
          <a:xfrm>
            <a:off x="548640" y="3438144"/>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Line 1: SBP = XXX mmHg</a:t>
            </a:r>
            <a:endParaRPr lang="en-US" sz="950" dirty="0"/>
          </a:p>
        </p:txBody>
      </p:sp>
      <p:sp>
        <p:nvSpPr>
          <p:cNvPr id="44" name="Shape 42"/>
          <p:cNvSpPr/>
          <p:nvPr/>
        </p:nvSpPr>
        <p:spPr>
          <a:xfrm>
            <a:off x="393192" y="3739896"/>
            <a:ext cx="73152" cy="73152"/>
          </a:xfrm>
          <a:prstGeom prst="rect">
            <a:avLst/>
          </a:prstGeom>
          <a:solidFill>
            <a:srgbClr val="0B7A8F"/>
          </a:solidFill>
          <a:ln w="12700">
            <a:solidFill>
              <a:srgbClr val="0B7A8F"/>
            </a:solidFill>
            <a:prstDash val="solid"/>
          </a:ln>
        </p:spPr>
      </p:sp>
      <p:sp>
        <p:nvSpPr>
          <p:cNvPr id="45" name="Text 43"/>
          <p:cNvSpPr/>
          <p:nvPr/>
        </p:nvSpPr>
        <p:spPr>
          <a:xfrm>
            <a:off x="548640" y="3675888"/>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Line 2: DBP = XXX mmHg</a:t>
            </a:r>
            <a:endParaRPr lang="en-US" sz="950" dirty="0"/>
          </a:p>
        </p:txBody>
      </p:sp>
      <p:sp>
        <p:nvSpPr>
          <p:cNvPr id="46" name="Shape 44"/>
          <p:cNvSpPr/>
          <p:nvPr/>
        </p:nvSpPr>
        <p:spPr>
          <a:xfrm>
            <a:off x="393192" y="3977640"/>
            <a:ext cx="73152" cy="73152"/>
          </a:xfrm>
          <a:prstGeom prst="rect">
            <a:avLst/>
          </a:prstGeom>
          <a:solidFill>
            <a:srgbClr val="0B7A8F"/>
          </a:solidFill>
          <a:ln w="12700">
            <a:solidFill>
              <a:srgbClr val="0B7A8F"/>
            </a:solidFill>
            <a:prstDash val="solid"/>
          </a:ln>
        </p:spPr>
      </p:sp>
      <p:sp>
        <p:nvSpPr>
          <p:cNvPr id="47" name="Text 45"/>
          <p:cNvSpPr/>
          <p:nvPr/>
        </p:nvSpPr>
        <p:spPr>
          <a:xfrm>
            <a:off x="548640" y="3913632"/>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Error messages: 'No Finger?’ Adjust sensor…'</a:t>
            </a:r>
            <a:endParaRPr lang="en-US" sz="950" dirty="0"/>
          </a:p>
        </p:txBody>
      </p:sp>
      <p:sp>
        <p:nvSpPr>
          <p:cNvPr id="48" name="Shape 46"/>
          <p:cNvSpPr/>
          <p:nvPr/>
        </p:nvSpPr>
        <p:spPr>
          <a:xfrm>
            <a:off x="393192" y="4215384"/>
            <a:ext cx="73152" cy="73152"/>
          </a:xfrm>
          <a:prstGeom prst="rect">
            <a:avLst/>
          </a:prstGeom>
          <a:solidFill>
            <a:srgbClr val="0B7A8F"/>
          </a:solidFill>
          <a:ln w="12700">
            <a:solidFill>
              <a:srgbClr val="0B7A8F"/>
            </a:solidFill>
            <a:prstDash val="solid"/>
          </a:ln>
        </p:spPr>
      </p:sp>
      <p:sp>
        <p:nvSpPr>
          <p:cNvPr id="49" name="Text 47"/>
          <p:cNvSpPr/>
          <p:nvPr/>
        </p:nvSpPr>
        <p:spPr>
          <a:xfrm>
            <a:off x="548640" y="4151376"/>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Updated every heartbeat cycle</a:t>
            </a:r>
            <a:endParaRPr lang="en-US" sz="950" dirty="0"/>
          </a:p>
        </p:txBody>
      </p:sp>
      <p:sp>
        <p:nvSpPr>
          <p:cNvPr id="50" name="Shape 48"/>
          <p:cNvSpPr/>
          <p:nvPr/>
        </p:nvSpPr>
        <p:spPr>
          <a:xfrm>
            <a:off x="393192" y="4453128"/>
            <a:ext cx="73152" cy="73152"/>
          </a:xfrm>
          <a:prstGeom prst="rect">
            <a:avLst/>
          </a:prstGeom>
          <a:solidFill>
            <a:srgbClr val="0B7A8F"/>
          </a:solidFill>
          <a:ln w="12700">
            <a:solidFill>
              <a:srgbClr val="0B7A8F"/>
            </a:solidFill>
            <a:prstDash val="solid"/>
          </a:ln>
        </p:spPr>
      </p:sp>
      <p:sp>
        <p:nvSpPr>
          <p:cNvPr id="51" name="Text 49"/>
          <p:cNvSpPr/>
          <p:nvPr/>
        </p:nvSpPr>
        <p:spPr>
          <a:xfrm>
            <a:off x="548640" y="4389120"/>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RPLCD Python library driver</a:t>
            </a:r>
            <a:endParaRPr lang="en-US" sz="950" dirty="0"/>
          </a:p>
        </p:txBody>
      </p:sp>
      <p:sp>
        <p:nvSpPr>
          <p:cNvPr id="52" name="Shape 50"/>
          <p:cNvSpPr/>
          <p:nvPr/>
        </p:nvSpPr>
        <p:spPr>
          <a:xfrm>
            <a:off x="4663440" y="2798064"/>
            <a:ext cx="4133088" cy="1828800"/>
          </a:xfrm>
          <a:prstGeom prst="rect">
            <a:avLst/>
          </a:prstGeom>
          <a:solidFill>
            <a:srgbClr val="FFFFFF"/>
          </a:solidFill>
          <a:ln w="12700">
            <a:solidFill>
              <a:srgbClr val="CBE8EF"/>
            </a:solidFill>
            <a:prstDash val="solid"/>
          </a:ln>
          <a:effectLst>
            <a:outerShdw blurRad="101600" dist="38100" dir="8100000" algn="bl" rotWithShape="0">
              <a:srgbClr val="000000">
                <a:alpha val="12000"/>
              </a:srgbClr>
            </a:outerShdw>
          </a:effectLst>
        </p:spPr>
      </p:sp>
      <p:sp>
        <p:nvSpPr>
          <p:cNvPr id="53" name="Shape 51"/>
          <p:cNvSpPr/>
          <p:nvPr/>
        </p:nvSpPr>
        <p:spPr>
          <a:xfrm>
            <a:off x="4663440" y="2798064"/>
            <a:ext cx="4133088" cy="347472"/>
          </a:xfrm>
          <a:prstGeom prst="rect">
            <a:avLst/>
          </a:prstGeom>
          <a:solidFill>
            <a:srgbClr val="0D2B4E"/>
          </a:solidFill>
          <a:ln w="12700">
            <a:solidFill>
              <a:srgbClr val="0D2B4E"/>
            </a:solidFill>
            <a:prstDash val="solid"/>
          </a:ln>
        </p:spPr>
      </p:sp>
      <p:sp>
        <p:nvSpPr>
          <p:cNvPr id="54" name="Text 52"/>
          <p:cNvSpPr/>
          <p:nvPr/>
        </p:nvSpPr>
        <p:spPr>
          <a:xfrm>
            <a:off x="4754880" y="2798064"/>
            <a:ext cx="393192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System Autostart &amp; Deployment</a:t>
            </a:r>
            <a:endParaRPr lang="en-US" sz="1150" dirty="0"/>
          </a:p>
        </p:txBody>
      </p:sp>
      <p:sp>
        <p:nvSpPr>
          <p:cNvPr id="55" name="Shape 53"/>
          <p:cNvSpPr/>
          <p:nvPr/>
        </p:nvSpPr>
        <p:spPr>
          <a:xfrm>
            <a:off x="4800600" y="3264408"/>
            <a:ext cx="73152" cy="73152"/>
          </a:xfrm>
          <a:prstGeom prst="rect">
            <a:avLst/>
          </a:prstGeom>
          <a:solidFill>
            <a:srgbClr val="0D2B4E"/>
          </a:solidFill>
          <a:ln w="12700">
            <a:solidFill>
              <a:srgbClr val="0D2B4E"/>
            </a:solidFill>
            <a:prstDash val="solid"/>
          </a:ln>
        </p:spPr>
      </p:sp>
      <p:sp>
        <p:nvSpPr>
          <p:cNvPr id="56" name="Text 54"/>
          <p:cNvSpPr/>
          <p:nvPr/>
        </p:nvSpPr>
        <p:spPr>
          <a:xfrm>
            <a:off x="4956048" y="3200400"/>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crontab @reboot launches bp_launcher.py</a:t>
            </a:r>
            <a:endParaRPr lang="en-US" sz="950" dirty="0"/>
          </a:p>
        </p:txBody>
      </p:sp>
      <p:sp>
        <p:nvSpPr>
          <p:cNvPr id="57" name="Shape 55"/>
          <p:cNvSpPr/>
          <p:nvPr/>
        </p:nvSpPr>
        <p:spPr>
          <a:xfrm>
            <a:off x="4800600" y="3502152"/>
            <a:ext cx="73152" cy="73152"/>
          </a:xfrm>
          <a:prstGeom prst="rect">
            <a:avLst/>
          </a:prstGeom>
          <a:solidFill>
            <a:srgbClr val="0D2B4E"/>
          </a:solidFill>
          <a:ln w="12700">
            <a:solidFill>
              <a:srgbClr val="0D2B4E"/>
            </a:solidFill>
            <a:prstDash val="solid"/>
          </a:ln>
        </p:spPr>
      </p:sp>
      <p:sp>
        <p:nvSpPr>
          <p:cNvPr id="58" name="Text 56"/>
          <p:cNvSpPr/>
          <p:nvPr/>
        </p:nvSpPr>
        <p:spPr>
          <a:xfrm>
            <a:off x="4956048" y="3438144"/>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Launcher sets DISPLAY &amp; XAUTHORITY env vars</a:t>
            </a:r>
            <a:endParaRPr lang="en-US" sz="950" dirty="0"/>
          </a:p>
        </p:txBody>
      </p:sp>
      <p:sp>
        <p:nvSpPr>
          <p:cNvPr id="59" name="Shape 57"/>
          <p:cNvSpPr/>
          <p:nvPr/>
        </p:nvSpPr>
        <p:spPr>
          <a:xfrm>
            <a:off x="4800600" y="3739896"/>
            <a:ext cx="73152" cy="73152"/>
          </a:xfrm>
          <a:prstGeom prst="rect">
            <a:avLst/>
          </a:prstGeom>
          <a:solidFill>
            <a:srgbClr val="0D2B4E"/>
          </a:solidFill>
          <a:ln w="12700">
            <a:solidFill>
              <a:srgbClr val="0D2B4E"/>
            </a:solidFill>
            <a:prstDash val="solid"/>
          </a:ln>
        </p:spPr>
      </p:sp>
      <p:sp>
        <p:nvSpPr>
          <p:cNvPr id="60" name="Text 58"/>
          <p:cNvSpPr/>
          <p:nvPr/>
        </p:nvSpPr>
        <p:spPr>
          <a:xfrm>
            <a:off x="4956048" y="3675888"/>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Models deployed via SCP to /home/ritam2002/bp_project/</a:t>
            </a:r>
            <a:endParaRPr lang="en-US" sz="950" dirty="0"/>
          </a:p>
        </p:txBody>
      </p:sp>
      <p:sp>
        <p:nvSpPr>
          <p:cNvPr id="61" name="Shape 59"/>
          <p:cNvSpPr/>
          <p:nvPr/>
        </p:nvSpPr>
        <p:spPr>
          <a:xfrm>
            <a:off x="4800600" y="3977640"/>
            <a:ext cx="73152" cy="73152"/>
          </a:xfrm>
          <a:prstGeom prst="rect">
            <a:avLst/>
          </a:prstGeom>
          <a:solidFill>
            <a:srgbClr val="0D2B4E"/>
          </a:solidFill>
          <a:ln w="12700">
            <a:solidFill>
              <a:srgbClr val="0D2B4E"/>
            </a:solidFill>
            <a:prstDash val="solid"/>
          </a:ln>
        </p:spPr>
      </p:sp>
      <p:sp>
        <p:nvSpPr>
          <p:cNvPr id="62" name="Text 60"/>
          <p:cNvSpPr/>
          <p:nvPr/>
        </p:nvSpPr>
        <p:spPr>
          <a:xfrm>
            <a:off x="4956048" y="3913632"/>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pip install --break-system-packages for RPi deps</a:t>
            </a:r>
            <a:endParaRPr lang="en-US" sz="950" dirty="0"/>
          </a:p>
        </p:txBody>
      </p:sp>
      <p:sp>
        <p:nvSpPr>
          <p:cNvPr id="63" name="Shape 61"/>
          <p:cNvSpPr/>
          <p:nvPr/>
        </p:nvSpPr>
        <p:spPr>
          <a:xfrm>
            <a:off x="4800600" y="4215384"/>
            <a:ext cx="73152" cy="73152"/>
          </a:xfrm>
          <a:prstGeom prst="rect">
            <a:avLst/>
          </a:prstGeom>
          <a:solidFill>
            <a:srgbClr val="0D2B4E"/>
          </a:solidFill>
          <a:ln w="12700">
            <a:solidFill>
              <a:srgbClr val="0D2B4E"/>
            </a:solidFill>
            <a:prstDash val="solid"/>
          </a:ln>
        </p:spPr>
      </p:sp>
      <p:sp>
        <p:nvSpPr>
          <p:cNvPr id="64" name="Text 62"/>
          <p:cNvSpPr/>
          <p:nvPr/>
        </p:nvSpPr>
        <p:spPr>
          <a:xfrm>
            <a:off x="4956048" y="4151376"/>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SSH-based remote debugging &amp; updates</a:t>
            </a:r>
            <a:endParaRPr lang="en-US" sz="950" dirty="0"/>
          </a:p>
        </p:txBody>
      </p:sp>
      <p:sp>
        <p:nvSpPr>
          <p:cNvPr id="65" name="Shape 63"/>
          <p:cNvSpPr/>
          <p:nvPr/>
        </p:nvSpPr>
        <p:spPr>
          <a:xfrm>
            <a:off x="4800600" y="4453128"/>
            <a:ext cx="73152" cy="73152"/>
          </a:xfrm>
          <a:prstGeom prst="rect">
            <a:avLst/>
          </a:prstGeom>
          <a:solidFill>
            <a:srgbClr val="0D2B4E"/>
          </a:solidFill>
          <a:ln w="12700">
            <a:solidFill>
              <a:srgbClr val="0D2B4E"/>
            </a:solidFill>
            <a:prstDash val="solid"/>
          </a:ln>
        </p:spPr>
      </p:sp>
      <p:sp>
        <p:nvSpPr>
          <p:cNvPr id="66" name="Text 64"/>
          <p:cNvSpPr/>
          <p:nvPr/>
        </p:nvSpPr>
        <p:spPr>
          <a:xfrm>
            <a:off x="4956048" y="4389120"/>
            <a:ext cx="3703320" cy="237744"/>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Systemd-compatible startup architecture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B4E"/>
          </a:solidFill>
          <a:ln w="12700">
            <a:solidFill>
              <a:srgbClr val="0D2B4E"/>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Results &amp; Performance</a:t>
            </a:r>
            <a:endParaRPr lang="en-US" sz="2000" dirty="0"/>
          </a:p>
        </p:txBody>
      </p:sp>
      <p:sp>
        <p:nvSpPr>
          <p:cNvPr id="4" name="Shape 2"/>
          <p:cNvSpPr/>
          <p:nvPr/>
        </p:nvSpPr>
        <p:spPr>
          <a:xfrm>
            <a:off x="0" y="4892040"/>
            <a:ext cx="9144000" cy="251460"/>
          </a:xfrm>
          <a:prstGeom prst="rect">
            <a:avLst/>
          </a:prstGeom>
          <a:solidFill>
            <a:srgbClr val="0D2B4E"/>
          </a:solidFill>
          <a:ln w="12700">
            <a:solidFill>
              <a:srgbClr val="0D2B4E"/>
            </a:solidFill>
            <a:prstDash val="solid"/>
          </a:ln>
        </p:spPr>
      </p:sp>
      <p:sp>
        <p:nvSpPr>
          <p:cNvPr id="5" name="Text 3"/>
          <p:cNvSpPr/>
          <p:nvPr/>
        </p:nvSpPr>
        <p:spPr>
          <a:xfrm>
            <a:off x="274320" y="4892040"/>
            <a:ext cx="7772400" cy="251460"/>
          </a:xfrm>
          <a:prstGeom prst="rect">
            <a:avLst/>
          </a:prstGeom>
          <a:noFill/>
          <a:ln/>
        </p:spPr>
        <p:txBody>
          <a:bodyPr wrap="square" lIns="0" tIns="0" rIns="0" bIns="0" rtlCol="0" anchor="ctr"/>
          <a:lstStyle/>
          <a:p>
            <a:r>
              <a:rPr lang="en-US" sz="900" dirty="0">
                <a:solidFill>
                  <a:srgbClr val="99C8D6"/>
                </a:solidFill>
                <a:latin typeface="Calibri" pitchFamily="34" charset="0"/>
                <a:ea typeface="Calibri" pitchFamily="34" charset="-122"/>
                <a:cs typeface="Calibri" pitchFamily="34" charset="-120"/>
              </a:rPr>
              <a:t>BP Estimator | IRPE, University of Calcutta</a:t>
            </a:r>
            <a:endParaRPr lang="en-US" sz="900" dirty="0"/>
          </a:p>
        </p:txBody>
      </p:sp>
      <p:sp>
        <p:nvSpPr>
          <p:cNvPr id="7" name="Shape 5"/>
          <p:cNvSpPr/>
          <p:nvPr/>
        </p:nvSpPr>
        <p:spPr>
          <a:xfrm>
            <a:off x="164592" y="694073"/>
            <a:ext cx="8631936" cy="857468"/>
          </a:xfrm>
          <a:prstGeom prst="rect">
            <a:avLst/>
          </a:prstGeom>
          <a:solidFill>
            <a:srgbClr val="0D2B4E"/>
          </a:solidFill>
          <a:ln w="12700">
            <a:solidFill>
              <a:srgbClr val="0D2B4E"/>
            </a:solidFill>
            <a:prstDash val="solid"/>
          </a:ln>
          <a:effectLst>
            <a:outerShdw blurRad="101600" dist="38100" dir="8100000" algn="bl" rotWithShape="0">
              <a:srgbClr val="000000">
                <a:alpha val="12000"/>
              </a:srgbClr>
            </a:outerShdw>
          </a:effectLst>
        </p:spPr>
      </p:sp>
      <p:sp>
        <p:nvSpPr>
          <p:cNvPr id="8" name="Text 6"/>
          <p:cNvSpPr/>
          <p:nvPr/>
        </p:nvSpPr>
        <p:spPr>
          <a:xfrm>
            <a:off x="320040" y="669363"/>
            <a:ext cx="4572000" cy="274320"/>
          </a:xfrm>
          <a:prstGeom prst="rect">
            <a:avLst/>
          </a:prstGeom>
          <a:noFill/>
          <a:ln/>
        </p:spPr>
        <p:txBody>
          <a:bodyPr wrap="square" lIns="0" tIns="0" rIns="0" bIns="0" rtlCol="0" anchor="ctr"/>
          <a:lstStyle/>
          <a:p>
            <a:pPr marL="0" indent="0">
              <a:buNone/>
            </a:pPr>
            <a:r>
              <a:rPr lang="en-US" sz="1300" b="1" dirty="0">
                <a:solidFill>
                  <a:srgbClr val="00B4A0"/>
                </a:solidFill>
                <a:latin typeface="Calibri" pitchFamily="34" charset="0"/>
                <a:ea typeface="Calibri" pitchFamily="34" charset="-122"/>
                <a:cs typeface="Calibri" pitchFamily="34" charset="-120"/>
              </a:rPr>
              <a:t>Key Performance Metrics</a:t>
            </a:r>
            <a:endParaRPr lang="en-US" sz="1300" dirty="0"/>
          </a:p>
        </p:txBody>
      </p:sp>
      <p:sp>
        <p:nvSpPr>
          <p:cNvPr id="9" name="Text 7"/>
          <p:cNvSpPr/>
          <p:nvPr/>
        </p:nvSpPr>
        <p:spPr>
          <a:xfrm>
            <a:off x="320040" y="876953"/>
            <a:ext cx="1920240" cy="219456"/>
          </a:xfrm>
          <a:prstGeom prst="rect">
            <a:avLst/>
          </a:prstGeom>
          <a:noFill/>
          <a:ln/>
        </p:spPr>
        <p:txBody>
          <a:bodyPr wrap="square" lIns="0" tIns="0" rIns="0" bIns="0" rtlCol="0" anchor="ctr"/>
          <a:lstStyle/>
          <a:p>
            <a:pPr marL="0" indent="0" algn="ctr">
              <a:buNone/>
            </a:pPr>
            <a:r>
              <a:rPr lang="en-US" sz="1000" dirty="0">
                <a:solidFill>
                  <a:srgbClr val="99C8D6"/>
                </a:solidFill>
                <a:latin typeface="Calibri" pitchFamily="34" charset="0"/>
                <a:ea typeface="Calibri" pitchFamily="34" charset="-122"/>
                <a:cs typeface="Calibri" pitchFamily="34" charset="-120"/>
              </a:rPr>
              <a:t>SBP MAE</a:t>
            </a:r>
            <a:endParaRPr lang="en-US" sz="1000" dirty="0"/>
          </a:p>
        </p:txBody>
      </p:sp>
      <p:sp>
        <p:nvSpPr>
          <p:cNvPr id="10" name="Text 8"/>
          <p:cNvSpPr/>
          <p:nvPr/>
        </p:nvSpPr>
        <p:spPr>
          <a:xfrm>
            <a:off x="242316" y="959249"/>
            <a:ext cx="1920240" cy="438912"/>
          </a:xfrm>
          <a:prstGeom prst="rect">
            <a:avLst/>
          </a:prstGeom>
          <a:noFill/>
          <a:ln/>
        </p:spPr>
        <p:txBody>
          <a:bodyPr wrap="square" lIns="0" tIns="0" rIns="0" bIns="0" rtlCol="0" anchor="ctr"/>
          <a:lstStyle/>
          <a:p>
            <a:pPr marL="0" indent="0" algn="ctr">
              <a:buNone/>
            </a:pPr>
            <a:r>
              <a:rPr lang="en-US" sz="2600" b="1" dirty="0">
                <a:solidFill>
                  <a:srgbClr val="00B4A0"/>
                </a:solidFill>
                <a:latin typeface="Calibri" pitchFamily="34" charset="0"/>
                <a:ea typeface="Calibri" pitchFamily="34" charset="-122"/>
                <a:cs typeface="Calibri" pitchFamily="34" charset="-120"/>
              </a:rPr>
              <a:t>≤ 5.1</a:t>
            </a:r>
            <a:endParaRPr lang="en-US" sz="2600" dirty="0"/>
          </a:p>
        </p:txBody>
      </p:sp>
      <p:sp>
        <p:nvSpPr>
          <p:cNvPr id="11" name="Text 9"/>
          <p:cNvSpPr/>
          <p:nvPr/>
        </p:nvSpPr>
        <p:spPr>
          <a:xfrm>
            <a:off x="320040" y="1288433"/>
            <a:ext cx="1920240" cy="201168"/>
          </a:xfrm>
          <a:prstGeom prst="rect">
            <a:avLst/>
          </a:prstGeom>
          <a:noFill/>
          <a:ln/>
        </p:spPr>
        <p:txBody>
          <a:bodyPr wrap="square" lIns="0" tIns="0" rIns="0" bIns="0" rtlCol="0" anchor="ctr"/>
          <a:lstStyle/>
          <a:p>
            <a:pPr marL="0" indent="0" algn="ctr">
              <a:buNone/>
            </a:pPr>
            <a:r>
              <a:rPr lang="en-US" sz="1000" dirty="0">
                <a:solidFill>
                  <a:srgbClr val="7BBFCC"/>
                </a:solidFill>
                <a:latin typeface="Calibri" pitchFamily="34" charset="0"/>
                <a:ea typeface="Calibri" pitchFamily="34" charset="-122"/>
                <a:cs typeface="Calibri" pitchFamily="34" charset="-120"/>
              </a:rPr>
              <a:t>mmHg</a:t>
            </a:r>
            <a:endParaRPr lang="en-US" sz="1000" dirty="0"/>
          </a:p>
        </p:txBody>
      </p:sp>
      <p:sp>
        <p:nvSpPr>
          <p:cNvPr id="12" name="Text 10"/>
          <p:cNvSpPr/>
          <p:nvPr/>
        </p:nvSpPr>
        <p:spPr>
          <a:xfrm>
            <a:off x="2528316" y="893390"/>
            <a:ext cx="1920240" cy="219456"/>
          </a:xfrm>
          <a:prstGeom prst="rect">
            <a:avLst/>
          </a:prstGeom>
          <a:noFill/>
          <a:ln/>
        </p:spPr>
        <p:txBody>
          <a:bodyPr wrap="square" lIns="0" tIns="0" rIns="0" bIns="0" rtlCol="0" anchor="ctr"/>
          <a:lstStyle/>
          <a:p>
            <a:pPr marL="0" indent="0" algn="ctr">
              <a:buNone/>
            </a:pPr>
            <a:r>
              <a:rPr lang="en-US" sz="1000" dirty="0">
                <a:solidFill>
                  <a:srgbClr val="99C8D6"/>
                </a:solidFill>
                <a:latin typeface="Calibri" pitchFamily="34" charset="0"/>
                <a:ea typeface="Calibri" pitchFamily="34" charset="-122"/>
                <a:cs typeface="Calibri" pitchFamily="34" charset="-120"/>
              </a:rPr>
              <a:t>DBP MAE</a:t>
            </a:r>
            <a:endParaRPr lang="en-US" sz="1000" dirty="0"/>
          </a:p>
        </p:txBody>
      </p:sp>
      <p:sp>
        <p:nvSpPr>
          <p:cNvPr id="13" name="Text 11"/>
          <p:cNvSpPr/>
          <p:nvPr/>
        </p:nvSpPr>
        <p:spPr>
          <a:xfrm>
            <a:off x="2546604" y="1000252"/>
            <a:ext cx="1920240" cy="438912"/>
          </a:xfrm>
          <a:prstGeom prst="rect">
            <a:avLst/>
          </a:prstGeom>
          <a:noFill/>
          <a:ln/>
        </p:spPr>
        <p:txBody>
          <a:bodyPr wrap="square" lIns="0" tIns="0" rIns="0" bIns="0" rtlCol="0" anchor="ctr"/>
          <a:lstStyle/>
          <a:p>
            <a:pPr marL="0" indent="0" algn="ctr">
              <a:buNone/>
            </a:pPr>
            <a:r>
              <a:rPr lang="en-US" sz="2600" b="1" dirty="0">
                <a:solidFill>
                  <a:srgbClr val="00B4A0"/>
                </a:solidFill>
                <a:latin typeface="Calibri" pitchFamily="34" charset="0"/>
                <a:ea typeface="Calibri" pitchFamily="34" charset="-122"/>
                <a:cs typeface="Calibri" pitchFamily="34" charset="-120"/>
              </a:rPr>
              <a:t>≤ 2.85</a:t>
            </a:r>
            <a:endParaRPr lang="en-US" sz="2600" dirty="0"/>
          </a:p>
        </p:txBody>
      </p:sp>
      <p:sp>
        <p:nvSpPr>
          <p:cNvPr id="14" name="Text 12"/>
          <p:cNvSpPr/>
          <p:nvPr/>
        </p:nvSpPr>
        <p:spPr>
          <a:xfrm>
            <a:off x="2638044" y="1338580"/>
            <a:ext cx="1920240" cy="201168"/>
          </a:xfrm>
          <a:prstGeom prst="rect">
            <a:avLst/>
          </a:prstGeom>
          <a:noFill/>
          <a:ln/>
        </p:spPr>
        <p:txBody>
          <a:bodyPr wrap="square" lIns="0" tIns="0" rIns="0" bIns="0" rtlCol="0" anchor="ctr"/>
          <a:lstStyle/>
          <a:p>
            <a:pPr marL="0" indent="0" algn="ctr">
              <a:buNone/>
            </a:pPr>
            <a:r>
              <a:rPr lang="en-US" sz="1000" dirty="0">
                <a:solidFill>
                  <a:srgbClr val="7BBFCC"/>
                </a:solidFill>
                <a:latin typeface="Calibri" pitchFamily="34" charset="0"/>
                <a:ea typeface="Calibri" pitchFamily="34" charset="-122"/>
                <a:cs typeface="Calibri" pitchFamily="34" charset="-120"/>
              </a:rPr>
              <a:t>mmHg</a:t>
            </a:r>
            <a:endParaRPr lang="en-US" sz="1000" dirty="0"/>
          </a:p>
        </p:txBody>
      </p:sp>
      <p:sp>
        <p:nvSpPr>
          <p:cNvPr id="15" name="Text 13"/>
          <p:cNvSpPr/>
          <p:nvPr/>
        </p:nvSpPr>
        <p:spPr>
          <a:xfrm>
            <a:off x="4754880" y="851335"/>
            <a:ext cx="1920240" cy="219456"/>
          </a:xfrm>
          <a:prstGeom prst="rect">
            <a:avLst/>
          </a:prstGeom>
          <a:noFill/>
          <a:ln/>
        </p:spPr>
        <p:txBody>
          <a:bodyPr wrap="square" lIns="0" tIns="0" rIns="0" bIns="0" rtlCol="0" anchor="ctr"/>
          <a:lstStyle/>
          <a:p>
            <a:pPr marL="0" indent="0" algn="ctr">
              <a:buNone/>
            </a:pPr>
            <a:r>
              <a:rPr lang="en-US" sz="1000" dirty="0">
                <a:solidFill>
                  <a:srgbClr val="99C8D6"/>
                </a:solidFill>
                <a:latin typeface="Calibri" pitchFamily="34" charset="0"/>
                <a:ea typeface="Calibri" pitchFamily="34" charset="-122"/>
                <a:cs typeface="Calibri" pitchFamily="34" charset="-120"/>
              </a:rPr>
              <a:t>SBP SD</a:t>
            </a:r>
            <a:endParaRPr lang="en-US" sz="1000" dirty="0"/>
          </a:p>
        </p:txBody>
      </p:sp>
      <p:sp>
        <p:nvSpPr>
          <p:cNvPr id="16" name="Text 14"/>
          <p:cNvSpPr/>
          <p:nvPr/>
        </p:nvSpPr>
        <p:spPr>
          <a:xfrm>
            <a:off x="4736592" y="1004461"/>
            <a:ext cx="1920240" cy="438912"/>
          </a:xfrm>
          <a:prstGeom prst="rect">
            <a:avLst/>
          </a:prstGeom>
          <a:noFill/>
          <a:ln/>
        </p:spPr>
        <p:txBody>
          <a:bodyPr wrap="square" lIns="0" tIns="0" rIns="0" bIns="0" rtlCol="0" anchor="ctr"/>
          <a:lstStyle/>
          <a:p>
            <a:pPr marL="0" indent="0" algn="ctr">
              <a:buNone/>
            </a:pPr>
            <a:r>
              <a:rPr lang="en-US" sz="2600" b="1" dirty="0">
                <a:solidFill>
                  <a:srgbClr val="00B4A0"/>
                </a:solidFill>
                <a:latin typeface="Calibri" pitchFamily="34" charset="0"/>
                <a:ea typeface="Calibri" pitchFamily="34" charset="-122"/>
                <a:cs typeface="Calibri" pitchFamily="34" charset="-120"/>
              </a:rPr>
              <a:t>&lt; 8</a:t>
            </a:r>
            <a:endParaRPr lang="en-US" sz="2600" dirty="0"/>
          </a:p>
        </p:txBody>
      </p:sp>
      <p:sp>
        <p:nvSpPr>
          <p:cNvPr id="17" name="Text 15"/>
          <p:cNvSpPr/>
          <p:nvPr/>
        </p:nvSpPr>
        <p:spPr>
          <a:xfrm>
            <a:off x="4814316" y="1350373"/>
            <a:ext cx="1920240" cy="201168"/>
          </a:xfrm>
          <a:prstGeom prst="rect">
            <a:avLst/>
          </a:prstGeom>
          <a:noFill/>
          <a:ln/>
        </p:spPr>
        <p:txBody>
          <a:bodyPr wrap="square" lIns="0" tIns="0" rIns="0" bIns="0" rtlCol="0" anchor="ctr"/>
          <a:lstStyle/>
          <a:p>
            <a:pPr marL="0" indent="0" algn="ctr">
              <a:buNone/>
            </a:pPr>
            <a:r>
              <a:rPr lang="en-US" sz="1000" dirty="0">
                <a:solidFill>
                  <a:srgbClr val="7BBFCC"/>
                </a:solidFill>
                <a:latin typeface="Calibri" pitchFamily="34" charset="0"/>
                <a:ea typeface="Calibri" pitchFamily="34" charset="-122"/>
                <a:cs typeface="Calibri" pitchFamily="34" charset="-120"/>
              </a:rPr>
              <a:t>mmHg</a:t>
            </a:r>
            <a:endParaRPr lang="en-US" sz="1000" dirty="0"/>
          </a:p>
        </p:txBody>
      </p:sp>
      <p:sp>
        <p:nvSpPr>
          <p:cNvPr id="18" name="Text 16"/>
          <p:cNvSpPr/>
          <p:nvPr/>
        </p:nvSpPr>
        <p:spPr>
          <a:xfrm>
            <a:off x="6835140" y="851335"/>
            <a:ext cx="1920240" cy="219456"/>
          </a:xfrm>
          <a:prstGeom prst="rect">
            <a:avLst/>
          </a:prstGeom>
          <a:noFill/>
          <a:ln/>
        </p:spPr>
        <p:txBody>
          <a:bodyPr wrap="square" lIns="0" tIns="0" rIns="0" bIns="0" rtlCol="0" anchor="ctr"/>
          <a:lstStyle/>
          <a:p>
            <a:pPr marL="0" indent="0" algn="ctr">
              <a:buNone/>
            </a:pPr>
            <a:r>
              <a:rPr lang="en-US" sz="1000" dirty="0">
                <a:solidFill>
                  <a:srgbClr val="99C8D6"/>
                </a:solidFill>
                <a:latin typeface="Calibri" pitchFamily="34" charset="0"/>
                <a:ea typeface="Calibri" pitchFamily="34" charset="-122"/>
                <a:cs typeface="Calibri" pitchFamily="34" charset="-120"/>
              </a:rPr>
              <a:t>DBP SD</a:t>
            </a:r>
            <a:endParaRPr lang="en-US" sz="1000" dirty="0"/>
          </a:p>
        </p:txBody>
      </p:sp>
      <p:sp>
        <p:nvSpPr>
          <p:cNvPr id="19" name="Text 17"/>
          <p:cNvSpPr/>
          <p:nvPr/>
        </p:nvSpPr>
        <p:spPr>
          <a:xfrm>
            <a:off x="6835140" y="982980"/>
            <a:ext cx="1920240" cy="438912"/>
          </a:xfrm>
          <a:prstGeom prst="rect">
            <a:avLst/>
          </a:prstGeom>
          <a:noFill/>
          <a:ln/>
        </p:spPr>
        <p:txBody>
          <a:bodyPr wrap="square" lIns="0" tIns="0" rIns="0" bIns="0" rtlCol="0" anchor="ctr"/>
          <a:lstStyle/>
          <a:p>
            <a:pPr marL="0" indent="0" algn="ctr">
              <a:buNone/>
            </a:pPr>
            <a:r>
              <a:rPr lang="en-US" sz="2600" b="1" dirty="0">
                <a:solidFill>
                  <a:srgbClr val="00B4A0"/>
                </a:solidFill>
                <a:latin typeface="Calibri" pitchFamily="34" charset="0"/>
                <a:ea typeface="Calibri" pitchFamily="34" charset="-122"/>
                <a:cs typeface="Calibri" pitchFamily="34" charset="-120"/>
              </a:rPr>
              <a:t>&lt; 8</a:t>
            </a:r>
            <a:endParaRPr lang="en-US" sz="2600" dirty="0"/>
          </a:p>
        </p:txBody>
      </p:sp>
      <p:sp>
        <p:nvSpPr>
          <p:cNvPr id="20" name="Text 18"/>
          <p:cNvSpPr/>
          <p:nvPr/>
        </p:nvSpPr>
        <p:spPr>
          <a:xfrm>
            <a:off x="6954012" y="1297577"/>
            <a:ext cx="1920240" cy="201168"/>
          </a:xfrm>
          <a:prstGeom prst="rect">
            <a:avLst/>
          </a:prstGeom>
          <a:noFill/>
          <a:ln/>
        </p:spPr>
        <p:txBody>
          <a:bodyPr wrap="square" lIns="0" tIns="0" rIns="0" bIns="0" rtlCol="0" anchor="ctr"/>
          <a:lstStyle/>
          <a:p>
            <a:pPr marL="0" indent="0" algn="ctr">
              <a:buNone/>
            </a:pPr>
            <a:r>
              <a:rPr lang="en-US" sz="1000" dirty="0">
                <a:solidFill>
                  <a:srgbClr val="7BBFCC"/>
                </a:solidFill>
                <a:latin typeface="Calibri" pitchFamily="34" charset="0"/>
                <a:ea typeface="Calibri" pitchFamily="34" charset="-122"/>
                <a:cs typeface="Calibri" pitchFamily="34" charset="-120"/>
              </a:rPr>
              <a:t>mmHg</a:t>
            </a:r>
            <a:endParaRPr lang="en-US" sz="1000" dirty="0"/>
          </a:p>
        </p:txBody>
      </p:sp>
      <p:sp>
        <p:nvSpPr>
          <p:cNvPr id="21" name="Shape 19"/>
          <p:cNvSpPr/>
          <p:nvPr/>
        </p:nvSpPr>
        <p:spPr>
          <a:xfrm>
            <a:off x="274320" y="1603248"/>
            <a:ext cx="4114800" cy="1719072"/>
          </a:xfrm>
          <a:prstGeom prst="rect">
            <a:avLst/>
          </a:prstGeom>
          <a:solidFill>
            <a:srgbClr val="F7FCFD"/>
          </a:solidFill>
          <a:ln w="12700">
            <a:solidFill>
              <a:srgbClr val="D8EEF2"/>
            </a:solidFill>
            <a:prstDash val="solid"/>
          </a:ln>
          <a:effectLst>
            <a:outerShdw blurRad="101600" dist="38100" dir="8100000" algn="bl" rotWithShape="0">
              <a:srgbClr val="000000">
                <a:alpha val="12000"/>
              </a:srgbClr>
            </a:outerShdw>
          </a:effectLst>
        </p:spPr>
      </p:sp>
      <p:sp>
        <p:nvSpPr>
          <p:cNvPr id="22" name="Shape 20"/>
          <p:cNvSpPr/>
          <p:nvPr/>
        </p:nvSpPr>
        <p:spPr>
          <a:xfrm>
            <a:off x="274320" y="1603248"/>
            <a:ext cx="64008" cy="1719072"/>
          </a:xfrm>
          <a:prstGeom prst="rect">
            <a:avLst/>
          </a:prstGeom>
          <a:solidFill>
            <a:srgbClr val="0B7A8F"/>
          </a:solidFill>
          <a:ln w="12700">
            <a:solidFill>
              <a:srgbClr val="0B7A8F"/>
            </a:solidFill>
            <a:prstDash val="solid"/>
          </a:ln>
        </p:spPr>
      </p:sp>
      <p:sp>
        <p:nvSpPr>
          <p:cNvPr id="23" name="Text 21"/>
          <p:cNvSpPr/>
          <p:nvPr/>
        </p:nvSpPr>
        <p:spPr>
          <a:xfrm>
            <a:off x="475488" y="1676400"/>
            <a:ext cx="3749040" cy="274320"/>
          </a:xfrm>
          <a:prstGeom prst="rect">
            <a:avLst/>
          </a:prstGeom>
          <a:noFill/>
          <a:ln/>
        </p:spPr>
        <p:txBody>
          <a:bodyPr wrap="square" lIns="0" tIns="0" rIns="0" bIns="0" rtlCol="0" anchor="ctr"/>
          <a:lstStyle/>
          <a:p>
            <a:pPr marL="0" indent="0">
              <a:buNone/>
            </a:pPr>
            <a:r>
              <a:rPr lang="en-US" sz="1250" b="1" dirty="0">
                <a:solidFill>
                  <a:srgbClr val="0D2B4E"/>
                </a:solidFill>
                <a:latin typeface="Calibri" pitchFamily="34" charset="0"/>
                <a:ea typeface="Calibri" pitchFamily="34" charset="-122"/>
                <a:cs typeface="Calibri" pitchFamily="34" charset="-120"/>
              </a:rPr>
              <a:t>Calibration System</a:t>
            </a:r>
            <a:endParaRPr lang="en-US" sz="1250" dirty="0"/>
          </a:p>
        </p:txBody>
      </p:sp>
      <p:sp>
        <p:nvSpPr>
          <p:cNvPr id="24" name="Text 22"/>
          <p:cNvSpPr/>
          <p:nvPr/>
        </p:nvSpPr>
        <p:spPr>
          <a:xfrm>
            <a:off x="475488" y="1987296"/>
            <a:ext cx="3749040" cy="1261872"/>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Configurable offset constants:
</a:t>
            </a:r>
            <a:r>
              <a:rPr lang="en-US" sz="1050" dirty="0">
                <a:solidFill>
                  <a:srgbClr val="1E293B"/>
                </a:solidFill>
                <a:latin typeface="Calibri" pitchFamily="34" charset="0"/>
                <a:ea typeface="Calibri" pitchFamily="34" charset="-122"/>
                <a:cs typeface="Calibri" pitchFamily="34" charset="-120"/>
              </a:rPr>
              <a:t>  SBP_OFFSET and DBP_OFFSET (in bp_main.py)
</a:t>
            </a:r>
            <a:r>
              <a:rPr lang="en-US" sz="1050" b="1" dirty="0">
                <a:solidFill>
                  <a:srgbClr val="1E293B"/>
                </a:solidFill>
                <a:latin typeface="Calibri" pitchFamily="34" charset="0"/>
                <a:ea typeface="Calibri" pitchFamily="34" charset="-122"/>
                <a:cs typeface="Calibri" pitchFamily="34" charset="-120"/>
              </a:rPr>
              <a:t>
Per-user bias correction via reference cuff:
</a:t>
            </a:r>
            <a:r>
              <a:rPr lang="en-US" sz="1050" dirty="0">
                <a:solidFill>
                  <a:srgbClr val="1E293B"/>
                </a:solidFill>
                <a:latin typeface="Calibri" pitchFamily="34" charset="0"/>
                <a:ea typeface="Calibri" pitchFamily="34" charset="-122"/>
                <a:cs typeface="Calibri" pitchFamily="34" charset="-120"/>
              </a:rPr>
              <a:t>  Take 3 cuff readings → average → set offsets → persist across sessions
</a:t>
            </a:r>
            <a:endParaRPr lang="en-US" sz="1050" dirty="0"/>
          </a:p>
          <a:p>
            <a:pPr marL="0" indent="0">
              <a:buNone/>
            </a:pPr>
            <a:r>
              <a:rPr lang="en-US" sz="1050" i="1" dirty="0">
                <a:solidFill>
                  <a:srgbClr val="1E293B"/>
                </a:solidFill>
                <a:latin typeface="Calibri" pitchFamily="34" charset="0"/>
                <a:ea typeface="Calibri" pitchFamily="34" charset="-122"/>
                <a:cs typeface="Calibri" pitchFamily="34" charset="-120"/>
              </a:rPr>
              <a:t>Ensures device matches individual baseline physiology.</a:t>
            </a:r>
            <a:endParaRPr lang="en-US" sz="1050" dirty="0"/>
          </a:p>
        </p:txBody>
      </p:sp>
      <p:sp>
        <p:nvSpPr>
          <p:cNvPr id="25" name="Shape 23"/>
          <p:cNvSpPr/>
          <p:nvPr/>
        </p:nvSpPr>
        <p:spPr>
          <a:xfrm>
            <a:off x="4590288" y="1603248"/>
            <a:ext cx="4297680" cy="1719072"/>
          </a:xfrm>
          <a:prstGeom prst="rect">
            <a:avLst/>
          </a:prstGeom>
          <a:solidFill>
            <a:srgbClr val="F7FCFD"/>
          </a:solidFill>
          <a:ln w="12700">
            <a:solidFill>
              <a:srgbClr val="D8EEF2"/>
            </a:solidFill>
            <a:prstDash val="solid"/>
          </a:ln>
          <a:effectLst>
            <a:outerShdw blurRad="101600" dist="38100" dir="8100000" algn="bl" rotWithShape="0">
              <a:srgbClr val="000000">
                <a:alpha val="12000"/>
              </a:srgbClr>
            </a:outerShdw>
          </a:effectLst>
        </p:spPr>
      </p:sp>
      <p:sp>
        <p:nvSpPr>
          <p:cNvPr id="26" name="Shape 24"/>
          <p:cNvSpPr/>
          <p:nvPr/>
        </p:nvSpPr>
        <p:spPr>
          <a:xfrm>
            <a:off x="4590288" y="1603248"/>
            <a:ext cx="64008" cy="1719072"/>
          </a:xfrm>
          <a:prstGeom prst="rect">
            <a:avLst/>
          </a:prstGeom>
          <a:solidFill>
            <a:srgbClr val="00B4A0"/>
          </a:solidFill>
          <a:ln w="12700">
            <a:solidFill>
              <a:srgbClr val="00B4A0"/>
            </a:solidFill>
            <a:prstDash val="solid"/>
          </a:ln>
        </p:spPr>
      </p:sp>
      <p:sp>
        <p:nvSpPr>
          <p:cNvPr id="27" name="Text 25"/>
          <p:cNvSpPr/>
          <p:nvPr/>
        </p:nvSpPr>
        <p:spPr>
          <a:xfrm>
            <a:off x="4773168" y="1676400"/>
            <a:ext cx="3931920" cy="274320"/>
          </a:xfrm>
          <a:prstGeom prst="rect">
            <a:avLst/>
          </a:prstGeom>
          <a:noFill/>
          <a:ln/>
        </p:spPr>
        <p:txBody>
          <a:bodyPr wrap="square" lIns="0" tIns="0" rIns="0" bIns="0" rtlCol="0" anchor="ctr"/>
          <a:lstStyle/>
          <a:p>
            <a:pPr marL="0" indent="0">
              <a:buNone/>
            </a:pPr>
            <a:r>
              <a:rPr lang="en-US" sz="1250" b="1" dirty="0">
                <a:solidFill>
                  <a:srgbClr val="0D2B4E"/>
                </a:solidFill>
                <a:latin typeface="Calibri" pitchFamily="34" charset="0"/>
                <a:ea typeface="Calibri" pitchFamily="34" charset="-122"/>
                <a:cs typeface="Calibri" pitchFamily="34" charset="-120"/>
              </a:rPr>
              <a:t>Robustness: ACF-Based Beat Validation</a:t>
            </a:r>
            <a:endParaRPr lang="en-US" sz="1250" dirty="0"/>
          </a:p>
        </p:txBody>
      </p:sp>
      <p:sp>
        <p:nvSpPr>
          <p:cNvPr id="28" name="Text 26"/>
          <p:cNvSpPr/>
          <p:nvPr/>
        </p:nvSpPr>
        <p:spPr>
          <a:xfrm>
            <a:off x="4773168" y="1987296"/>
            <a:ext cx="3931920" cy="1261872"/>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Normalized autocorrelation (ACF) computed on each PPG window:
</a:t>
            </a:r>
            <a:r>
              <a:rPr lang="en-US" sz="1050" dirty="0">
                <a:solidFill>
                  <a:srgbClr val="1E293B"/>
                </a:solidFill>
                <a:latin typeface="Calibri" pitchFamily="34" charset="0"/>
                <a:ea typeface="Calibri" pitchFamily="34" charset="-122"/>
                <a:cs typeface="Calibri" pitchFamily="34" charset="-120"/>
              </a:rPr>
              <a:t>  • ACF peak &gt; 0.45 → valid beat → proceed to inference
  • ACF peak ≤ 0.45 → 'No Finger / Noisy Signal' displayed on LCD
</a:t>
            </a:r>
            <a:endParaRPr lang="en-US" sz="1050" dirty="0"/>
          </a:p>
          <a:p>
            <a:pPr marL="0" indent="0">
              <a:buNone/>
            </a:pPr>
            <a:r>
              <a:rPr lang="en-US" sz="1050" i="1" dirty="0">
                <a:solidFill>
                  <a:srgbClr val="1E293B"/>
                </a:solidFill>
                <a:latin typeface="Calibri" pitchFamily="34" charset="0"/>
                <a:ea typeface="Calibri" pitchFamily="34" charset="-122"/>
                <a:cs typeface="Calibri" pitchFamily="34" charset="-120"/>
              </a:rPr>
              <a:t>Prevents spurious BP readings from motion artifacts, lifting of finger, or</a:t>
            </a:r>
            <a:endParaRPr lang="en-US" sz="1050" dirty="0"/>
          </a:p>
          <a:p>
            <a:pPr marL="0" indent="0">
              <a:buNone/>
            </a:pPr>
            <a:r>
              <a:rPr lang="en-US" sz="1050" i="1" dirty="0">
                <a:solidFill>
                  <a:srgbClr val="1E293B"/>
                </a:solidFill>
                <a:latin typeface="Calibri" pitchFamily="34" charset="0"/>
                <a:ea typeface="Calibri" pitchFamily="34" charset="-122"/>
                <a:cs typeface="Calibri" pitchFamily="34" charset="-120"/>
              </a:rPr>
              <a:t>electrical interference.</a:t>
            </a:r>
            <a:endParaRPr lang="en-US" sz="1050" dirty="0"/>
          </a:p>
        </p:txBody>
      </p:sp>
      <p:pic>
        <p:nvPicPr>
          <p:cNvPr id="29" name="Google Shape;102;p17">
            <a:extLst>
              <a:ext uri="{FF2B5EF4-FFF2-40B4-BE49-F238E27FC236}">
                <a16:creationId xmlns:a16="http://schemas.microsoft.com/office/drawing/2014/main" id="{ECE075B8-0E0E-4993-8990-B911DF89B0EE}"/>
              </a:ext>
            </a:extLst>
          </p:cNvPr>
          <p:cNvPicPr preferRelativeResize="0"/>
          <p:nvPr/>
        </p:nvPicPr>
        <p:blipFill rotWithShape="1">
          <a:blip r:embed="rId3">
            <a:alphaModFix/>
          </a:blip>
          <a:srcRect l="1533" t="5788" r="6925" b="7420"/>
          <a:stretch>
            <a:fillRect/>
          </a:stretch>
        </p:blipFill>
        <p:spPr>
          <a:xfrm flipH="1">
            <a:off x="6458886" y="3376290"/>
            <a:ext cx="1860903" cy="1064676"/>
          </a:xfrm>
          <a:prstGeom prst="rect">
            <a:avLst/>
          </a:prstGeom>
          <a:noFill/>
          <a:ln>
            <a:noFill/>
          </a:ln>
        </p:spPr>
      </p:pic>
      <p:pic>
        <p:nvPicPr>
          <p:cNvPr id="30" name="Picture 29">
            <a:extLst>
              <a:ext uri="{FF2B5EF4-FFF2-40B4-BE49-F238E27FC236}">
                <a16:creationId xmlns:a16="http://schemas.microsoft.com/office/drawing/2014/main" id="{9CAD13DC-D2DE-412D-AB94-902C4FC09B84}"/>
              </a:ext>
            </a:extLst>
          </p:cNvPr>
          <p:cNvPicPr>
            <a:picLocks noChangeAspect="1"/>
          </p:cNvPicPr>
          <p:nvPr/>
        </p:nvPicPr>
        <p:blipFill>
          <a:blip r:embed="rId4"/>
          <a:stretch>
            <a:fillRect/>
          </a:stretch>
        </p:blipFill>
        <p:spPr>
          <a:xfrm>
            <a:off x="3013449" y="3396509"/>
            <a:ext cx="2102838" cy="1112870"/>
          </a:xfrm>
          <a:prstGeom prst="rect">
            <a:avLst/>
          </a:prstGeom>
        </p:spPr>
      </p:pic>
      <p:pic>
        <p:nvPicPr>
          <p:cNvPr id="31" name="Picture 30">
            <a:extLst>
              <a:ext uri="{FF2B5EF4-FFF2-40B4-BE49-F238E27FC236}">
                <a16:creationId xmlns:a16="http://schemas.microsoft.com/office/drawing/2014/main" id="{334F015A-2E10-4CBA-B898-2C6BC2E558D9}"/>
              </a:ext>
            </a:extLst>
          </p:cNvPr>
          <p:cNvPicPr>
            <a:picLocks noChangeAspect="1"/>
          </p:cNvPicPr>
          <p:nvPr/>
        </p:nvPicPr>
        <p:blipFill>
          <a:blip r:embed="rId5"/>
          <a:stretch>
            <a:fillRect/>
          </a:stretch>
        </p:blipFill>
        <p:spPr>
          <a:xfrm>
            <a:off x="392967" y="3379968"/>
            <a:ext cx="1721449" cy="1114588"/>
          </a:xfrm>
          <a:prstGeom prst="rect">
            <a:avLst/>
          </a:prstGeom>
        </p:spPr>
      </p:pic>
      <p:sp>
        <p:nvSpPr>
          <p:cNvPr id="33" name="TextBox 32">
            <a:extLst>
              <a:ext uri="{FF2B5EF4-FFF2-40B4-BE49-F238E27FC236}">
                <a16:creationId xmlns:a16="http://schemas.microsoft.com/office/drawing/2014/main" id="{812CF03B-A76F-4F8E-A4B4-608E52C4C232}"/>
              </a:ext>
            </a:extLst>
          </p:cNvPr>
          <p:cNvSpPr txBox="1"/>
          <p:nvPr/>
        </p:nvSpPr>
        <p:spPr>
          <a:xfrm>
            <a:off x="809285" y="4478201"/>
            <a:ext cx="4578772" cy="369332"/>
          </a:xfrm>
          <a:prstGeom prst="rect">
            <a:avLst/>
          </a:prstGeom>
          <a:noFill/>
        </p:spPr>
        <p:txBody>
          <a:bodyPr wrap="square">
            <a:spAutoFit/>
          </a:bodyPr>
          <a:lstStyle/>
          <a:p>
            <a:pPr marL="0" indent="0">
              <a:buNone/>
            </a:pPr>
            <a:r>
              <a:rPr lang="en-US" b="1" dirty="0">
                <a:solidFill>
                  <a:srgbClr val="0D2B4E"/>
                </a:solidFill>
                <a:latin typeface="Calibri" pitchFamily="34" charset="0"/>
                <a:ea typeface="Calibri" pitchFamily="34" charset="-122"/>
                <a:cs typeface="Calibri" pitchFamily="34" charset="-120"/>
              </a:rPr>
              <a:t>L</a:t>
            </a:r>
            <a:r>
              <a:rPr lang="en-US" sz="1800" b="1" dirty="0">
                <a:solidFill>
                  <a:srgbClr val="0D2B4E"/>
                </a:solidFill>
                <a:latin typeface="Calibri" pitchFamily="34" charset="0"/>
                <a:ea typeface="Calibri" pitchFamily="34" charset="-122"/>
                <a:cs typeface="Calibri" pitchFamily="34" charset="-120"/>
              </a:rPr>
              <a:t>PF O/P</a:t>
            </a:r>
            <a:endParaRPr lang="en-US" sz="1800" dirty="0"/>
          </a:p>
        </p:txBody>
      </p:sp>
      <p:sp>
        <p:nvSpPr>
          <p:cNvPr id="35" name="TextBox 34">
            <a:extLst>
              <a:ext uri="{FF2B5EF4-FFF2-40B4-BE49-F238E27FC236}">
                <a16:creationId xmlns:a16="http://schemas.microsoft.com/office/drawing/2014/main" id="{76A83285-ACCA-4D13-9553-20B2F88446F2}"/>
              </a:ext>
            </a:extLst>
          </p:cNvPr>
          <p:cNvSpPr txBox="1"/>
          <p:nvPr/>
        </p:nvSpPr>
        <p:spPr>
          <a:xfrm>
            <a:off x="3467948" y="4433694"/>
            <a:ext cx="4578772" cy="338554"/>
          </a:xfrm>
          <a:prstGeom prst="rect">
            <a:avLst/>
          </a:prstGeom>
          <a:noFill/>
        </p:spPr>
        <p:txBody>
          <a:bodyPr wrap="square">
            <a:spAutoFit/>
          </a:bodyPr>
          <a:lstStyle/>
          <a:p>
            <a:pPr marL="0" indent="0">
              <a:buNone/>
            </a:pPr>
            <a:r>
              <a:rPr lang="en-US" sz="1600" b="1" dirty="0">
                <a:solidFill>
                  <a:srgbClr val="0D2B4E"/>
                </a:solidFill>
                <a:latin typeface="Calibri" pitchFamily="34" charset="0"/>
                <a:ea typeface="Calibri" pitchFamily="34" charset="-122"/>
                <a:cs typeface="Calibri" pitchFamily="34" charset="-120"/>
              </a:rPr>
              <a:t>HPF O/P</a:t>
            </a:r>
            <a:endParaRPr lang="en-US" sz="1600" dirty="0"/>
          </a:p>
        </p:txBody>
      </p:sp>
      <p:sp>
        <p:nvSpPr>
          <p:cNvPr id="37" name="TextBox 36">
            <a:extLst>
              <a:ext uri="{FF2B5EF4-FFF2-40B4-BE49-F238E27FC236}">
                <a16:creationId xmlns:a16="http://schemas.microsoft.com/office/drawing/2014/main" id="{9331DCFD-F80D-469C-83D9-6D6B005E4A17}"/>
              </a:ext>
            </a:extLst>
          </p:cNvPr>
          <p:cNvSpPr txBox="1"/>
          <p:nvPr/>
        </p:nvSpPr>
        <p:spPr>
          <a:xfrm>
            <a:off x="6640317" y="4402916"/>
            <a:ext cx="2547629" cy="369332"/>
          </a:xfrm>
          <a:prstGeom prst="rect">
            <a:avLst/>
          </a:prstGeom>
          <a:noFill/>
        </p:spPr>
        <p:txBody>
          <a:bodyPr wrap="square">
            <a:spAutoFit/>
          </a:bodyPr>
          <a:lstStyle/>
          <a:p>
            <a:pPr marL="0" indent="0">
              <a:buNone/>
            </a:pPr>
            <a:r>
              <a:rPr lang="en-US" b="1" dirty="0">
                <a:solidFill>
                  <a:srgbClr val="0D2B4E"/>
                </a:solidFill>
                <a:latin typeface="Calibri" pitchFamily="34" charset="0"/>
                <a:ea typeface="Calibri" pitchFamily="34" charset="-122"/>
                <a:cs typeface="Calibri" pitchFamily="34" charset="-120"/>
              </a:rPr>
              <a:t>PPG Signal</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2">
            <a:extLst>
              <a:ext uri="{FF2B5EF4-FFF2-40B4-BE49-F238E27FC236}">
                <a16:creationId xmlns:a16="http://schemas.microsoft.com/office/drawing/2014/main" id="{09B39EB2-8A4F-59D3-0CC9-6356CF96802C}"/>
              </a:ext>
            </a:extLst>
          </p:cNvPr>
          <p:cNvSpPr/>
          <p:nvPr/>
        </p:nvSpPr>
        <p:spPr>
          <a:xfrm>
            <a:off x="0" y="4893187"/>
            <a:ext cx="9144000" cy="251460"/>
          </a:xfrm>
          <a:prstGeom prst="rect">
            <a:avLst/>
          </a:prstGeom>
          <a:solidFill>
            <a:srgbClr val="0D2B4E"/>
          </a:solidFill>
          <a:ln w="12700">
            <a:solidFill>
              <a:srgbClr val="0D2B4E"/>
            </a:solidFill>
            <a:prstDash val="solid"/>
          </a:ln>
        </p:spPr>
        <p:txBody>
          <a:bodyPr/>
          <a:lstStyle/>
          <a:p>
            <a:endParaRPr lang="en-IN" dirty="0"/>
          </a:p>
        </p:txBody>
      </p:sp>
      <p:sp>
        <p:nvSpPr>
          <p:cNvPr id="8" name="TextBox 7">
            <a:extLst>
              <a:ext uri="{FF2B5EF4-FFF2-40B4-BE49-F238E27FC236}">
                <a16:creationId xmlns:a16="http://schemas.microsoft.com/office/drawing/2014/main" id="{0906BDD3-C369-108D-403B-A66923E7CFDC}"/>
              </a:ext>
            </a:extLst>
          </p:cNvPr>
          <p:cNvSpPr txBox="1"/>
          <p:nvPr/>
        </p:nvSpPr>
        <p:spPr>
          <a:xfrm>
            <a:off x="196427" y="4903501"/>
            <a:ext cx="4629573" cy="230832"/>
          </a:xfrm>
          <a:prstGeom prst="rect">
            <a:avLst/>
          </a:prstGeom>
          <a:noFill/>
        </p:spPr>
        <p:txBody>
          <a:bodyPr wrap="square">
            <a:spAutoFit/>
          </a:bodyPr>
          <a:lstStyle/>
          <a:p>
            <a:r>
              <a:rPr lang="en-US" sz="900" dirty="0">
                <a:solidFill>
                  <a:srgbClr val="99C8D6"/>
                </a:solidFill>
                <a:latin typeface="Calibri" pitchFamily="34" charset="0"/>
                <a:ea typeface="Calibri" pitchFamily="34" charset="-122"/>
                <a:cs typeface="Calibri" pitchFamily="34" charset="-120"/>
              </a:rPr>
              <a:t>BP Estimator | IRPE, University of Calcutta</a:t>
            </a:r>
            <a:endParaRPr lang="en-US" sz="900" dirty="0"/>
          </a:p>
        </p:txBody>
      </p:sp>
      <p:sp>
        <p:nvSpPr>
          <p:cNvPr id="12" name="Shape 0">
            <a:extLst>
              <a:ext uri="{FF2B5EF4-FFF2-40B4-BE49-F238E27FC236}">
                <a16:creationId xmlns:a16="http://schemas.microsoft.com/office/drawing/2014/main" id="{E1592445-CD01-7754-249B-AE83904D4EA1}"/>
              </a:ext>
            </a:extLst>
          </p:cNvPr>
          <p:cNvSpPr/>
          <p:nvPr/>
        </p:nvSpPr>
        <p:spPr>
          <a:xfrm>
            <a:off x="0" y="0"/>
            <a:ext cx="9144000" cy="658368"/>
          </a:xfrm>
          <a:prstGeom prst="rect">
            <a:avLst/>
          </a:prstGeom>
          <a:solidFill>
            <a:srgbClr val="0D2B4E"/>
          </a:solidFill>
          <a:ln w="12700">
            <a:solidFill>
              <a:srgbClr val="0D2B4E"/>
            </a:solidFill>
            <a:prstDash val="solid"/>
          </a:ln>
        </p:spPr>
      </p:sp>
      <p:sp>
        <p:nvSpPr>
          <p:cNvPr id="14" name="TextBox 13">
            <a:extLst>
              <a:ext uri="{FF2B5EF4-FFF2-40B4-BE49-F238E27FC236}">
                <a16:creationId xmlns:a16="http://schemas.microsoft.com/office/drawing/2014/main" id="{C08FB93C-E6E9-089B-EE06-C80EAFAACE86}"/>
              </a:ext>
            </a:extLst>
          </p:cNvPr>
          <p:cNvSpPr txBox="1"/>
          <p:nvPr/>
        </p:nvSpPr>
        <p:spPr>
          <a:xfrm>
            <a:off x="196427" y="144518"/>
            <a:ext cx="4578772" cy="400110"/>
          </a:xfrm>
          <a:prstGeom prst="rect">
            <a:avLst/>
          </a:prstGeom>
          <a:noFill/>
        </p:spPr>
        <p:txBody>
          <a:bodyPr wrap="square">
            <a:spAutoFit/>
          </a:bodyPr>
          <a:lstStyle/>
          <a:p>
            <a:pPr marL="0" indent="0">
              <a:buNone/>
            </a:pPr>
            <a:r>
              <a:rPr lang="en-US" sz="2000" b="1" dirty="0">
                <a:solidFill>
                  <a:srgbClr val="FFFFFF"/>
                </a:solidFill>
                <a:latin typeface="Calibri" pitchFamily="34" charset="0"/>
                <a:ea typeface="Calibri" pitchFamily="34" charset="-122"/>
                <a:cs typeface="Calibri" pitchFamily="34" charset="-120"/>
              </a:rPr>
              <a:t>Demonstration Video</a:t>
            </a:r>
            <a:endParaRPr lang="en-US" sz="1800" dirty="0"/>
          </a:p>
        </p:txBody>
      </p:sp>
      <p:pic>
        <p:nvPicPr>
          <p:cNvPr id="2" name="VID-20260511-WA0009">
            <a:hlinkClick r:id="" action="ppaction://media"/>
            <a:extLst>
              <a:ext uri="{FF2B5EF4-FFF2-40B4-BE49-F238E27FC236}">
                <a16:creationId xmlns:a16="http://schemas.microsoft.com/office/drawing/2014/main" id="{1E01F6E9-0343-495C-B3AA-627FFF83953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661306"/>
            <a:ext cx="9144000" cy="4242195"/>
          </a:xfrm>
          <a:prstGeom prst="rect">
            <a:avLst/>
          </a:prstGeom>
        </p:spPr>
      </p:pic>
    </p:spTree>
    <p:extLst>
      <p:ext uri="{BB962C8B-B14F-4D97-AF65-F5344CB8AC3E}">
        <p14:creationId xmlns:p14="http://schemas.microsoft.com/office/powerpoint/2010/main" val="271649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87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0D2B4E"/>
        </a:solidFill>
        <a:effectLst/>
      </p:bgPr>
    </p:bg>
    <p:spTree>
      <p:nvGrpSpPr>
        <p:cNvPr id="1" name=""/>
        <p:cNvGrpSpPr/>
        <p:nvPr/>
      </p:nvGrpSpPr>
      <p:grpSpPr>
        <a:xfrm>
          <a:off x="0" y="0"/>
          <a:ext cx="0" cy="0"/>
          <a:chOff x="0" y="0"/>
          <a:chExt cx="0" cy="0"/>
        </a:xfrm>
      </p:grpSpPr>
      <p:sp>
        <p:nvSpPr>
          <p:cNvPr id="4" name="Shape 2"/>
          <p:cNvSpPr/>
          <p:nvPr/>
        </p:nvSpPr>
        <p:spPr>
          <a:xfrm>
            <a:off x="0" y="0"/>
            <a:ext cx="164592" cy="5143500"/>
          </a:xfrm>
          <a:prstGeom prst="rect">
            <a:avLst/>
          </a:prstGeom>
          <a:solidFill>
            <a:srgbClr val="00B4A0"/>
          </a:solidFill>
          <a:ln w="12700">
            <a:solidFill>
              <a:srgbClr val="00B4A0"/>
            </a:solidFill>
            <a:prstDash val="solid"/>
          </a:ln>
        </p:spPr>
      </p:sp>
      <p:sp>
        <p:nvSpPr>
          <p:cNvPr id="5" name="Text 3"/>
          <p:cNvSpPr/>
          <p:nvPr/>
        </p:nvSpPr>
        <p:spPr>
          <a:xfrm>
            <a:off x="347472" y="201168"/>
            <a:ext cx="5486400" cy="475488"/>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a:t>
            </a:r>
            <a:endParaRPr lang="en-US" sz="2600" dirty="0"/>
          </a:p>
        </p:txBody>
      </p:sp>
      <p:sp>
        <p:nvSpPr>
          <p:cNvPr id="7" name="Shape 5"/>
          <p:cNvSpPr/>
          <p:nvPr/>
        </p:nvSpPr>
        <p:spPr>
          <a:xfrm>
            <a:off x="356616" y="2816352"/>
            <a:ext cx="237744" cy="237744"/>
          </a:xfrm>
          <a:prstGeom prst="ellipse">
            <a:avLst/>
          </a:prstGeom>
          <a:solidFill>
            <a:srgbClr val="00B4A0"/>
          </a:solidFill>
          <a:ln w="12700">
            <a:solidFill>
              <a:srgbClr val="00B4A0"/>
            </a:solidFill>
            <a:prstDash val="solid"/>
          </a:ln>
        </p:spPr>
      </p:sp>
      <p:sp>
        <p:nvSpPr>
          <p:cNvPr id="8" name="Text 6"/>
          <p:cNvSpPr/>
          <p:nvPr/>
        </p:nvSpPr>
        <p:spPr>
          <a:xfrm>
            <a:off x="347472" y="1298448"/>
            <a:ext cx="237744" cy="310896"/>
          </a:xfrm>
          <a:prstGeom prst="rect">
            <a:avLst/>
          </a:prstGeom>
          <a:noFill/>
          <a:ln/>
        </p:spPr>
        <p:txBody>
          <a:bodyPr wrap="square" lIns="0" tIns="0" rIns="0" bIns="0" rtlCol="0" anchor="ctr"/>
          <a:lstStyle/>
          <a:p>
            <a:pPr marL="0" indent="0" algn="ctr">
              <a:buNone/>
            </a:pPr>
            <a:r>
              <a:rPr lang="en-US" sz="1000" b="1" dirty="0">
                <a:solidFill>
                  <a:srgbClr val="0D2B4E"/>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704088" y="2641237"/>
            <a:ext cx="5577840" cy="621792"/>
          </a:xfrm>
          <a:prstGeom prst="rect">
            <a:avLst/>
          </a:prstGeom>
          <a:noFill/>
          <a:ln/>
        </p:spPr>
        <p:txBody>
          <a:bodyPr wrap="square" lIns="0" tIns="0" rIns="0" bIns="0" rtlCol="0" anchor="ctr"/>
          <a:lstStyle/>
          <a:p>
            <a:pPr marL="0" indent="0">
              <a:buNone/>
            </a:pPr>
            <a:r>
              <a:rPr lang="en-US" sz="1100" dirty="0">
                <a:solidFill>
                  <a:srgbClr val="D6EEF5"/>
                </a:solidFill>
                <a:latin typeface="Calibri" pitchFamily="34" charset="0"/>
                <a:ea typeface="Calibri" pitchFamily="34" charset="-122"/>
                <a:cs typeface="Calibri" pitchFamily="34" charset="-120"/>
              </a:rPr>
              <a:t>Designed and implemented a complete non-invasive BP estimator using a TCRT1000 PPG sensor, ESP32, and Raspberry Pi 4.</a:t>
            </a:r>
            <a:endParaRPr lang="en-US" sz="1100" dirty="0"/>
          </a:p>
        </p:txBody>
      </p:sp>
      <p:sp>
        <p:nvSpPr>
          <p:cNvPr id="10" name="Shape 8"/>
          <p:cNvSpPr/>
          <p:nvPr/>
        </p:nvSpPr>
        <p:spPr>
          <a:xfrm>
            <a:off x="349649" y="3225437"/>
            <a:ext cx="237744" cy="237744"/>
          </a:xfrm>
          <a:prstGeom prst="ellipse">
            <a:avLst/>
          </a:prstGeom>
          <a:solidFill>
            <a:srgbClr val="00B4A0"/>
          </a:solidFill>
          <a:ln w="12700">
            <a:solidFill>
              <a:srgbClr val="00B4A0"/>
            </a:solidFill>
            <a:prstDash val="solid"/>
          </a:ln>
        </p:spPr>
      </p:sp>
      <p:sp>
        <p:nvSpPr>
          <p:cNvPr id="11" name="Text 9"/>
          <p:cNvSpPr/>
          <p:nvPr/>
        </p:nvSpPr>
        <p:spPr>
          <a:xfrm>
            <a:off x="347472" y="1975104"/>
            <a:ext cx="237744" cy="310896"/>
          </a:xfrm>
          <a:prstGeom prst="rect">
            <a:avLst/>
          </a:prstGeom>
          <a:noFill/>
          <a:ln/>
        </p:spPr>
        <p:txBody>
          <a:bodyPr wrap="square" lIns="0" tIns="0" rIns="0" bIns="0" rtlCol="0" anchor="ctr"/>
          <a:lstStyle/>
          <a:p>
            <a:pPr marL="0" indent="0" algn="ctr">
              <a:buNone/>
            </a:pPr>
            <a:r>
              <a:rPr lang="en-US" sz="1000" b="1" dirty="0">
                <a:solidFill>
                  <a:srgbClr val="0D2B4E"/>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658078" y="3033413"/>
            <a:ext cx="5577840" cy="621792"/>
          </a:xfrm>
          <a:prstGeom prst="rect">
            <a:avLst/>
          </a:prstGeom>
          <a:noFill/>
          <a:ln/>
        </p:spPr>
        <p:txBody>
          <a:bodyPr wrap="square" lIns="0" tIns="0" rIns="0" bIns="0" rtlCol="0" anchor="ctr"/>
          <a:lstStyle/>
          <a:p>
            <a:pPr marL="0" indent="0">
              <a:buNone/>
            </a:pPr>
            <a:r>
              <a:rPr lang="en-US" sz="1100" dirty="0">
                <a:solidFill>
                  <a:srgbClr val="D6EEF5"/>
                </a:solidFill>
                <a:latin typeface="Calibri" pitchFamily="34" charset="0"/>
                <a:ea typeface="Calibri" pitchFamily="34" charset="-122"/>
                <a:cs typeface="Calibri" pitchFamily="34" charset="-120"/>
              </a:rPr>
              <a:t>2nd-order Butterworth analog front-end improved SNR from 7.45 dB to 21.0 dB (gain: 13.56 dB).</a:t>
            </a:r>
            <a:endParaRPr lang="en-US" sz="1100" dirty="0"/>
          </a:p>
        </p:txBody>
      </p:sp>
      <p:sp>
        <p:nvSpPr>
          <p:cNvPr id="13" name="Shape 11"/>
          <p:cNvSpPr/>
          <p:nvPr/>
        </p:nvSpPr>
        <p:spPr>
          <a:xfrm>
            <a:off x="338037" y="3597946"/>
            <a:ext cx="237744" cy="237744"/>
          </a:xfrm>
          <a:prstGeom prst="ellipse">
            <a:avLst/>
          </a:prstGeom>
          <a:solidFill>
            <a:srgbClr val="00B4A0"/>
          </a:solidFill>
          <a:ln w="12700">
            <a:solidFill>
              <a:srgbClr val="00B4A0"/>
            </a:solidFill>
            <a:prstDash val="solid"/>
          </a:ln>
        </p:spPr>
      </p:sp>
      <p:sp>
        <p:nvSpPr>
          <p:cNvPr id="14" name="Text 12"/>
          <p:cNvSpPr/>
          <p:nvPr/>
        </p:nvSpPr>
        <p:spPr>
          <a:xfrm>
            <a:off x="329184" y="3145536"/>
            <a:ext cx="237744" cy="310896"/>
          </a:xfrm>
          <a:prstGeom prst="rect">
            <a:avLst/>
          </a:prstGeom>
          <a:noFill/>
          <a:ln/>
        </p:spPr>
        <p:txBody>
          <a:bodyPr wrap="square" lIns="0" tIns="0" rIns="0" bIns="0" rtlCol="0" anchor="ctr"/>
          <a:lstStyle/>
          <a:p>
            <a:pPr marL="0" indent="0" algn="ctr">
              <a:buNone/>
            </a:pPr>
            <a:endParaRPr lang="en-US" sz="1000" dirty="0"/>
          </a:p>
        </p:txBody>
      </p:sp>
      <p:sp>
        <p:nvSpPr>
          <p:cNvPr id="15" name="Text 13"/>
          <p:cNvSpPr/>
          <p:nvPr/>
        </p:nvSpPr>
        <p:spPr>
          <a:xfrm>
            <a:off x="648643" y="3457158"/>
            <a:ext cx="5577840" cy="621792"/>
          </a:xfrm>
          <a:prstGeom prst="rect">
            <a:avLst/>
          </a:prstGeom>
          <a:noFill/>
          <a:ln/>
        </p:spPr>
        <p:txBody>
          <a:bodyPr wrap="square" lIns="0" tIns="0" rIns="0" bIns="0" rtlCol="0" anchor="ctr"/>
          <a:lstStyle/>
          <a:p>
            <a:pPr marL="0" indent="0">
              <a:buNone/>
            </a:pPr>
            <a:r>
              <a:rPr lang="en-US" sz="1100" dirty="0">
                <a:solidFill>
                  <a:srgbClr val="D6EEF5"/>
                </a:solidFill>
                <a:latin typeface="Calibri" pitchFamily="34" charset="0"/>
                <a:ea typeface="Calibri" pitchFamily="34" charset="-122"/>
                <a:cs typeface="Calibri" pitchFamily="34" charset="-120"/>
              </a:rPr>
              <a:t>VAE latent encoding + Random Forest regression achieved MAE ≤ 5.1 mmHg (SBP) and ≤ 2.85 mmHg (DBP) — meeting AAMI standards.</a:t>
            </a:r>
            <a:endParaRPr lang="en-US" sz="1100" dirty="0"/>
          </a:p>
        </p:txBody>
      </p:sp>
      <p:sp>
        <p:nvSpPr>
          <p:cNvPr id="16" name="Shape 14"/>
          <p:cNvSpPr/>
          <p:nvPr/>
        </p:nvSpPr>
        <p:spPr>
          <a:xfrm>
            <a:off x="337747" y="4005072"/>
            <a:ext cx="237744" cy="237744"/>
          </a:xfrm>
          <a:prstGeom prst="ellipse">
            <a:avLst/>
          </a:prstGeom>
          <a:solidFill>
            <a:srgbClr val="00B4A0"/>
          </a:solidFill>
          <a:ln w="12700">
            <a:solidFill>
              <a:srgbClr val="00B4A0"/>
            </a:solidFill>
            <a:prstDash val="solid"/>
          </a:ln>
        </p:spPr>
        <p:txBody>
          <a:bodyPr/>
          <a:lstStyle/>
          <a:p>
            <a:endParaRPr lang="en-IN" dirty="0"/>
          </a:p>
        </p:txBody>
      </p:sp>
      <p:sp>
        <p:nvSpPr>
          <p:cNvPr id="17" name="Text 15"/>
          <p:cNvSpPr/>
          <p:nvPr/>
        </p:nvSpPr>
        <p:spPr>
          <a:xfrm>
            <a:off x="347472" y="3328416"/>
            <a:ext cx="237744" cy="310896"/>
          </a:xfrm>
          <a:prstGeom prst="rect">
            <a:avLst/>
          </a:prstGeom>
          <a:noFill/>
          <a:ln/>
        </p:spPr>
        <p:txBody>
          <a:bodyPr wrap="square" lIns="0" tIns="0" rIns="0" bIns="0" rtlCol="0" anchor="ctr"/>
          <a:lstStyle/>
          <a:p>
            <a:pPr marL="0" indent="0" algn="ctr">
              <a:buNone/>
            </a:pPr>
            <a:endParaRPr lang="en-US" sz="1000" dirty="0"/>
          </a:p>
        </p:txBody>
      </p:sp>
      <p:sp>
        <p:nvSpPr>
          <p:cNvPr id="18" name="Text 16"/>
          <p:cNvSpPr/>
          <p:nvPr/>
        </p:nvSpPr>
        <p:spPr>
          <a:xfrm>
            <a:off x="640080" y="3877056"/>
            <a:ext cx="5577840" cy="621792"/>
          </a:xfrm>
          <a:prstGeom prst="rect">
            <a:avLst/>
          </a:prstGeom>
          <a:noFill/>
          <a:ln/>
        </p:spPr>
        <p:txBody>
          <a:bodyPr wrap="square" lIns="0" tIns="0" rIns="0" bIns="0" rtlCol="0" anchor="ctr"/>
          <a:lstStyle/>
          <a:p>
            <a:pPr marL="0" indent="0">
              <a:buNone/>
            </a:pPr>
            <a:r>
              <a:rPr lang="en-US" sz="1100" dirty="0">
                <a:solidFill>
                  <a:srgbClr val="D6EEF5"/>
                </a:solidFill>
                <a:latin typeface="Calibri" pitchFamily="34" charset="0"/>
                <a:ea typeface="Calibri" pitchFamily="34" charset="-122"/>
                <a:cs typeface="Calibri" pitchFamily="34" charset="-120"/>
              </a:rPr>
              <a:t>ACF-based beat validation and per-user offset calibration ensure robust, reliable real-time output on 16×2 LCD.</a:t>
            </a:r>
            <a:endParaRPr lang="en-US" sz="1100" dirty="0"/>
          </a:p>
        </p:txBody>
      </p:sp>
      <p:sp>
        <p:nvSpPr>
          <p:cNvPr id="19" name="Shape 17"/>
          <p:cNvSpPr/>
          <p:nvPr/>
        </p:nvSpPr>
        <p:spPr>
          <a:xfrm>
            <a:off x="6400800" y="201168"/>
            <a:ext cx="2468880" cy="4407408"/>
          </a:xfrm>
          <a:prstGeom prst="rect">
            <a:avLst/>
          </a:prstGeom>
          <a:solidFill>
            <a:srgbClr val="0A2240"/>
          </a:solidFill>
          <a:ln w="12700">
            <a:solidFill>
              <a:srgbClr val="1A5276"/>
            </a:solidFill>
            <a:prstDash val="solid"/>
          </a:ln>
        </p:spPr>
      </p:sp>
      <p:sp>
        <p:nvSpPr>
          <p:cNvPr id="20" name="Text 18"/>
          <p:cNvSpPr/>
          <p:nvPr/>
        </p:nvSpPr>
        <p:spPr>
          <a:xfrm>
            <a:off x="6492240" y="274320"/>
            <a:ext cx="2286000" cy="320040"/>
          </a:xfrm>
          <a:prstGeom prst="rect">
            <a:avLst/>
          </a:prstGeom>
          <a:noFill/>
          <a:ln/>
        </p:spPr>
        <p:txBody>
          <a:bodyPr wrap="square" lIns="0" tIns="0" rIns="0" bIns="0" rtlCol="0" anchor="ctr"/>
          <a:lstStyle/>
          <a:p>
            <a:pPr marL="0" indent="0" algn="ctr">
              <a:buNone/>
            </a:pPr>
            <a:r>
              <a:rPr lang="en-US" sz="1300" b="1" dirty="0">
                <a:solidFill>
                  <a:srgbClr val="00B4A0"/>
                </a:solidFill>
                <a:latin typeface="Calibri" pitchFamily="34" charset="0"/>
                <a:ea typeface="Calibri" pitchFamily="34" charset="-122"/>
                <a:cs typeface="Calibri" pitchFamily="34" charset="-120"/>
              </a:rPr>
              <a:t>Future Scope</a:t>
            </a:r>
            <a:endParaRPr lang="en-US" sz="1300" dirty="0"/>
          </a:p>
        </p:txBody>
      </p:sp>
      <p:sp>
        <p:nvSpPr>
          <p:cNvPr id="21" name="Shape 19"/>
          <p:cNvSpPr/>
          <p:nvPr/>
        </p:nvSpPr>
        <p:spPr>
          <a:xfrm>
            <a:off x="6473952" y="768096"/>
            <a:ext cx="73152" cy="73152"/>
          </a:xfrm>
          <a:prstGeom prst="rect">
            <a:avLst/>
          </a:prstGeom>
          <a:solidFill>
            <a:srgbClr val="5BC8DA"/>
          </a:solidFill>
          <a:ln w="12700">
            <a:solidFill>
              <a:srgbClr val="5BC8DA"/>
            </a:solidFill>
            <a:prstDash val="solid"/>
          </a:ln>
        </p:spPr>
      </p:sp>
      <p:sp>
        <p:nvSpPr>
          <p:cNvPr id="22" name="Text 20"/>
          <p:cNvSpPr/>
          <p:nvPr/>
        </p:nvSpPr>
        <p:spPr>
          <a:xfrm>
            <a:off x="6620256" y="694944"/>
            <a:ext cx="2121408" cy="585216"/>
          </a:xfrm>
          <a:prstGeom prst="rect">
            <a:avLst/>
          </a:prstGeom>
          <a:noFill/>
          <a:ln/>
        </p:spPr>
        <p:txBody>
          <a:bodyPr wrap="square" lIns="0" tIns="0" rIns="0" bIns="0" rtlCol="0" anchor="ctr"/>
          <a:lstStyle/>
          <a:p>
            <a:pPr marL="0" indent="0">
              <a:buNone/>
            </a:pPr>
            <a:r>
              <a:rPr lang="en-US" sz="1000" dirty="0">
                <a:solidFill>
                  <a:srgbClr val="BBDDE6"/>
                </a:solidFill>
                <a:latin typeface="Calibri" pitchFamily="34" charset="0"/>
                <a:ea typeface="Calibri" pitchFamily="34" charset="-122"/>
                <a:cs typeface="Calibri" pitchFamily="34" charset="-120"/>
              </a:rPr>
              <a:t>PTT-based dual-sensor (two-point) BP for improved accuracy</a:t>
            </a:r>
            <a:endParaRPr lang="en-US" sz="1000" dirty="0"/>
          </a:p>
        </p:txBody>
      </p:sp>
      <p:sp>
        <p:nvSpPr>
          <p:cNvPr id="23" name="Shape 21"/>
          <p:cNvSpPr/>
          <p:nvPr/>
        </p:nvSpPr>
        <p:spPr>
          <a:xfrm>
            <a:off x="6473952" y="1408176"/>
            <a:ext cx="73152" cy="73152"/>
          </a:xfrm>
          <a:prstGeom prst="rect">
            <a:avLst/>
          </a:prstGeom>
          <a:solidFill>
            <a:srgbClr val="5BC8DA"/>
          </a:solidFill>
          <a:ln w="12700">
            <a:solidFill>
              <a:srgbClr val="5BC8DA"/>
            </a:solidFill>
            <a:prstDash val="solid"/>
          </a:ln>
        </p:spPr>
      </p:sp>
      <p:sp>
        <p:nvSpPr>
          <p:cNvPr id="24" name="Text 22"/>
          <p:cNvSpPr/>
          <p:nvPr/>
        </p:nvSpPr>
        <p:spPr>
          <a:xfrm>
            <a:off x="6620256" y="1335024"/>
            <a:ext cx="2121408" cy="585216"/>
          </a:xfrm>
          <a:prstGeom prst="rect">
            <a:avLst/>
          </a:prstGeom>
          <a:noFill/>
          <a:ln/>
        </p:spPr>
        <p:txBody>
          <a:bodyPr wrap="square" lIns="0" tIns="0" rIns="0" bIns="0" rtlCol="0" anchor="ctr"/>
          <a:lstStyle/>
          <a:p>
            <a:pPr marL="0" indent="0">
              <a:buNone/>
            </a:pPr>
            <a:r>
              <a:rPr lang="en-US" sz="1000" dirty="0">
                <a:solidFill>
                  <a:srgbClr val="BBDDE6"/>
                </a:solidFill>
                <a:latin typeface="Calibri" pitchFamily="34" charset="0"/>
                <a:ea typeface="Calibri" pitchFamily="34" charset="-122"/>
                <a:cs typeface="Calibri" pitchFamily="34" charset="-120"/>
              </a:rPr>
              <a:t>Deep Learning (LSTM/Transformer) for beat morphology</a:t>
            </a:r>
            <a:endParaRPr lang="en-US" sz="1000" dirty="0"/>
          </a:p>
        </p:txBody>
      </p:sp>
      <p:sp>
        <p:nvSpPr>
          <p:cNvPr id="25" name="Shape 23"/>
          <p:cNvSpPr/>
          <p:nvPr/>
        </p:nvSpPr>
        <p:spPr>
          <a:xfrm>
            <a:off x="6473952" y="2048256"/>
            <a:ext cx="73152" cy="73152"/>
          </a:xfrm>
          <a:prstGeom prst="rect">
            <a:avLst/>
          </a:prstGeom>
          <a:solidFill>
            <a:srgbClr val="5BC8DA"/>
          </a:solidFill>
          <a:ln w="12700">
            <a:solidFill>
              <a:srgbClr val="5BC8DA"/>
            </a:solidFill>
            <a:prstDash val="solid"/>
          </a:ln>
        </p:spPr>
      </p:sp>
      <p:sp>
        <p:nvSpPr>
          <p:cNvPr id="26" name="Text 24"/>
          <p:cNvSpPr/>
          <p:nvPr/>
        </p:nvSpPr>
        <p:spPr>
          <a:xfrm>
            <a:off x="6620256" y="1975104"/>
            <a:ext cx="2121408" cy="585216"/>
          </a:xfrm>
          <a:prstGeom prst="rect">
            <a:avLst/>
          </a:prstGeom>
          <a:noFill/>
          <a:ln/>
        </p:spPr>
        <p:txBody>
          <a:bodyPr wrap="square" lIns="0" tIns="0" rIns="0" bIns="0" rtlCol="0" anchor="ctr"/>
          <a:lstStyle/>
          <a:p>
            <a:pPr marL="0" indent="0">
              <a:buNone/>
            </a:pPr>
            <a:r>
              <a:rPr lang="en-US" sz="1000" dirty="0">
                <a:solidFill>
                  <a:srgbClr val="BBDDE6"/>
                </a:solidFill>
                <a:latin typeface="Calibri" pitchFamily="34" charset="0"/>
                <a:ea typeface="Calibri" pitchFamily="34" charset="-122"/>
                <a:cs typeface="Calibri" pitchFamily="34" charset="-120"/>
              </a:rPr>
              <a:t>Wrist-worn wearable form factor with BLE</a:t>
            </a:r>
            <a:endParaRPr lang="en-US" sz="1000" dirty="0"/>
          </a:p>
        </p:txBody>
      </p:sp>
      <p:sp>
        <p:nvSpPr>
          <p:cNvPr id="27" name="Shape 25"/>
          <p:cNvSpPr/>
          <p:nvPr/>
        </p:nvSpPr>
        <p:spPr>
          <a:xfrm>
            <a:off x="6473952" y="2688336"/>
            <a:ext cx="73152" cy="73152"/>
          </a:xfrm>
          <a:prstGeom prst="rect">
            <a:avLst/>
          </a:prstGeom>
          <a:solidFill>
            <a:srgbClr val="5BC8DA"/>
          </a:solidFill>
          <a:ln w="12700">
            <a:solidFill>
              <a:srgbClr val="5BC8DA"/>
            </a:solidFill>
            <a:prstDash val="solid"/>
          </a:ln>
        </p:spPr>
      </p:sp>
      <p:sp>
        <p:nvSpPr>
          <p:cNvPr id="28" name="Text 26"/>
          <p:cNvSpPr/>
          <p:nvPr/>
        </p:nvSpPr>
        <p:spPr>
          <a:xfrm>
            <a:off x="6620256" y="2615184"/>
            <a:ext cx="2121408" cy="585216"/>
          </a:xfrm>
          <a:prstGeom prst="rect">
            <a:avLst/>
          </a:prstGeom>
          <a:noFill/>
          <a:ln/>
        </p:spPr>
        <p:txBody>
          <a:bodyPr wrap="square" lIns="0" tIns="0" rIns="0" bIns="0" rtlCol="0" anchor="ctr"/>
          <a:lstStyle/>
          <a:p>
            <a:pPr marL="0" indent="0">
              <a:buNone/>
            </a:pPr>
            <a:r>
              <a:rPr lang="en-US" sz="1000" dirty="0">
                <a:solidFill>
                  <a:srgbClr val="BBDDE6"/>
                </a:solidFill>
                <a:latin typeface="Calibri" pitchFamily="34" charset="0"/>
                <a:ea typeface="Calibri" pitchFamily="34" charset="-122"/>
                <a:cs typeface="Calibri" pitchFamily="34" charset="-120"/>
              </a:rPr>
              <a:t>Clinical-grade validation (N &gt; 100 subjects)</a:t>
            </a:r>
            <a:endParaRPr lang="en-US" sz="1000" dirty="0"/>
          </a:p>
        </p:txBody>
      </p:sp>
      <p:sp>
        <p:nvSpPr>
          <p:cNvPr id="29" name="Shape 27"/>
          <p:cNvSpPr/>
          <p:nvPr/>
        </p:nvSpPr>
        <p:spPr>
          <a:xfrm>
            <a:off x="6473952" y="3328416"/>
            <a:ext cx="73152" cy="73152"/>
          </a:xfrm>
          <a:prstGeom prst="rect">
            <a:avLst/>
          </a:prstGeom>
          <a:solidFill>
            <a:srgbClr val="5BC8DA"/>
          </a:solidFill>
          <a:ln w="12700">
            <a:solidFill>
              <a:srgbClr val="5BC8DA"/>
            </a:solidFill>
            <a:prstDash val="solid"/>
          </a:ln>
        </p:spPr>
      </p:sp>
      <p:sp>
        <p:nvSpPr>
          <p:cNvPr id="30" name="Text 28"/>
          <p:cNvSpPr/>
          <p:nvPr/>
        </p:nvSpPr>
        <p:spPr>
          <a:xfrm>
            <a:off x="6620256" y="3255264"/>
            <a:ext cx="2121408" cy="585216"/>
          </a:xfrm>
          <a:prstGeom prst="rect">
            <a:avLst/>
          </a:prstGeom>
          <a:noFill/>
          <a:ln/>
        </p:spPr>
        <p:txBody>
          <a:bodyPr wrap="square" lIns="0" tIns="0" rIns="0" bIns="0" rtlCol="0" anchor="ctr"/>
          <a:lstStyle/>
          <a:p>
            <a:pPr marL="0" indent="0">
              <a:buNone/>
            </a:pPr>
            <a:r>
              <a:rPr lang="en-US" sz="1000" dirty="0">
                <a:solidFill>
                  <a:srgbClr val="BBDDE6"/>
                </a:solidFill>
                <a:latin typeface="Calibri" pitchFamily="34" charset="0"/>
                <a:ea typeface="Calibri" pitchFamily="34" charset="-122"/>
                <a:cs typeface="Calibri" pitchFamily="34" charset="-120"/>
              </a:rPr>
              <a:t>Cloud dashboard for longitudinal health tracking</a:t>
            </a:r>
            <a:endParaRPr lang="en-US" sz="1000" dirty="0"/>
          </a:p>
        </p:txBody>
      </p:sp>
      <p:sp>
        <p:nvSpPr>
          <p:cNvPr id="31" name="Shape 29"/>
          <p:cNvSpPr/>
          <p:nvPr/>
        </p:nvSpPr>
        <p:spPr>
          <a:xfrm>
            <a:off x="0" y="4480560"/>
            <a:ext cx="9144000" cy="662940"/>
          </a:xfrm>
          <a:prstGeom prst="rect">
            <a:avLst/>
          </a:prstGeom>
          <a:solidFill>
            <a:srgbClr val="00B4A0"/>
          </a:solidFill>
          <a:ln w="12700">
            <a:solidFill>
              <a:srgbClr val="00B4A0"/>
            </a:solidFill>
            <a:prstDash val="solid"/>
          </a:ln>
        </p:spPr>
      </p:sp>
      <p:sp>
        <p:nvSpPr>
          <p:cNvPr id="32" name="Text 30"/>
          <p:cNvSpPr/>
          <p:nvPr/>
        </p:nvSpPr>
        <p:spPr>
          <a:xfrm>
            <a:off x="0" y="4480560"/>
            <a:ext cx="9144000" cy="662940"/>
          </a:xfrm>
          <a:prstGeom prst="rect">
            <a:avLst/>
          </a:prstGeom>
          <a:noFill/>
          <a:ln/>
        </p:spPr>
        <p:txBody>
          <a:bodyPr wrap="square" lIns="0" tIns="0" rIns="0" bIns="0" rtlCol="0" anchor="ctr"/>
          <a:lstStyle/>
          <a:p>
            <a:pPr marL="0" indent="0" algn="ctr">
              <a:buNone/>
            </a:pPr>
            <a:r>
              <a:rPr lang="en-US" sz="1800" b="1" dirty="0">
                <a:solidFill>
                  <a:srgbClr val="0D2B4E"/>
                </a:solidFill>
                <a:latin typeface="Calibri" pitchFamily="34" charset="0"/>
                <a:ea typeface="Calibri" pitchFamily="34" charset="-122"/>
                <a:cs typeface="Calibri" pitchFamily="34" charset="-120"/>
              </a:rPr>
              <a:t>Thank You</a:t>
            </a:r>
            <a:endParaRPr lang="en-US" sz="1800" dirty="0"/>
          </a:p>
        </p:txBody>
      </p:sp>
      <p:pic>
        <p:nvPicPr>
          <p:cNvPr id="33" name="Picture 32">
            <a:extLst>
              <a:ext uri="{FF2B5EF4-FFF2-40B4-BE49-F238E27FC236}">
                <a16:creationId xmlns:a16="http://schemas.microsoft.com/office/drawing/2014/main" id="{2076D8C4-37E5-4B58-9D37-0BE73B5DBF71}"/>
              </a:ext>
            </a:extLst>
          </p:cNvPr>
          <p:cNvPicPr>
            <a:picLocks noChangeAspect="1"/>
          </p:cNvPicPr>
          <p:nvPr/>
        </p:nvPicPr>
        <p:blipFill>
          <a:blip r:embed="rId3"/>
          <a:srcRect l="1178" t="4740" r="1546" b="3079"/>
          <a:stretch>
            <a:fillRect/>
          </a:stretch>
        </p:blipFill>
        <p:spPr>
          <a:xfrm>
            <a:off x="914400" y="644652"/>
            <a:ext cx="5065776" cy="1656152"/>
          </a:xfrm>
          <a:prstGeom prst="rect">
            <a:avLst/>
          </a:prstGeom>
        </p:spPr>
      </p:pic>
      <p:sp>
        <p:nvSpPr>
          <p:cNvPr id="2" name="TextBox 1">
            <a:extLst>
              <a:ext uri="{FF2B5EF4-FFF2-40B4-BE49-F238E27FC236}">
                <a16:creationId xmlns:a16="http://schemas.microsoft.com/office/drawing/2014/main" id="{20D72C8D-E199-44D4-A0D0-E82A04EEF24F}"/>
              </a:ext>
            </a:extLst>
          </p:cNvPr>
          <p:cNvSpPr txBox="1"/>
          <p:nvPr/>
        </p:nvSpPr>
        <p:spPr>
          <a:xfrm>
            <a:off x="2625780" y="2266527"/>
            <a:ext cx="1734456" cy="369332"/>
          </a:xfrm>
          <a:prstGeom prst="rect">
            <a:avLst/>
          </a:prstGeom>
          <a:noFill/>
        </p:spPr>
        <p:txBody>
          <a:bodyPr wrap="square" rtlCol="0">
            <a:spAutoFit/>
          </a:bodyPr>
          <a:lstStyle/>
          <a:p>
            <a:r>
              <a:rPr lang="en-US" dirty="0">
                <a:solidFill>
                  <a:schemeClr val="bg1"/>
                </a:solidFill>
              </a:rPr>
              <a:t>Final Device</a:t>
            </a:r>
            <a:endParaRPr lang="en-IN"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1249</TotalTime>
  <Words>3263</Words>
  <Application>Microsoft Office PowerPoint</Application>
  <PresentationFormat>On-screen Show (16:9)</PresentationFormat>
  <Paragraphs>462</Paragraphs>
  <Slides>20</Slides>
  <Notes>13</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PowerPoint Presentation</vt:lpstr>
      <vt:lpstr>PowerPoint Presentation</vt:lpstr>
      <vt:lpstr>Motivation &amp; Introduction:</vt:lpstr>
      <vt:lpstr>Literature review: Table : Some selected previous research papers on blood pressure measurement:</vt:lpstr>
      <vt:lpstr>PowerPoint Presentation</vt:lpstr>
      <vt:lpstr>PowerPoint Presentation</vt:lpstr>
      <vt:lpstr>PowerPoint Presentation</vt:lpstr>
      <vt:lpstr>Observations &amp; Goal</vt:lpstr>
      <vt:lpstr>Proposed workflow:</vt:lpstr>
      <vt:lpstr>PPG signal filtering: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Non-Invasive Blood Pressure Estimator</dc:title>
  <dc:subject>PptxGenJS Presentation</dc:subject>
  <dc:creator>Swapnil Saha &amp; Ritam Pal</dc:creator>
  <cp:lastModifiedBy>Swapnil Saha</cp:lastModifiedBy>
  <cp:revision>41</cp:revision>
  <dcterms:created xsi:type="dcterms:W3CDTF">2026-05-10T14:50:14Z</dcterms:created>
  <dcterms:modified xsi:type="dcterms:W3CDTF">2026-05-11T20:11:03Z</dcterms:modified>
</cp:coreProperties>
</file>